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heme/themeOverride1.xml" ContentType="application/vnd.openxmlformats-officedocument.themeOverr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21"/>
  </p:notesMasterIdLst>
  <p:sldIdLst>
    <p:sldId id="256" r:id="rId3"/>
    <p:sldId id="257" r:id="rId4"/>
    <p:sldId id="258" r:id="rId5"/>
    <p:sldId id="259" r:id="rId6"/>
    <p:sldId id="269" r:id="rId7"/>
    <p:sldId id="270" r:id="rId8"/>
    <p:sldId id="272" r:id="rId9"/>
    <p:sldId id="260" r:id="rId10"/>
    <p:sldId id="261" r:id="rId11"/>
    <p:sldId id="273" r:id="rId12"/>
    <p:sldId id="262" r:id="rId13"/>
    <p:sldId id="263" r:id="rId14"/>
    <p:sldId id="264" r:id="rId15"/>
    <p:sldId id="265" r:id="rId16"/>
    <p:sldId id="266" r:id="rId17"/>
    <p:sldId id="267" r:id="rId18"/>
    <p:sldId id="268" r:id="rId19"/>
    <p:sldId id="271"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2" d="100"/>
          <a:sy n="102" d="100"/>
        </p:scale>
        <p:origin x="96" y="2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1443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3 minutes.
Thomas Johnson delivers all four workshop sessions on October 7, 2026.
Welcome the group. Confirm everyone has the workshop repository open in a browser.
Say: No command line, IDE, or local setup is required. Today you will perform the workflow directly on GitHub.com.
Work only in the approved Gilead-managed working repository; the public teaching reference is not the participant write target. Use approved identities and synthetic data. Do not bypass EMU or access controls with personal accounts or public forks. Pair or observe if access is unavailable.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2 minutes.
Set expectations: this is a hands-on browser workshop.
Ask attendees to keep the repository open in a second browser tab.
Work only in the approved Gilead-managed working repository; the public teaching reference is not the participant write target. Use approved identities and synthetic data. Do not bypass EMU or access controls with personal accounts or public forks. Pair or observe if access is unavailable.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8 minutes.
Ask the room which filename patterns they recognize.
Do not criticize current SOPs. Frame GitHub as a way to make existing review intent visible and durable.
Work only in the approved Gilead-managed working repository; the public teaching reference is not the participant write target. Use approved identities and synthetic data. Do not bypass EMU or access controls with personal accounts or public forks. Pair or observe if access is unavailable.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6 minutes.
Keep this conceptual and browser-oriented.
Reinforce that Copilot does not replace Git or GitHub. It assists inside the workflow they provide.
Work only in the approved Gilead-managed working repository; the public teaching reference is not the participant write target. Use approved identities and synthetic data. Do not bypass EMU or access controls with personal accounts or public forks. Pair or observe if access is unavailable.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5 minutes.</a:t>
            </a:r>
          </a:p>
          <a:p>
            <a:r>
              <a:rPr lang="en-US"/>
              <a:t>Kevin's requested standards: never commit passwords, API keys, tokens, certificates or other secrets. Keep local/configuration files that should not be versioned out of commits with .gitignore; use approved secret-management mechanisms. .gitignore does not erase existing commits or untrack files. Review and remediate CodeQL/static analysis, secret scanning and Dependabot/dependency findings. Keep normal peer review, PR controls, required scans and validation. Use Gilead-approved CI/CD for runtime builds/deployments. Use approved Actions/dependencies and least privilege; Gilead's direction includes SHA-pinned dependencies and centrally governed rulesets. Follow the open-source policy documented in GVault for every third-party dependency. Gilead source/data belong in appropriate Gilead-managed repositories; EMU migration is intended to prevent public sharing.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5 minutes.</a:t>
            </a:r>
          </a:p>
          <a:p>
            <a:r>
              <a:rPr lang="en-US"/>
              <a:t>The current public teaching reference is https://github.com/johnsont1693/scientific-workflow-workshop. Today Thomas is using a fork-based exercise. Public visibility grants read access, not unrestricted write access. On GitHub choose Fork, choose an organization-approved owner, and create the fork. Verify the owner/repository before editing. A fork is a separate repository, not a branch. Inside your fork create foundations/&lt;pair-id&gt;-review-note, commit the lab note, and open a PR whose base is YOUR fork/main, not the source repository. Choose compare across forks or change the base repository if GitHub defaults to upstream. Do not submit the workshop change upstream. Only the supplied synthetic material is allowed. Forking is not a policy exception: EMU accounts may be unable to fork an external repository; use the facilitator's approved internal copy or pair/observe rather than a personal-account bypass. Existing lab references to an approved working copy mean your approved fork for today's exercise. The public reference still must not receive learner writes.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4 minutes.</a:t>
            </a:r>
          </a:p>
          <a:p>
            <a:r>
              <a:rPr lang="en-US"/>
              <a:t>A branch is a named line of development within the same repository. A fork is a separate repository under an account or organization, linked to the upstream repository; it can have its own branches. In a shared enterprise team we usually prefer branches in the approved repository because authorized colleagues collaborate under one set of repository controls, reviews, issues and audit history. Branches are not a security boundary and do not automatically enforce governance: configured permissions and rulesets do. Forks can also be legitimate in enterprises when policy permits, for example cross-team or upstream contributions. Today a fork gives each pair a writable synthetic teaching copy without adding every attendee as a contributor to Thomas's reference. We still branch INSIDE that fork and use a pull request. Target the lab PR to the fork's own main so we practice review without changing upstream. Never move Gilead code/data to a public fork or use a personal account to bypass EMU restrictions. Public availability does not prove that every attendee's identity is permitted to fork. Provide an approved internal copy or pair/observer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6 minutes.
Have attendees navigate the repository with you.
Open the requirement, the three language examples, controlled terminology, expected output, and Foundations lab.
State clearly: do not add patient data, credentials, or unapproved sensitive material.
Work only in the approved Gilead-managed working repository; the public teaching reference is not the participant write target. Use approved identities and synthetic data. Do not bypass EMU or access controls with personal accounts or public forks. Pair or observe if access is unavailable.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10 minutes.
Demonstrate the browser edit from the Foundations lab.
Slow down when reading the diff. Red and green show removal and addition, not scientific correctness.
Explain why the commit message describes intent rather than saying only 'update'.
Work only in the approved Gilead-managed working repository; the public teaching reference is not the participant write target. Use approved identities and synthetic data. Do not bypass EMU or access controls with personal accounts or public forks. Pair or observe if access is unavailable.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12 minutes.
Attendees complete the browser lab. Circulate rather than presenting.
Do not introduce local Git. Help attendees only with GitHub.com navigation and branch naming.
Work only in the approved Gilead-managed working repository; the public teaching reference is not the participant write target. Use approved identities and synthetic data. Do not bypass EMU or access controls with personal accounts or public forks. Pair or observe if access is unavailable.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6 minutes.
Use attendees' branch names as examples.
Avoid branching-strategy jargon. The key distinction is reviewed baseline versus proposed path.
Work only in the approved Gilead-managed working repository; the public teaching reference is not the participant write target. Use approved identities and synthetic data. Do not bypass EMU or access controls with personal accounts or public forks. Pair or observe if access is unavailable.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6 minutes.
Orient attendees to title, description, commits, checks, diff, and review.
Say: The pull request gathers evidence. It does not prove scientific correctness.
Work only in the approved Gilead-managed working repository; the public teaching reference is not the participant write target. Use approved identities and synthetic data. Do not bypass EMU or access controls with personal accounts or public forks. Pair or observe if access is unavailable.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8 minutes.
Attendees open their pull requests and review a partner's change.
Reward comments that ask for evidence or clarify risk. Discourage comments that only express preference.
Work only in the approved Gilead-managed working repository; the public teaching reference is not the participant write target. Use approved identities and synthetic data. Do not bypass EMU or access controls with personal accounts or public forks. Pair or observe if access is unavailable.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5 minutes.
Debrief the partner review with these four questions.
Reinforce that approval in GitHub is not the same as final scientific or regulatory approval.
Work only in the approved Gilead-managed working repository; the public teaching reference is not the participant write target. Use approved identities and synthetic data. Do not bypass EMU or access controls with personal accounts or public forks. Pair or observe if access is unavailable.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3 minutes.
Retell the workshop as one story and ask attendees where similar control points exist today.
Work only in the approved Gilead-managed working repository; the public teaching reference is not the participant write target. Use approved identities and synthetic data. Do not bypass EMU or access controls with personal accounts or public forks. Pair or observe if access is unavailable.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1 minutes.
Invite one or two questions, then direct advanced attendees to the Copilot workshop.
Work only in the approved Gilead-managed working repository; the public teaching reference is not the participant write target. Use approved identities and synthetic data. Do not bypass EMU or access controls with personal accounts or public forks. Pair or observe if access is unavailable.
The advanced session now requires approved VS Code, Git, Python 3.10+ and Copilot Agent mode; Cloud Agent is not currently enabled at Gilead. No local tools are required for Foundations. The original Gilead Day 2 feedback QR slide follows, with its design unchanged.</a:t>
            </a:r>
          </a:p>
          <a:p>
            <a:r>
              <a:rPr lang="en-US"/>
              <a:t>The closing minute includes transition to the unchanged Day 2 feedback QR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In 309 C</a:t>
            </a:r>
            <a:endParaRPr lang="en-US"/>
          </a:p>
          <a:p>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9132954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865366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0879449"/>
      </p:ext>
    </p:extLst>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github.com/johnsont1693/scientific-workflow-workshop"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hyperlink" Target="https://github.com/johnsont1693/scientific-workflow-workshop"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hyperlink" Target="https://github.com/johnsont1693/scientific-workflow-workshop"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hyperlink" Target="https://github.com/johnsont1693/scientific-workflow-workshop"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hyperlink" Target="https://github.com/johnsont1693/scientific-workflow-workshop"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hyperlink" Target="https://github.com/johnsont1693/scientific-workflow-workshop"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hyperlink" Target="https://github.com/johnsont1693/scientific-workflow-workshop"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hyperlink" Target="https://github.com/johnsont1693/scientific-workflow-workshop"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hyperlink" Target="https://github.com/johnsont1693/scientific-workflow-workshop"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johnsont1693/scientific-workflow-workshop" TargetMode="Externa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hyperlink" Target="https://github.com/johnsont1693/scientific-workflow-workshop"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hyperlink" Target="https://github.com/johnsont1693/scientific-workflow-workshop"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hyperlink" Target="https://github.com/johnsont1693/scientific-workflow-workshop"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hyperlink" Target="https://github.com/johnsont1693/scientific-workflow-workshop"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hyperlink" Target="https://github.com/johnsont1693/scientific-workflow-workshop"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hyperlink" Target="https://github.com/johnsont1693/scientific-workflow-workshop"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hyperlink" Target="https://github.com/johnsont1693/scientific-workflow-workshop"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475488" y="347472"/>
            <a:ext cx="347472" cy="347472"/>
          </a:xfrm>
          <a:prstGeom prst="ellipse">
            <a:avLst/>
          </a:prstGeom>
          <a:solidFill>
            <a:srgbClr val="FFFFFF"/>
          </a:solidFill>
          <a:ln w="12700">
            <a:solidFill>
              <a:srgbClr val="FFFFFF">
                <a:alpha val="0"/>
              </a:srgbClr>
            </a:solidFill>
            <a:prstDash val="solid"/>
          </a:ln>
        </p:spPr>
        <p:txBody>
          <a:bodyPr/>
          <a:lstStyle/>
          <a:p>
            <a:endParaRPr lang="en-US"/>
          </a:p>
        </p:txBody>
      </p:sp>
      <p:pic>
        <p:nvPicPr>
          <p:cNvPr id="3" name="Image 0" descr="/Users/alysiabrown/sandbox/copilot-worktrees/acb-workbench/abrown152-turbo-winner/generated-assets/gilead-sciences-inc/dss-2026/assets/github-mark.png"/>
          <p:cNvPicPr>
            <a:picLocks noChangeAspect="1"/>
          </p:cNvPicPr>
          <p:nvPr/>
        </p:nvPicPr>
        <p:blipFill>
          <a:blip r:embed="rId3"/>
          <a:stretch>
            <a:fillRect/>
          </a:stretch>
        </p:blipFill>
        <p:spPr>
          <a:xfrm>
            <a:off x="525780" y="397764"/>
            <a:ext cx="246888" cy="246888"/>
          </a:xfrm>
          <a:prstGeom prst="rect">
            <a:avLst/>
          </a:prstGeom>
        </p:spPr>
      </p:pic>
      <p:sp>
        <p:nvSpPr>
          <p:cNvPr id="4" name="Text 1"/>
          <p:cNvSpPr/>
          <p:nvPr/>
        </p:nvSpPr>
        <p:spPr>
          <a:xfrm>
            <a:off x="896112" y="356616"/>
            <a:ext cx="960120" cy="256032"/>
          </a:xfrm>
          <a:prstGeom prst="rect">
            <a:avLst/>
          </a:prstGeom>
          <a:noFill/>
          <a:ln/>
        </p:spPr>
        <p:txBody>
          <a:bodyPr wrap="square" lIns="0" tIns="0" rIns="0" bIns="0" rtlCol="0" anchor="ctr"/>
          <a:lstStyle/>
          <a:p>
            <a:pPr marL="0" indent="0">
              <a:buNone/>
            </a:pPr>
            <a:r>
              <a:rPr lang="en-US" sz="1700" b="1" dirty="0">
                <a:solidFill>
                  <a:srgbClr val="FFFFFF"/>
                </a:solidFill>
                <a:latin typeface="Aptos Display" pitchFamily="34" charset="0"/>
                <a:ea typeface="Aptos Display" pitchFamily="34" charset="-122"/>
                <a:cs typeface="Aptos Display" pitchFamily="34" charset="-120"/>
              </a:rPr>
              <a:t>GitHub</a:t>
            </a:r>
            <a:endParaRPr lang="en-US" sz="1700" dirty="0"/>
          </a:p>
        </p:txBody>
      </p:sp>
      <p:sp>
        <p:nvSpPr>
          <p:cNvPr id="5" name="Text 2"/>
          <p:cNvSpPr/>
          <p:nvPr/>
        </p:nvSpPr>
        <p:spPr>
          <a:xfrm>
            <a:off x="566928" y="1170432"/>
            <a:ext cx="4572000" cy="219456"/>
          </a:xfrm>
          <a:prstGeom prst="rect">
            <a:avLst/>
          </a:prstGeom>
          <a:noFill/>
          <a:ln/>
        </p:spPr>
        <p:txBody>
          <a:bodyPr wrap="square" lIns="0" tIns="0" rIns="0" bIns="0" rtlCol="0" anchor="ctr"/>
          <a:lstStyle/>
          <a:p>
            <a:pPr marL="0" indent="0">
              <a:buNone/>
            </a:pPr>
            <a:r>
              <a:rPr lang="en-US" sz="1000" b="1" kern="0" spc="170" dirty="0">
                <a:solidFill>
                  <a:srgbClr val="0969DA"/>
                </a:solidFill>
                <a:latin typeface="Aptos" pitchFamily="34" charset="0"/>
                <a:ea typeface="Aptos" pitchFamily="34" charset="-122"/>
                <a:cs typeface="Aptos" pitchFamily="34" charset="-120"/>
              </a:rPr>
              <a:t>BEGINNER WORKSHOP | 90 MINUTES</a:t>
            </a:r>
            <a:endParaRPr lang="en-US" sz="1000" dirty="0"/>
          </a:p>
        </p:txBody>
      </p:sp>
      <p:sp>
        <p:nvSpPr>
          <p:cNvPr id="6" name="Text 3"/>
          <p:cNvSpPr/>
          <p:nvPr/>
        </p:nvSpPr>
        <p:spPr>
          <a:xfrm>
            <a:off x="548640" y="1572768"/>
            <a:ext cx="6446520" cy="1536192"/>
          </a:xfrm>
          <a:prstGeom prst="rect">
            <a:avLst/>
          </a:prstGeom>
          <a:noFill/>
          <a:ln/>
        </p:spPr>
        <p:txBody>
          <a:bodyPr wrap="square" lIns="0" tIns="0" rIns="0" bIns="0" rtlCol="0" anchor="ctr"/>
          <a:lstStyle/>
          <a:p>
            <a:pPr marL="0" indent="0">
              <a:buNone/>
            </a:pPr>
            <a:r>
              <a:rPr lang="en-US" sz="4200" b="1" dirty="0">
                <a:solidFill>
                  <a:srgbClr val="FFFFFF"/>
                </a:solidFill>
                <a:latin typeface="Aptos Display" pitchFamily="34" charset="0"/>
                <a:ea typeface="Aptos Display" pitchFamily="34" charset="-122"/>
                <a:cs typeface="Aptos Display" pitchFamily="34" charset="-120"/>
              </a:rPr>
              <a:t>GitHub Foundations</a:t>
            </a:r>
            <a:endParaRPr lang="en-US" sz="4200" dirty="0"/>
          </a:p>
          <a:p>
            <a:pPr marL="0" indent="0">
              <a:buNone/>
            </a:pPr>
            <a:r>
              <a:rPr lang="en-US" sz="4200" b="1" dirty="0">
                <a:solidFill>
                  <a:srgbClr val="FFFFFF"/>
                </a:solidFill>
                <a:latin typeface="Aptos Display" pitchFamily="34" charset="0"/>
                <a:ea typeface="Aptos Display" pitchFamily="34" charset="-122"/>
                <a:cs typeface="Aptos Display" pitchFamily="34" charset="-120"/>
              </a:rPr>
              <a:t>for scientific work</a:t>
            </a:r>
            <a:endParaRPr lang="en-US" sz="4200" dirty="0"/>
          </a:p>
        </p:txBody>
      </p:sp>
      <p:sp>
        <p:nvSpPr>
          <p:cNvPr id="7" name="Text 4"/>
          <p:cNvSpPr/>
          <p:nvPr/>
        </p:nvSpPr>
        <p:spPr>
          <a:xfrm>
            <a:off x="585216" y="3364992"/>
            <a:ext cx="5943600" cy="777240"/>
          </a:xfrm>
          <a:prstGeom prst="rect">
            <a:avLst/>
          </a:prstGeom>
          <a:noFill/>
          <a:ln/>
        </p:spPr>
        <p:txBody>
          <a:bodyPr wrap="square" lIns="0" tIns="0" rIns="0" bIns="0" rtlCol="0" anchor="ctr"/>
          <a:lstStyle/>
          <a:p>
            <a:pPr marL="0" indent="0">
              <a:buNone/>
            </a:pPr>
            <a:r>
              <a:rPr lang="en-US" sz="1900" dirty="0">
                <a:solidFill>
                  <a:srgbClr val="B1BAC4"/>
                </a:solidFill>
                <a:latin typeface="Aptos" pitchFamily="34" charset="0"/>
                <a:ea typeface="Aptos" pitchFamily="34" charset="-122"/>
                <a:cs typeface="Aptos" pitchFamily="34" charset="-120"/>
              </a:rPr>
              <a:t>From copied study files to a visible, reviewable history</a:t>
            </a:r>
            <a:endParaRPr lang="en-US" sz="1900" dirty="0"/>
          </a:p>
        </p:txBody>
      </p:sp>
      <p:sp>
        <p:nvSpPr>
          <p:cNvPr id="8" name="Text 5"/>
          <p:cNvSpPr/>
          <p:nvPr/>
        </p:nvSpPr>
        <p:spPr>
          <a:xfrm>
            <a:off x="585216" y="4416552"/>
            <a:ext cx="5943600" cy="256032"/>
          </a:xfrm>
          <a:prstGeom prst="rect">
            <a:avLst/>
          </a:prstGeom>
          <a:noFill/>
          <a:ln/>
        </p:spPr>
        <p:txBody>
          <a:bodyPr wrap="square" lIns="0" tIns="0" rIns="0" bIns="0" rtlCol="0" anchor="ctr"/>
          <a:lstStyle/>
          <a:p>
            <a:pPr marL="0" indent="0">
              <a:buNone/>
            </a:pPr>
            <a:r>
              <a:rPr lang="en-US" sz="1300" b="1" dirty="0">
                <a:solidFill>
                  <a:srgbClr val="FFFFFF"/>
                </a:solidFill>
                <a:latin typeface="Aptos" pitchFamily="34" charset="0"/>
                <a:ea typeface="Aptos" pitchFamily="34" charset="-122"/>
                <a:cs typeface="Aptos" pitchFamily="34" charset="-120"/>
              </a:rPr>
              <a:t>October 7, 2026 | Thomas Johnson</a:t>
            </a:r>
            <a:endParaRPr lang="en-US" sz="1300" dirty="0"/>
          </a:p>
        </p:txBody>
      </p:sp>
      <p:sp>
        <p:nvSpPr>
          <p:cNvPr id="9" name="Shape 6"/>
          <p:cNvSpPr/>
          <p:nvPr/>
        </p:nvSpPr>
        <p:spPr>
          <a:xfrm>
            <a:off x="7132320" y="1143000"/>
            <a:ext cx="4480560" cy="4526280"/>
          </a:xfrm>
          <a:prstGeom prst="roundRect">
            <a:avLst>
              <a:gd name="adj" fmla="val 2449"/>
            </a:avLst>
          </a:prstGeom>
          <a:solidFill>
            <a:srgbClr val="161B22"/>
          </a:solidFill>
          <a:ln w="12700">
            <a:solidFill>
              <a:srgbClr val="21262D"/>
            </a:solidFill>
            <a:prstDash val="solid"/>
          </a:ln>
        </p:spPr>
        <p:txBody>
          <a:bodyPr/>
          <a:lstStyle/>
          <a:p>
            <a:endParaRPr lang="en-US"/>
          </a:p>
        </p:txBody>
      </p:sp>
      <p:sp>
        <p:nvSpPr>
          <p:cNvPr id="10" name="Shape 7"/>
          <p:cNvSpPr/>
          <p:nvPr/>
        </p:nvSpPr>
        <p:spPr>
          <a:xfrm>
            <a:off x="7470648" y="1527048"/>
            <a:ext cx="3803904" cy="3182112"/>
          </a:xfrm>
          <a:prstGeom prst="roundRect">
            <a:avLst>
              <a:gd name="adj" fmla="val 2299"/>
            </a:avLst>
          </a:prstGeom>
          <a:solidFill>
            <a:srgbClr val="21262D"/>
          </a:solidFill>
          <a:ln w="11430">
            <a:solidFill>
              <a:srgbClr val="D0D7DE"/>
            </a:solidFill>
            <a:prstDash val="solid"/>
          </a:ln>
          <a:effectLst>
            <a:outerShdw blurRad="38100" dist="12700" dir="2700000" algn="bl" rotWithShape="0">
              <a:srgbClr val="000000">
                <a:alpha val="14000"/>
              </a:srgbClr>
            </a:outerShdw>
          </a:effectLst>
        </p:spPr>
        <p:txBody>
          <a:bodyPr/>
          <a:lstStyle/>
          <a:p>
            <a:endParaRPr lang="en-US"/>
          </a:p>
        </p:txBody>
      </p:sp>
      <p:sp>
        <p:nvSpPr>
          <p:cNvPr id="11" name="Shape 8"/>
          <p:cNvSpPr/>
          <p:nvPr/>
        </p:nvSpPr>
        <p:spPr>
          <a:xfrm>
            <a:off x="7470648" y="1527048"/>
            <a:ext cx="3803904" cy="457200"/>
          </a:xfrm>
          <a:prstGeom prst="rect">
            <a:avLst/>
          </a:prstGeom>
          <a:solidFill>
            <a:srgbClr val="F6F8FA"/>
          </a:solidFill>
          <a:ln w="8890">
            <a:solidFill>
              <a:srgbClr val="D0D7DE"/>
            </a:solidFill>
            <a:prstDash val="solid"/>
          </a:ln>
        </p:spPr>
        <p:txBody>
          <a:bodyPr/>
          <a:lstStyle/>
          <a:p>
            <a:endParaRPr lang="en-US"/>
          </a:p>
        </p:txBody>
      </p:sp>
      <p:sp>
        <p:nvSpPr>
          <p:cNvPr id="12" name="Shape 9"/>
          <p:cNvSpPr/>
          <p:nvPr/>
        </p:nvSpPr>
        <p:spPr>
          <a:xfrm>
            <a:off x="7635240" y="1691640"/>
            <a:ext cx="100584" cy="100584"/>
          </a:xfrm>
          <a:prstGeom prst="ellipse">
            <a:avLst/>
          </a:prstGeom>
          <a:solidFill>
            <a:srgbClr val="CF222E"/>
          </a:solidFill>
          <a:ln w="12700">
            <a:solidFill>
              <a:srgbClr val="CF222E">
                <a:alpha val="0"/>
              </a:srgbClr>
            </a:solidFill>
            <a:prstDash val="solid"/>
          </a:ln>
        </p:spPr>
        <p:txBody>
          <a:bodyPr/>
          <a:lstStyle/>
          <a:p>
            <a:endParaRPr lang="en-US"/>
          </a:p>
        </p:txBody>
      </p:sp>
      <p:sp>
        <p:nvSpPr>
          <p:cNvPr id="13" name="Shape 10"/>
          <p:cNvSpPr/>
          <p:nvPr/>
        </p:nvSpPr>
        <p:spPr>
          <a:xfrm>
            <a:off x="7836408" y="1691640"/>
            <a:ext cx="100584" cy="100584"/>
          </a:xfrm>
          <a:prstGeom prst="ellipse">
            <a:avLst/>
          </a:prstGeom>
          <a:solidFill>
            <a:srgbClr val="BF8700"/>
          </a:solidFill>
          <a:ln w="12700">
            <a:solidFill>
              <a:srgbClr val="BF8700">
                <a:alpha val="0"/>
              </a:srgbClr>
            </a:solidFill>
            <a:prstDash val="solid"/>
          </a:ln>
        </p:spPr>
        <p:txBody>
          <a:bodyPr/>
          <a:lstStyle/>
          <a:p>
            <a:endParaRPr lang="en-US"/>
          </a:p>
        </p:txBody>
      </p:sp>
      <p:sp>
        <p:nvSpPr>
          <p:cNvPr id="14" name="Shape 11"/>
          <p:cNvSpPr/>
          <p:nvPr/>
        </p:nvSpPr>
        <p:spPr>
          <a:xfrm>
            <a:off x="8037576" y="1691640"/>
            <a:ext cx="100584" cy="100584"/>
          </a:xfrm>
          <a:prstGeom prst="ellipse">
            <a:avLst/>
          </a:prstGeom>
          <a:solidFill>
            <a:srgbClr val="1A7F37"/>
          </a:solidFill>
          <a:ln w="12700">
            <a:solidFill>
              <a:srgbClr val="1A7F37">
                <a:alpha val="0"/>
              </a:srgbClr>
            </a:solidFill>
            <a:prstDash val="solid"/>
          </a:ln>
        </p:spPr>
        <p:txBody>
          <a:bodyPr/>
          <a:lstStyle/>
          <a:p>
            <a:endParaRPr lang="en-US"/>
          </a:p>
        </p:txBody>
      </p:sp>
      <p:sp>
        <p:nvSpPr>
          <p:cNvPr id="15" name="Shape 12"/>
          <p:cNvSpPr/>
          <p:nvPr/>
        </p:nvSpPr>
        <p:spPr>
          <a:xfrm>
            <a:off x="8311896" y="1627632"/>
            <a:ext cx="2743200" cy="256032"/>
          </a:xfrm>
          <a:prstGeom prst="roundRect">
            <a:avLst>
              <a:gd name="adj" fmla="val 14286"/>
            </a:avLst>
          </a:prstGeom>
          <a:solidFill>
            <a:srgbClr val="FFFFFF"/>
          </a:solidFill>
          <a:ln w="6350">
            <a:solidFill>
              <a:srgbClr val="D0D7DE"/>
            </a:solidFill>
            <a:prstDash val="solid"/>
          </a:ln>
        </p:spPr>
        <p:txBody>
          <a:bodyPr/>
          <a:lstStyle/>
          <a:p>
            <a:endParaRPr lang="en-US"/>
          </a:p>
        </p:txBody>
      </p:sp>
      <p:sp>
        <p:nvSpPr>
          <p:cNvPr id="16" name="Text 13"/>
          <p:cNvSpPr/>
          <p:nvPr/>
        </p:nvSpPr>
        <p:spPr>
          <a:xfrm>
            <a:off x="8458200" y="1700784"/>
            <a:ext cx="2450592" cy="91440"/>
          </a:xfrm>
          <a:prstGeom prst="rect">
            <a:avLst/>
          </a:prstGeom>
          <a:noFill/>
          <a:ln/>
        </p:spPr>
        <p:txBody>
          <a:bodyPr wrap="square" lIns="0" tIns="0" rIns="0" bIns="0" rtlCol="0" anchor="ctr"/>
          <a:lstStyle/>
          <a:p>
            <a:pPr marL="0" indent="0">
              <a:buNone/>
            </a:pPr>
            <a:r>
              <a:rPr lang="en-US" sz="720">
                <a:solidFill>
                  <a:srgbClr val="57606A"/>
                </a:solidFill>
                <a:latin typeface="Courier New" pitchFamily="34" charset="0"/>
                <a:ea typeface="Courier New" pitchFamily="34" charset="-122"/>
                <a:cs typeface="Courier New" pitchFamily="34" charset="-120"/>
              </a:rPr>
              <a:t>Public teaching reference</a:t>
            </a:r>
            <a:endParaRPr lang="en-US" sz="720" dirty="0"/>
          </a:p>
        </p:txBody>
      </p:sp>
      <p:sp>
        <p:nvSpPr>
          <p:cNvPr id="17" name="Text 14"/>
          <p:cNvSpPr/>
          <p:nvPr/>
        </p:nvSpPr>
        <p:spPr>
          <a:xfrm>
            <a:off x="7726680" y="2441448"/>
            <a:ext cx="3291840" cy="1417320"/>
          </a:xfrm>
          <a:prstGeom prst="rect">
            <a:avLst/>
          </a:prstGeom>
          <a:noFill/>
          <a:ln/>
        </p:spPr>
        <p:txBody>
          <a:bodyPr wrap="square" lIns="0" tIns="0" rIns="0" bIns="0" rtlCol="0" anchor="ctr"/>
          <a:lstStyle/>
          <a:p>
            <a:pPr marL="0" indent="0">
              <a:buNone/>
            </a:pPr>
            <a:r>
              <a:rPr lang="en-US" sz="2200" b="1" dirty="0">
                <a:solidFill>
                  <a:srgbClr val="FFFFFF"/>
                </a:solidFill>
                <a:latin typeface="Aptos Display" pitchFamily="34" charset="0"/>
                <a:ea typeface="Aptos Display" pitchFamily="34" charset="-122"/>
                <a:cs typeface="Aptos Display" pitchFamily="34" charset="-120"/>
              </a:rPr>
              <a:t>Requirement</a:t>
            </a:r>
            <a:endParaRPr lang="en-US" sz="2200" dirty="0"/>
          </a:p>
          <a:p>
            <a:pPr marL="0" indent="0">
              <a:buNone/>
            </a:pPr>
            <a:r>
              <a:rPr lang="en-US" sz="2200" b="1" dirty="0">
                <a:solidFill>
                  <a:srgbClr val="FFFFFF"/>
                </a:solidFill>
                <a:latin typeface="Aptos Display" pitchFamily="34" charset="0"/>
                <a:ea typeface="Aptos Display" pitchFamily="34" charset="-122"/>
                <a:cs typeface="Aptos Display" pitchFamily="34" charset="-120"/>
              </a:rPr>
              <a:t>-&gt; change</a:t>
            </a:r>
            <a:endParaRPr lang="en-US" sz="2200" dirty="0"/>
          </a:p>
          <a:p>
            <a:pPr marL="0" indent="0">
              <a:buNone/>
            </a:pPr>
            <a:r>
              <a:rPr lang="en-US" sz="2200" b="1" dirty="0">
                <a:solidFill>
                  <a:srgbClr val="FFFFFF"/>
                </a:solidFill>
                <a:latin typeface="Aptos Display" pitchFamily="34" charset="0"/>
                <a:ea typeface="Aptos Display" pitchFamily="34" charset="-122"/>
                <a:cs typeface="Aptos Display" pitchFamily="34" charset="-120"/>
              </a:rPr>
              <a:t>-&gt; review</a:t>
            </a:r>
            <a:endParaRPr lang="en-US" sz="2200" dirty="0"/>
          </a:p>
        </p:txBody>
      </p:sp>
      <p:sp>
        <p:nvSpPr>
          <p:cNvPr id="18" name="Shape 15"/>
          <p:cNvSpPr/>
          <p:nvPr/>
        </p:nvSpPr>
        <p:spPr>
          <a:xfrm>
            <a:off x="7818120" y="4956048"/>
            <a:ext cx="3127248" cy="420624"/>
          </a:xfrm>
          <a:prstGeom prst="roundRect">
            <a:avLst>
              <a:gd name="adj" fmla="val 17391"/>
            </a:avLst>
          </a:prstGeom>
          <a:solidFill>
            <a:srgbClr val="0969DA"/>
          </a:solidFill>
          <a:ln w="12700">
            <a:solidFill>
              <a:srgbClr val="0969DA">
                <a:alpha val="0"/>
              </a:srgbClr>
            </a:solidFill>
            <a:prstDash val="solid"/>
          </a:ln>
        </p:spPr>
        <p:txBody>
          <a:bodyPr/>
          <a:lstStyle/>
          <a:p>
            <a:endParaRPr lang="en-US"/>
          </a:p>
        </p:txBody>
      </p:sp>
      <p:sp>
        <p:nvSpPr>
          <p:cNvPr id="19" name="Text 16"/>
          <p:cNvSpPr/>
          <p:nvPr/>
        </p:nvSpPr>
        <p:spPr>
          <a:xfrm>
            <a:off x="8001000" y="5093208"/>
            <a:ext cx="2761488" cy="128016"/>
          </a:xfrm>
          <a:prstGeom prst="rect">
            <a:avLst/>
          </a:prstGeom>
          <a:noFill/>
          <a:ln/>
        </p:spPr>
        <p:txBody>
          <a:bodyPr wrap="square" lIns="0" tIns="0" rIns="0" bIns="0" rtlCol="0" anchor="ctr"/>
          <a:lstStyle/>
          <a:p>
            <a:pPr marL="0" indent="0" algn="ctr">
              <a:buNone/>
            </a:pPr>
            <a:r>
              <a:rPr lang="en-US" sz="900" b="1" kern="0" spc="120" dirty="0">
                <a:solidFill>
                  <a:srgbClr val="FFFFFF"/>
                </a:solidFill>
                <a:latin typeface="Aptos" pitchFamily="34" charset="0"/>
                <a:ea typeface="Aptos" pitchFamily="34" charset="-122"/>
                <a:cs typeface="Aptos" pitchFamily="34" charset="-120"/>
              </a:rPr>
              <a:t>BROWSER-FIRST WORKSHOP</a:t>
            </a:r>
            <a:endParaRPr lang="en-US" sz="900" dirty="0"/>
          </a:p>
        </p:txBody>
      </p:sp>
      <p:sp>
        <p:nvSpPr>
          <p:cNvPr id="20" name="Text 17"/>
          <p:cNvSpPr/>
          <p:nvPr/>
        </p:nvSpPr>
        <p:spPr>
          <a:xfrm>
            <a:off x="502920" y="6519672"/>
            <a:ext cx="3840480" cy="146304"/>
          </a:xfrm>
          <a:prstGeom prst="rect">
            <a:avLst/>
          </a:prstGeom>
          <a:noFill/>
          <a:ln/>
        </p:spPr>
        <p:txBody>
          <a:bodyPr wrap="square" lIns="0" tIns="0" rIns="0" bIns="0" rtlCol="0" anchor="ctr"/>
          <a:lstStyle/>
          <a:p>
            <a:pPr marL="0" indent="0">
              <a:buNone/>
            </a:pPr>
            <a:r>
              <a:rPr lang="en-US" sz="800" dirty="0">
                <a:solidFill>
                  <a:srgbClr val="B1BAC4"/>
                </a:solidFill>
                <a:latin typeface="Aptos" pitchFamily="34" charset="0"/>
                <a:ea typeface="Aptos" pitchFamily="34" charset="-122"/>
                <a:cs typeface="Aptos" pitchFamily="34" charset="-120"/>
              </a:rPr>
              <a:t>GitHub Foundations | Gilead DSS</a:t>
            </a:r>
            <a:endParaRPr lang="en-US" sz="800" dirty="0"/>
          </a:p>
        </p:txBody>
      </p:sp>
      <p:sp>
        <p:nvSpPr>
          <p:cNvPr id="21" name="Text 18">
            <a:hlinkClick r:id="rId4"/>
          </p:cNvPr>
          <p:cNvSpPr/>
          <p:nvPr/>
        </p:nvSpPr>
        <p:spPr>
          <a:xfrm>
            <a:off x="5623560" y="6519672"/>
            <a:ext cx="5897880" cy="146304"/>
          </a:xfrm>
          <a:prstGeom prst="rect">
            <a:avLst/>
          </a:prstGeom>
          <a:noFill/>
          <a:ln/>
        </p:spPr>
        <p:txBody>
          <a:bodyPr wrap="square" lIns="0" tIns="0" rIns="0" bIns="0" rtlCol="0" anchor="ctr"/>
          <a:lstStyle/>
          <a:p>
            <a:pPr marL="0" indent="0" algn="r">
              <a:buNone/>
            </a:pPr>
            <a:r>
              <a:rPr lang="en-US" sz="800" u="sng" dirty="0">
                <a:solidFill>
                  <a:srgbClr val="B1BAC4"/>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github.com/johnsont1693/scientific-workflow-workshop</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A"/>
        </a:solidFill>
        <a:effectLst/>
      </p:bgPr>
    </p:bg>
    <p:spTree>
      <p:nvGrpSpPr>
        <p:cNvPr id="1" name=""/>
        <p:cNvGrpSpPr/>
        <p:nvPr/>
      </p:nvGrpSpPr>
      <p:grpSpPr>
        <a:xfrm>
          <a:off x="0" y="0"/>
          <a:ext cx="0" cy="0"/>
          <a:chOff x="0" y="0"/>
          <a:chExt cx="0" cy="0"/>
        </a:xfrm>
      </p:grpSpPr>
      <p:sp>
        <p:nvSpPr>
          <p:cNvPr id="2" name="Shape 0"/>
          <p:cNvSpPr/>
          <p:nvPr/>
        </p:nvSpPr>
        <p:spPr>
          <a:xfrm>
            <a:off x="475488" y="347472"/>
            <a:ext cx="347472" cy="347472"/>
          </a:xfrm>
          <a:prstGeom prst="ellipse">
            <a:avLst/>
          </a:prstGeom>
          <a:solidFill>
            <a:srgbClr val="0D1117"/>
          </a:solidFill>
          <a:ln w="12700">
            <a:solidFill>
              <a:srgbClr val="0D1117">
                <a:alpha val="0"/>
              </a:srgbClr>
            </a:solidFill>
            <a:prstDash val="solid"/>
          </a:ln>
        </p:spPr>
        <p:txBody>
          <a:bodyPr/>
          <a:lstStyle/>
          <a:p>
            <a:endParaRPr lang="en-US"/>
          </a:p>
        </p:txBody>
      </p:sp>
      <p:pic>
        <p:nvPicPr>
          <p:cNvPr id="3" name="Image 0" descr="/Users/alysiabrown/sandbox/copilot-worktrees/acb-workbench/abrown152-turbo-winner/generated-assets/gilead-sciences-inc/dss-2026/assets/github-mark.png"/>
          <p:cNvPicPr>
            <a:picLocks noChangeAspect="1"/>
          </p:cNvPicPr>
          <p:nvPr/>
        </p:nvPicPr>
        <p:blipFill>
          <a:blip r:embed="rId3"/>
          <a:stretch>
            <a:fillRect/>
          </a:stretch>
        </p:blipFill>
        <p:spPr>
          <a:xfrm>
            <a:off x="525780" y="397764"/>
            <a:ext cx="246888" cy="246888"/>
          </a:xfrm>
          <a:prstGeom prst="rect">
            <a:avLst/>
          </a:prstGeom>
        </p:spPr>
      </p:pic>
      <p:sp>
        <p:nvSpPr>
          <p:cNvPr id="4" name="Text 1"/>
          <p:cNvSpPr/>
          <p:nvPr/>
        </p:nvSpPr>
        <p:spPr>
          <a:xfrm>
            <a:off x="896112" y="356616"/>
            <a:ext cx="960120" cy="256032"/>
          </a:xfrm>
          <a:prstGeom prst="rect">
            <a:avLst/>
          </a:prstGeom>
          <a:noFill/>
          <a:ln/>
        </p:spPr>
        <p:txBody>
          <a:bodyPr wrap="square" lIns="0" tIns="0" rIns="0" bIns="0" rtlCol="0" anchor="ctr"/>
          <a:lstStyle/>
          <a:p>
            <a:pPr marL="0" indent="0">
              <a:buNone/>
            </a:pPr>
            <a:r>
              <a:rPr lang="en-US" sz="1700" b="1" dirty="0">
                <a:solidFill>
                  <a:srgbClr val="0D1117"/>
                </a:solidFill>
                <a:latin typeface="Aptos Display" pitchFamily="34" charset="0"/>
                <a:ea typeface="Aptos Display" pitchFamily="34" charset="-122"/>
                <a:cs typeface="Aptos Display" pitchFamily="34" charset="-120"/>
              </a:rPr>
              <a:t>GitHub</a:t>
            </a:r>
            <a:endParaRPr lang="en-US" sz="1700" dirty="0"/>
          </a:p>
        </p:txBody>
      </p:sp>
      <p:sp>
        <p:nvSpPr>
          <p:cNvPr id="5" name="Text 2"/>
          <p:cNvSpPr/>
          <p:nvPr/>
        </p:nvSpPr>
        <p:spPr>
          <a:xfrm>
            <a:off x="512064" y="932688"/>
            <a:ext cx="4114800" cy="182880"/>
          </a:xfrm>
          <a:prstGeom prst="rect">
            <a:avLst/>
          </a:prstGeom>
          <a:noFill/>
          <a:ln/>
        </p:spPr>
        <p:txBody>
          <a:bodyPr wrap="square" lIns="0" tIns="0" rIns="0" bIns="0" rtlCol="0" anchor="ctr"/>
          <a:lstStyle/>
          <a:p>
            <a:pPr marL="0" indent="0">
              <a:buNone/>
            </a:pPr>
            <a:r>
              <a:rPr lang="en-US" sz="950" b="1" kern="0" spc="140" dirty="0">
                <a:solidFill>
                  <a:srgbClr val="0969DA"/>
                </a:solidFill>
                <a:latin typeface="Aptos" pitchFamily="34" charset="0"/>
                <a:ea typeface="Aptos" pitchFamily="34" charset="-122"/>
                <a:cs typeface="Aptos" pitchFamily="34" charset="-120"/>
              </a:rPr>
              <a:t>WORKSHOP OUTCOMES</a:t>
            </a:r>
            <a:endParaRPr lang="en-US" sz="950" dirty="0"/>
          </a:p>
        </p:txBody>
      </p:sp>
      <p:sp>
        <p:nvSpPr>
          <p:cNvPr id="6" name="Text 3"/>
          <p:cNvSpPr/>
          <p:nvPr/>
        </p:nvSpPr>
        <p:spPr>
          <a:xfrm>
            <a:off x="512064" y="1179576"/>
            <a:ext cx="10972800" cy="530352"/>
          </a:xfrm>
          <a:prstGeom prst="rect">
            <a:avLst/>
          </a:prstGeom>
          <a:noFill/>
          <a:ln/>
        </p:spPr>
        <p:txBody>
          <a:bodyPr wrap="square" lIns="0" tIns="0" rIns="0" bIns="0" rtlCol="0" anchor="ctr"/>
          <a:lstStyle/>
          <a:p>
            <a:pPr marL="0" indent="0">
              <a:buNone/>
            </a:pPr>
            <a:r>
              <a:rPr lang="en-US" sz="3100" b="1" dirty="0">
                <a:solidFill>
                  <a:srgbClr val="0D1117"/>
                </a:solidFill>
                <a:latin typeface="Aptos Display" pitchFamily="34" charset="0"/>
                <a:ea typeface="Aptos Display" pitchFamily="34" charset="-122"/>
                <a:cs typeface="Aptos Display" pitchFamily="34" charset="-120"/>
              </a:rPr>
              <a:t>You will do the workflow—not just watch it</a:t>
            </a:r>
            <a:endParaRPr lang="en-US" sz="3100" dirty="0"/>
          </a:p>
        </p:txBody>
      </p:sp>
      <p:sp>
        <p:nvSpPr>
          <p:cNvPr id="7" name="Shape 4"/>
          <p:cNvSpPr/>
          <p:nvPr/>
        </p:nvSpPr>
        <p:spPr>
          <a:xfrm>
            <a:off x="566928" y="2148840"/>
            <a:ext cx="475488" cy="475488"/>
          </a:xfrm>
          <a:prstGeom prst="ellipse">
            <a:avLst/>
          </a:prstGeom>
          <a:solidFill>
            <a:srgbClr val="0969DA"/>
          </a:solidFill>
          <a:ln w="12700">
            <a:solidFill>
              <a:srgbClr val="0969DA">
                <a:alpha val="0"/>
              </a:srgbClr>
            </a:solidFill>
            <a:prstDash val="solid"/>
          </a:ln>
        </p:spPr>
        <p:txBody>
          <a:bodyPr/>
          <a:lstStyle/>
          <a:p>
            <a:endParaRPr lang="en-US"/>
          </a:p>
        </p:txBody>
      </p:sp>
      <p:sp>
        <p:nvSpPr>
          <p:cNvPr id="8" name="Text 5"/>
          <p:cNvSpPr/>
          <p:nvPr/>
        </p:nvSpPr>
        <p:spPr>
          <a:xfrm>
            <a:off x="566928" y="2281428"/>
            <a:ext cx="475488" cy="1371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Display" pitchFamily="34" charset="0"/>
                <a:ea typeface="Aptos Display" pitchFamily="34" charset="-122"/>
                <a:cs typeface="Aptos Display" pitchFamily="34" charset="-120"/>
              </a:rPr>
              <a:t>1</a:t>
            </a:r>
            <a:endParaRPr lang="en-US" sz="1200" dirty="0"/>
          </a:p>
        </p:txBody>
      </p:sp>
      <p:sp>
        <p:nvSpPr>
          <p:cNvPr id="9" name="Text 6"/>
          <p:cNvSpPr/>
          <p:nvPr/>
        </p:nvSpPr>
        <p:spPr>
          <a:xfrm>
            <a:off x="566928" y="2816352"/>
            <a:ext cx="3246120" cy="411480"/>
          </a:xfrm>
          <a:prstGeom prst="rect">
            <a:avLst/>
          </a:prstGeom>
          <a:noFill/>
          <a:ln/>
        </p:spPr>
        <p:txBody>
          <a:bodyPr wrap="square" lIns="0" tIns="0" rIns="0" bIns="0" rtlCol="0" anchor="ctr"/>
          <a:lstStyle/>
          <a:p>
            <a:pPr marL="0" indent="0">
              <a:buNone/>
            </a:pPr>
            <a:r>
              <a:rPr lang="en-US" sz="2300" b="1" dirty="0">
                <a:solidFill>
                  <a:srgbClr val="0D1117"/>
                </a:solidFill>
                <a:latin typeface="Aptos Display" pitchFamily="34" charset="0"/>
                <a:ea typeface="Aptos Display" pitchFamily="34" charset="-122"/>
                <a:cs typeface="Aptos Display" pitchFamily="34" charset="-120"/>
              </a:rPr>
              <a:t>Navigate</a:t>
            </a:r>
            <a:endParaRPr lang="en-US" sz="2300" dirty="0"/>
          </a:p>
        </p:txBody>
      </p:sp>
      <p:sp>
        <p:nvSpPr>
          <p:cNvPr id="10" name="Text 7"/>
          <p:cNvSpPr/>
          <p:nvPr/>
        </p:nvSpPr>
        <p:spPr>
          <a:xfrm>
            <a:off x="566928" y="3401568"/>
            <a:ext cx="3218688" cy="1170432"/>
          </a:xfrm>
          <a:prstGeom prst="rect">
            <a:avLst/>
          </a:prstGeom>
          <a:noFill/>
          <a:ln/>
        </p:spPr>
        <p:txBody>
          <a:bodyPr wrap="square" lIns="0" tIns="0" rIns="0" bIns="0" rtlCol="0" anchor="ctr"/>
          <a:lstStyle/>
          <a:p>
            <a:pPr marL="0" indent="0">
              <a:buNone/>
            </a:pPr>
            <a:r>
              <a:rPr lang="en-US" sz="1500" dirty="0">
                <a:solidFill>
                  <a:srgbClr val="57606A"/>
                </a:solidFill>
                <a:latin typeface="Aptos" pitchFamily="34" charset="0"/>
                <a:ea typeface="Aptos" pitchFamily="34" charset="-122"/>
                <a:cs typeface="Aptos" pitchFamily="34" charset="-120"/>
              </a:rPr>
              <a:t>Find requirements, analysis code, reference material, and expected output.</a:t>
            </a:r>
            <a:endParaRPr lang="en-US" sz="1500" dirty="0"/>
          </a:p>
        </p:txBody>
      </p:sp>
      <p:sp>
        <p:nvSpPr>
          <p:cNvPr id="11" name="Shape 8"/>
          <p:cNvSpPr/>
          <p:nvPr/>
        </p:nvSpPr>
        <p:spPr>
          <a:xfrm>
            <a:off x="566928" y="4892040"/>
            <a:ext cx="3063240" cy="0"/>
          </a:xfrm>
          <a:prstGeom prst="line">
            <a:avLst/>
          </a:prstGeom>
          <a:noFill/>
          <a:ln w="38100">
            <a:solidFill>
              <a:srgbClr val="0969DA"/>
            </a:solidFill>
            <a:prstDash val="solid"/>
          </a:ln>
        </p:spPr>
        <p:txBody>
          <a:bodyPr/>
          <a:lstStyle/>
          <a:p>
            <a:endParaRPr lang="en-US"/>
          </a:p>
        </p:txBody>
      </p:sp>
      <p:sp>
        <p:nvSpPr>
          <p:cNvPr id="12" name="Shape 9"/>
          <p:cNvSpPr/>
          <p:nvPr/>
        </p:nvSpPr>
        <p:spPr>
          <a:xfrm>
            <a:off x="4425696" y="2148840"/>
            <a:ext cx="475488" cy="475488"/>
          </a:xfrm>
          <a:prstGeom prst="ellipse">
            <a:avLst/>
          </a:prstGeom>
          <a:solidFill>
            <a:srgbClr val="8250DF"/>
          </a:solidFill>
          <a:ln w="12700">
            <a:solidFill>
              <a:srgbClr val="8250DF">
                <a:alpha val="0"/>
              </a:srgbClr>
            </a:solidFill>
            <a:prstDash val="solid"/>
          </a:ln>
        </p:spPr>
        <p:txBody>
          <a:bodyPr/>
          <a:lstStyle/>
          <a:p>
            <a:endParaRPr lang="en-US"/>
          </a:p>
        </p:txBody>
      </p:sp>
      <p:sp>
        <p:nvSpPr>
          <p:cNvPr id="13" name="Text 10"/>
          <p:cNvSpPr/>
          <p:nvPr/>
        </p:nvSpPr>
        <p:spPr>
          <a:xfrm>
            <a:off x="4425696" y="2281428"/>
            <a:ext cx="475488" cy="1371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Display" pitchFamily="34" charset="0"/>
                <a:ea typeface="Aptos Display" pitchFamily="34" charset="-122"/>
                <a:cs typeface="Aptos Display" pitchFamily="34" charset="-120"/>
              </a:rPr>
              <a:t>2</a:t>
            </a:r>
            <a:endParaRPr lang="en-US" sz="1200" dirty="0"/>
          </a:p>
        </p:txBody>
      </p:sp>
      <p:sp>
        <p:nvSpPr>
          <p:cNvPr id="14" name="Text 11"/>
          <p:cNvSpPr/>
          <p:nvPr/>
        </p:nvSpPr>
        <p:spPr>
          <a:xfrm>
            <a:off x="4425696" y="2816352"/>
            <a:ext cx="3246120" cy="411480"/>
          </a:xfrm>
          <a:prstGeom prst="rect">
            <a:avLst/>
          </a:prstGeom>
          <a:noFill/>
          <a:ln/>
        </p:spPr>
        <p:txBody>
          <a:bodyPr wrap="square" lIns="0" tIns="0" rIns="0" bIns="0" rtlCol="0" anchor="ctr"/>
          <a:lstStyle/>
          <a:p>
            <a:pPr marL="0" indent="0">
              <a:buNone/>
            </a:pPr>
            <a:r>
              <a:rPr lang="en-US" sz="2300" b="1" dirty="0">
                <a:solidFill>
                  <a:srgbClr val="0D1117"/>
                </a:solidFill>
                <a:latin typeface="Aptos Display" pitchFamily="34" charset="0"/>
                <a:ea typeface="Aptos Display" pitchFamily="34" charset="-122"/>
                <a:cs typeface="Aptos Display" pitchFamily="34" charset="-120"/>
              </a:rPr>
              <a:t>Propose</a:t>
            </a:r>
            <a:endParaRPr lang="en-US" sz="2300" dirty="0"/>
          </a:p>
        </p:txBody>
      </p:sp>
      <p:sp>
        <p:nvSpPr>
          <p:cNvPr id="15" name="Text 12"/>
          <p:cNvSpPr/>
          <p:nvPr/>
        </p:nvSpPr>
        <p:spPr>
          <a:xfrm>
            <a:off x="4425696" y="3401568"/>
            <a:ext cx="3218688" cy="1170432"/>
          </a:xfrm>
          <a:prstGeom prst="rect">
            <a:avLst/>
          </a:prstGeom>
          <a:noFill/>
          <a:ln/>
        </p:spPr>
        <p:txBody>
          <a:bodyPr wrap="square" lIns="0" tIns="0" rIns="0" bIns="0" rtlCol="0" anchor="ctr"/>
          <a:lstStyle/>
          <a:p>
            <a:pPr marL="0" indent="0">
              <a:buNone/>
            </a:pPr>
            <a:r>
              <a:rPr lang="en-US" sz="1500" dirty="0">
                <a:solidFill>
                  <a:srgbClr val="57606A"/>
                </a:solidFill>
                <a:latin typeface="Aptos" pitchFamily="34" charset="0"/>
                <a:ea typeface="Aptos" pitchFamily="34" charset="-122"/>
                <a:cs typeface="Aptos" pitchFamily="34" charset="-120"/>
              </a:rPr>
              <a:t>Create a branch and commit one focused change in the browser.</a:t>
            </a:r>
            <a:endParaRPr lang="en-US" sz="1500" dirty="0"/>
          </a:p>
        </p:txBody>
      </p:sp>
      <p:sp>
        <p:nvSpPr>
          <p:cNvPr id="16" name="Shape 13"/>
          <p:cNvSpPr/>
          <p:nvPr/>
        </p:nvSpPr>
        <p:spPr>
          <a:xfrm>
            <a:off x="4425696" y="4892040"/>
            <a:ext cx="3063240" cy="0"/>
          </a:xfrm>
          <a:prstGeom prst="line">
            <a:avLst/>
          </a:prstGeom>
          <a:noFill/>
          <a:ln w="38100">
            <a:solidFill>
              <a:srgbClr val="8250DF"/>
            </a:solidFill>
            <a:prstDash val="solid"/>
          </a:ln>
        </p:spPr>
        <p:txBody>
          <a:bodyPr/>
          <a:lstStyle/>
          <a:p>
            <a:endParaRPr lang="en-US"/>
          </a:p>
        </p:txBody>
      </p:sp>
      <p:sp>
        <p:nvSpPr>
          <p:cNvPr id="17" name="Shape 14"/>
          <p:cNvSpPr/>
          <p:nvPr/>
        </p:nvSpPr>
        <p:spPr>
          <a:xfrm>
            <a:off x="8284464" y="2148840"/>
            <a:ext cx="475488" cy="475488"/>
          </a:xfrm>
          <a:prstGeom prst="ellipse">
            <a:avLst/>
          </a:prstGeom>
          <a:solidFill>
            <a:srgbClr val="1A7F37"/>
          </a:solidFill>
          <a:ln w="12700">
            <a:solidFill>
              <a:srgbClr val="1A7F37">
                <a:alpha val="0"/>
              </a:srgbClr>
            </a:solidFill>
            <a:prstDash val="solid"/>
          </a:ln>
        </p:spPr>
        <p:txBody>
          <a:bodyPr/>
          <a:lstStyle/>
          <a:p>
            <a:endParaRPr lang="en-US"/>
          </a:p>
        </p:txBody>
      </p:sp>
      <p:sp>
        <p:nvSpPr>
          <p:cNvPr id="18" name="Text 15"/>
          <p:cNvSpPr/>
          <p:nvPr/>
        </p:nvSpPr>
        <p:spPr>
          <a:xfrm>
            <a:off x="8284464" y="2281428"/>
            <a:ext cx="475488" cy="1371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Display" pitchFamily="34" charset="0"/>
                <a:ea typeface="Aptos Display" pitchFamily="34" charset="-122"/>
                <a:cs typeface="Aptos Display" pitchFamily="34" charset="-120"/>
              </a:rPr>
              <a:t>3</a:t>
            </a:r>
            <a:endParaRPr lang="en-US" sz="1200" dirty="0"/>
          </a:p>
        </p:txBody>
      </p:sp>
      <p:sp>
        <p:nvSpPr>
          <p:cNvPr id="19" name="Text 16"/>
          <p:cNvSpPr/>
          <p:nvPr/>
        </p:nvSpPr>
        <p:spPr>
          <a:xfrm>
            <a:off x="8284464" y="2816352"/>
            <a:ext cx="3246120" cy="411480"/>
          </a:xfrm>
          <a:prstGeom prst="rect">
            <a:avLst/>
          </a:prstGeom>
          <a:noFill/>
          <a:ln/>
        </p:spPr>
        <p:txBody>
          <a:bodyPr wrap="square" lIns="0" tIns="0" rIns="0" bIns="0" rtlCol="0" anchor="ctr"/>
          <a:lstStyle/>
          <a:p>
            <a:pPr marL="0" indent="0">
              <a:buNone/>
            </a:pPr>
            <a:r>
              <a:rPr lang="en-US" sz="2300" b="1" dirty="0">
                <a:solidFill>
                  <a:srgbClr val="0D1117"/>
                </a:solidFill>
                <a:latin typeface="Aptos Display" pitchFamily="34" charset="0"/>
                <a:ea typeface="Aptos Display" pitchFamily="34" charset="-122"/>
                <a:cs typeface="Aptos Display" pitchFamily="34" charset="-120"/>
              </a:rPr>
              <a:t>Review</a:t>
            </a:r>
            <a:endParaRPr lang="en-US" sz="2300" dirty="0"/>
          </a:p>
        </p:txBody>
      </p:sp>
      <p:sp>
        <p:nvSpPr>
          <p:cNvPr id="20" name="Text 17"/>
          <p:cNvSpPr/>
          <p:nvPr/>
        </p:nvSpPr>
        <p:spPr>
          <a:xfrm>
            <a:off x="8284464" y="3401568"/>
            <a:ext cx="3218688" cy="1170432"/>
          </a:xfrm>
          <a:prstGeom prst="rect">
            <a:avLst/>
          </a:prstGeom>
          <a:noFill/>
          <a:ln/>
        </p:spPr>
        <p:txBody>
          <a:bodyPr wrap="square" lIns="0" tIns="0" rIns="0" bIns="0" rtlCol="0" anchor="ctr"/>
          <a:lstStyle/>
          <a:p>
            <a:pPr marL="0" indent="0">
              <a:buNone/>
            </a:pPr>
            <a:r>
              <a:rPr lang="en-US" sz="1500" dirty="0">
                <a:solidFill>
                  <a:srgbClr val="57606A"/>
                </a:solidFill>
                <a:latin typeface="Aptos" pitchFamily="34" charset="0"/>
                <a:ea typeface="Aptos" pitchFamily="34" charset="-122"/>
                <a:cs typeface="Aptos" pitchFamily="34" charset="-120"/>
              </a:rPr>
              <a:t>Open a pull request, inspect the diff, and leave an evidence-based comment.</a:t>
            </a:r>
            <a:endParaRPr lang="en-US" sz="1500" dirty="0"/>
          </a:p>
        </p:txBody>
      </p:sp>
      <p:sp>
        <p:nvSpPr>
          <p:cNvPr id="21" name="Shape 18"/>
          <p:cNvSpPr/>
          <p:nvPr/>
        </p:nvSpPr>
        <p:spPr>
          <a:xfrm>
            <a:off x="8284464" y="4892040"/>
            <a:ext cx="3063240" cy="0"/>
          </a:xfrm>
          <a:prstGeom prst="line">
            <a:avLst/>
          </a:prstGeom>
          <a:noFill/>
          <a:ln w="38100">
            <a:solidFill>
              <a:srgbClr val="1A7F37"/>
            </a:solidFill>
            <a:prstDash val="solid"/>
          </a:ln>
        </p:spPr>
        <p:txBody>
          <a:bodyPr/>
          <a:lstStyle/>
          <a:p>
            <a:endParaRPr lang="en-US"/>
          </a:p>
        </p:txBody>
      </p:sp>
      <p:sp>
        <p:nvSpPr>
          <p:cNvPr id="23" name="Text 20"/>
          <p:cNvSpPr/>
          <p:nvPr/>
        </p:nvSpPr>
        <p:spPr>
          <a:xfrm>
            <a:off x="4828032" y="5719572"/>
            <a:ext cx="2542032" cy="109728"/>
          </a:xfrm>
          <a:prstGeom prst="rect">
            <a:avLst/>
          </a:prstGeom>
          <a:noFill/>
          <a:ln/>
        </p:spPr>
        <p:txBody>
          <a:bodyPr wrap="square" lIns="0" tIns="0" rIns="0" bIns="0" rtlCol="0" anchor="ctr"/>
          <a:lstStyle/>
          <a:p>
            <a:pPr marL="0" indent="0" algn="ctr">
              <a:buNone/>
            </a:pPr>
            <a:r>
              <a:rPr lang="en-US" sz="850" b="1" kern="0" spc="70" dirty="0">
                <a:solidFill>
                  <a:srgbClr val="FFFFFF"/>
                </a:solidFill>
                <a:latin typeface="Aptos" pitchFamily="34" charset="0"/>
                <a:ea typeface="Aptos" pitchFamily="34" charset="-122"/>
                <a:cs typeface="Aptos" pitchFamily="34" charset="-120"/>
              </a:rPr>
              <a:t>GITHUB.COM ONLY</a:t>
            </a:r>
            <a:endParaRPr lang="en-US" sz="850" dirty="0"/>
          </a:p>
        </p:txBody>
      </p:sp>
      <p:sp>
        <p:nvSpPr>
          <p:cNvPr id="24" name="Text 21"/>
          <p:cNvSpPr/>
          <p:nvPr/>
        </p:nvSpPr>
        <p:spPr>
          <a:xfrm>
            <a:off x="502920" y="6519672"/>
            <a:ext cx="3840480" cy="146304"/>
          </a:xfrm>
          <a:prstGeom prst="rect">
            <a:avLst/>
          </a:prstGeom>
          <a:noFill/>
          <a:ln/>
        </p:spPr>
        <p:txBody>
          <a:bodyPr wrap="square" lIns="0" tIns="0" rIns="0" bIns="0" rtlCol="0" anchor="ctr"/>
          <a:lstStyle/>
          <a:p>
            <a:pPr marL="0" indent="0">
              <a:buNone/>
            </a:pPr>
            <a:r>
              <a:rPr lang="en-US" sz="800" dirty="0">
                <a:solidFill>
                  <a:srgbClr val="8C959F"/>
                </a:solidFill>
                <a:latin typeface="Aptos" pitchFamily="34" charset="0"/>
                <a:ea typeface="Aptos" pitchFamily="34" charset="-122"/>
                <a:cs typeface="Aptos" pitchFamily="34" charset="-120"/>
              </a:rPr>
              <a:t>GitHub Foundations | Gilead DSS</a:t>
            </a:r>
            <a:endParaRPr lang="en-US" sz="800" dirty="0"/>
          </a:p>
        </p:txBody>
      </p:sp>
      <p:sp>
        <p:nvSpPr>
          <p:cNvPr id="25" name="Text 22">
            <a:hlinkClick r:id="rId4"/>
          </p:cNvPr>
          <p:cNvSpPr/>
          <p:nvPr/>
        </p:nvSpPr>
        <p:spPr>
          <a:xfrm>
            <a:off x="5623560" y="6519672"/>
            <a:ext cx="5897880" cy="146304"/>
          </a:xfrm>
          <a:prstGeom prst="rect">
            <a:avLst/>
          </a:prstGeom>
          <a:noFill/>
          <a:ln/>
        </p:spPr>
        <p:txBody>
          <a:bodyPr wrap="square" lIns="0" tIns="0" rIns="0" bIns="0" rtlCol="0" anchor="ctr"/>
          <a:lstStyle/>
          <a:p>
            <a:pPr marL="0" indent="0" algn="r">
              <a:buNone/>
            </a:pPr>
            <a:r>
              <a:rPr lang="en-US" sz="800" u="sng" dirty="0">
                <a:solidFill>
                  <a:srgbClr val="8C959F"/>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github.com/johnsont1693/scientific-workflow-workshop</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A"/>
        </a:solidFill>
        <a:effectLst/>
      </p:bgPr>
    </p:bg>
    <p:spTree>
      <p:nvGrpSpPr>
        <p:cNvPr id="1" name=""/>
        <p:cNvGrpSpPr/>
        <p:nvPr/>
      </p:nvGrpSpPr>
      <p:grpSpPr>
        <a:xfrm>
          <a:off x="0" y="0"/>
          <a:ext cx="0" cy="0"/>
          <a:chOff x="0" y="0"/>
          <a:chExt cx="0" cy="0"/>
        </a:xfrm>
      </p:grpSpPr>
      <p:sp>
        <p:nvSpPr>
          <p:cNvPr id="2" name="Shape 0"/>
          <p:cNvSpPr/>
          <p:nvPr/>
        </p:nvSpPr>
        <p:spPr>
          <a:xfrm>
            <a:off x="475488" y="347472"/>
            <a:ext cx="347472" cy="347472"/>
          </a:xfrm>
          <a:prstGeom prst="ellipse">
            <a:avLst/>
          </a:prstGeom>
          <a:solidFill>
            <a:srgbClr val="0D1117"/>
          </a:solidFill>
          <a:ln w="12700">
            <a:solidFill>
              <a:srgbClr val="0D1117">
                <a:alpha val="0"/>
              </a:srgbClr>
            </a:solidFill>
            <a:prstDash val="solid"/>
          </a:ln>
        </p:spPr>
        <p:txBody>
          <a:bodyPr/>
          <a:lstStyle/>
          <a:p>
            <a:endParaRPr lang="en-US"/>
          </a:p>
        </p:txBody>
      </p:sp>
      <p:pic>
        <p:nvPicPr>
          <p:cNvPr id="3" name="Image 0" descr="/Users/alysiabrown/sandbox/copilot-worktrees/acb-workbench/abrown152-turbo-winner/generated-assets/gilead-sciences-inc/dss-2026/assets/github-mark.png"/>
          <p:cNvPicPr>
            <a:picLocks noChangeAspect="1"/>
          </p:cNvPicPr>
          <p:nvPr/>
        </p:nvPicPr>
        <p:blipFill>
          <a:blip r:embed="rId3"/>
          <a:stretch>
            <a:fillRect/>
          </a:stretch>
        </p:blipFill>
        <p:spPr>
          <a:xfrm>
            <a:off x="525780" y="397764"/>
            <a:ext cx="246888" cy="246888"/>
          </a:xfrm>
          <a:prstGeom prst="rect">
            <a:avLst/>
          </a:prstGeom>
        </p:spPr>
      </p:pic>
      <p:sp>
        <p:nvSpPr>
          <p:cNvPr id="4" name="Text 1"/>
          <p:cNvSpPr/>
          <p:nvPr/>
        </p:nvSpPr>
        <p:spPr>
          <a:xfrm>
            <a:off x="896112" y="356616"/>
            <a:ext cx="960120" cy="256032"/>
          </a:xfrm>
          <a:prstGeom prst="rect">
            <a:avLst/>
          </a:prstGeom>
          <a:noFill/>
          <a:ln/>
        </p:spPr>
        <p:txBody>
          <a:bodyPr wrap="square" lIns="0" tIns="0" rIns="0" bIns="0" rtlCol="0" anchor="ctr"/>
          <a:lstStyle/>
          <a:p>
            <a:pPr marL="0" indent="0">
              <a:buNone/>
            </a:pPr>
            <a:r>
              <a:rPr lang="en-US" sz="1700" b="1" dirty="0">
                <a:solidFill>
                  <a:srgbClr val="0D1117"/>
                </a:solidFill>
                <a:latin typeface="Aptos Display" pitchFamily="34" charset="0"/>
                <a:ea typeface="Aptos Display" pitchFamily="34" charset="-122"/>
                <a:cs typeface="Aptos Display" pitchFamily="34" charset="-120"/>
              </a:rPr>
              <a:t>GitHub</a:t>
            </a:r>
            <a:endParaRPr lang="en-US" sz="1700" dirty="0"/>
          </a:p>
        </p:txBody>
      </p:sp>
      <p:sp>
        <p:nvSpPr>
          <p:cNvPr id="5" name="Text 2"/>
          <p:cNvSpPr/>
          <p:nvPr/>
        </p:nvSpPr>
        <p:spPr>
          <a:xfrm>
            <a:off x="512064" y="932688"/>
            <a:ext cx="4114800" cy="182880"/>
          </a:xfrm>
          <a:prstGeom prst="rect">
            <a:avLst/>
          </a:prstGeom>
          <a:noFill/>
          <a:ln/>
        </p:spPr>
        <p:txBody>
          <a:bodyPr wrap="square" lIns="0" tIns="0" rIns="0" bIns="0" rtlCol="0" anchor="ctr"/>
          <a:lstStyle/>
          <a:p>
            <a:pPr marL="0" indent="0">
              <a:buNone/>
            </a:pPr>
            <a:r>
              <a:rPr lang="en-US" sz="950" b="1" kern="0" spc="140" dirty="0">
                <a:solidFill>
                  <a:srgbClr val="0969DA"/>
                </a:solidFill>
                <a:latin typeface="Aptos" pitchFamily="34" charset="0"/>
                <a:ea typeface="Aptos" pitchFamily="34" charset="-122"/>
                <a:cs typeface="Aptos" pitchFamily="34" charset="-120"/>
              </a:rPr>
              <a:t>WHY SOURCE CONTROL</a:t>
            </a:r>
            <a:endParaRPr lang="en-US" sz="950" dirty="0"/>
          </a:p>
        </p:txBody>
      </p:sp>
      <p:sp>
        <p:nvSpPr>
          <p:cNvPr id="6" name="Text 3"/>
          <p:cNvSpPr/>
          <p:nvPr/>
        </p:nvSpPr>
        <p:spPr>
          <a:xfrm>
            <a:off x="512064" y="1179576"/>
            <a:ext cx="10972800" cy="530352"/>
          </a:xfrm>
          <a:prstGeom prst="rect">
            <a:avLst/>
          </a:prstGeom>
          <a:noFill/>
          <a:ln/>
        </p:spPr>
        <p:txBody>
          <a:bodyPr wrap="square" lIns="0" tIns="0" rIns="0" bIns="0" rtlCol="0" anchor="ctr"/>
          <a:lstStyle/>
          <a:p>
            <a:pPr marL="0" indent="0">
              <a:buNone/>
            </a:pPr>
            <a:r>
              <a:rPr lang="en-US" sz="3100" b="1" dirty="0">
                <a:solidFill>
                  <a:srgbClr val="0D1117"/>
                </a:solidFill>
                <a:latin typeface="Aptos Display" pitchFamily="34" charset="0"/>
                <a:ea typeface="Aptos Display" pitchFamily="34" charset="-122"/>
                <a:cs typeface="Aptos Display" pitchFamily="34" charset="-120"/>
              </a:rPr>
              <a:t>The problem is not saving files</a:t>
            </a:r>
            <a:endParaRPr lang="en-US" sz="3100" dirty="0"/>
          </a:p>
        </p:txBody>
      </p:sp>
      <p:sp>
        <p:nvSpPr>
          <p:cNvPr id="7" name="Text 4"/>
          <p:cNvSpPr/>
          <p:nvPr/>
        </p:nvSpPr>
        <p:spPr>
          <a:xfrm>
            <a:off x="530352" y="1810512"/>
            <a:ext cx="6400800" cy="502920"/>
          </a:xfrm>
          <a:prstGeom prst="rect">
            <a:avLst/>
          </a:prstGeom>
          <a:noFill/>
          <a:ln/>
        </p:spPr>
        <p:txBody>
          <a:bodyPr wrap="square" lIns="0" tIns="0" rIns="0" bIns="0" rtlCol="0" anchor="ctr"/>
          <a:lstStyle/>
          <a:p>
            <a:pPr marL="0" indent="0">
              <a:buNone/>
            </a:pPr>
            <a:r>
              <a:rPr lang="en-US" sz="3000" b="1" dirty="0">
                <a:solidFill>
                  <a:srgbClr val="0D1117"/>
                </a:solidFill>
                <a:latin typeface="Aptos Display" pitchFamily="34" charset="0"/>
                <a:ea typeface="Aptos Display" pitchFamily="34" charset="-122"/>
                <a:cs typeface="Aptos Display" pitchFamily="34" charset="-120"/>
              </a:rPr>
              <a:t>It is proving which change was reviewed.</a:t>
            </a:r>
            <a:endParaRPr lang="en-US" sz="3000" dirty="0"/>
          </a:p>
        </p:txBody>
      </p:sp>
      <p:sp>
        <p:nvSpPr>
          <p:cNvPr id="8" name="Shape 5"/>
          <p:cNvSpPr/>
          <p:nvPr/>
        </p:nvSpPr>
        <p:spPr>
          <a:xfrm>
            <a:off x="658368" y="2743200"/>
            <a:ext cx="4343400" cy="438912"/>
          </a:xfrm>
          <a:prstGeom prst="roundRect">
            <a:avLst>
              <a:gd name="adj" fmla="val 8333"/>
            </a:avLst>
          </a:prstGeom>
          <a:solidFill>
            <a:srgbClr val="FFFFFF"/>
          </a:solidFill>
          <a:ln w="10160">
            <a:solidFill>
              <a:srgbClr val="D0D7DE"/>
            </a:solidFill>
            <a:prstDash val="solid"/>
          </a:ln>
        </p:spPr>
        <p:txBody>
          <a:bodyPr/>
          <a:lstStyle/>
          <a:p>
            <a:endParaRPr lang="en-US"/>
          </a:p>
        </p:txBody>
      </p:sp>
      <p:sp>
        <p:nvSpPr>
          <p:cNvPr id="9" name="Text 6"/>
          <p:cNvSpPr/>
          <p:nvPr/>
        </p:nvSpPr>
        <p:spPr>
          <a:xfrm>
            <a:off x="896112" y="2880360"/>
            <a:ext cx="3749040" cy="137160"/>
          </a:xfrm>
          <a:prstGeom prst="rect">
            <a:avLst/>
          </a:prstGeom>
          <a:noFill/>
          <a:ln/>
        </p:spPr>
        <p:txBody>
          <a:bodyPr wrap="square" lIns="0" tIns="0" rIns="0" bIns="0" rtlCol="0" anchor="ctr"/>
          <a:lstStyle/>
          <a:p>
            <a:pPr marL="0" indent="0">
              <a:buNone/>
            </a:pPr>
            <a:r>
              <a:rPr lang="en-US" sz="1050" dirty="0">
                <a:solidFill>
                  <a:srgbClr val="0D1117"/>
                </a:solidFill>
                <a:latin typeface="Courier New" pitchFamily="34" charset="0"/>
                <a:ea typeface="Courier New" pitchFamily="34" charset="-122"/>
                <a:cs typeface="Courier New" pitchFamily="34" charset="-120"/>
              </a:rPr>
              <a:t>ae_summary_final.sas</a:t>
            </a:r>
            <a:endParaRPr lang="en-US" sz="1050" dirty="0"/>
          </a:p>
        </p:txBody>
      </p:sp>
      <p:sp>
        <p:nvSpPr>
          <p:cNvPr id="10" name="Shape 7"/>
          <p:cNvSpPr/>
          <p:nvPr/>
        </p:nvSpPr>
        <p:spPr>
          <a:xfrm>
            <a:off x="795528" y="3246120"/>
            <a:ext cx="4343400" cy="438912"/>
          </a:xfrm>
          <a:prstGeom prst="roundRect">
            <a:avLst>
              <a:gd name="adj" fmla="val 8333"/>
            </a:avLst>
          </a:prstGeom>
          <a:solidFill>
            <a:srgbClr val="FFFFFF"/>
          </a:solidFill>
          <a:ln w="10160">
            <a:solidFill>
              <a:srgbClr val="D0D7DE"/>
            </a:solidFill>
            <a:prstDash val="solid"/>
          </a:ln>
        </p:spPr>
        <p:txBody>
          <a:bodyPr/>
          <a:lstStyle/>
          <a:p>
            <a:endParaRPr lang="en-US"/>
          </a:p>
        </p:txBody>
      </p:sp>
      <p:sp>
        <p:nvSpPr>
          <p:cNvPr id="11" name="Text 8"/>
          <p:cNvSpPr/>
          <p:nvPr/>
        </p:nvSpPr>
        <p:spPr>
          <a:xfrm>
            <a:off x="1033272" y="3383280"/>
            <a:ext cx="3749040" cy="137160"/>
          </a:xfrm>
          <a:prstGeom prst="rect">
            <a:avLst/>
          </a:prstGeom>
          <a:noFill/>
          <a:ln/>
        </p:spPr>
        <p:txBody>
          <a:bodyPr wrap="square" lIns="0" tIns="0" rIns="0" bIns="0" rtlCol="0" anchor="ctr"/>
          <a:lstStyle/>
          <a:p>
            <a:pPr marL="0" indent="0">
              <a:buNone/>
            </a:pPr>
            <a:r>
              <a:rPr lang="en-US" sz="1050" dirty="0">
                <a:solidFill>
                  <a:srgbClr val="0D1117"/>
                </a:solidFill>
                <a:latin typeface="Courier New" pitchFamily="34" charset="0"/>
                <a:ea typeface="Courier New" pitchFamily="34" charset="-122"/>
                <a:cs typeface="Courier New" pitchFamily="34" charset="-120"/>
              </a:rPr>
              <a:t>ae_summary_final_v2.sas</a:t>
            </a:r>
            <a:endParaRPr lang="en-US" sz="1050" dirty="0"/>
          </a:p>
        </p:txBody>
      </p:sp>
      <p:sp>
        <p:nvSpPr>
          <p:cNvPr id="12" name="Shape 9"/>
          <p:cNvSpPr/>
          <p:nvPr/>
        </p:nvSpPr>
        <p:spPr>
          <a:xfrm>
            <a:off x="932688" y="3749040"/>
            <a:ext cx="4343400" cy="438912"/>
          </a:xfrm>
          <a:prstGeom prst="roundRect">
            <a:avLst>
              <a:gd name="adj" fmla="val 8333"/>
            </a:avLst>
          </a:prstGeom>
          <a:solidFill>
            <a:srgbClr val="FFFFFF"/>
          </a:solidFill>
          <a:ln w="10160">
            <a:solidFill>
              <a:srgbClr val="D0D7DE"/>
            </a:solidFill>
            <a:prstDash val="solid"/>
          </a:ln>
        </p:spPr>
        <p:txBody>
          <a:bodyPr/>
          <a:lstStyle/>
          <a:p>
            <a:endParaRPr lang="en-US"/>
          </a:p>
        </p:txBody>
      </p:sp>
      <p:sp>
        <p:nvSpPr>
          <p:cNvPr id="13" name="Text 10"/>
          <p:cNvSpPr/>
          <p:nvPr/>
        </p:nvSpPr>
        <p:spPr>
          <a:xfrm>
            <a:off x="1170432" y="3886200"/>
            <a:ext cx="3749040" cy="137160"/>
          </a:xfrm>
          <a:prstGeom prst="rect">
            <a:avLst/>
          </a:prstGeom>
          <a:noFill/>
          <a:ln/>
        </p:spPr>
        <p:txBody>
          <a:bodyPr wrap="square" lIns="0" tIns="0" rIns="0" bIns="0" rtlCol="0" anchor="ctr"/>
          <a:lstStyle/>
          <a:p>
            <a:pPr marL="0" indent="0">
              <a:buNone/>
            </a:pPr>
            <a:r>
              <a:rPr lang="en-US" sz="1050" dirty="0">
                <a:solidFill>
                  <a:srgbClr val="0D1117"/>
                </a:solidFill>
                <a:latin typeface="Courier New" pitchFamily="34" charset="0"/>
                <a:ea typeface="Courier New" pitchFamily="34" charset="-122"/>
                <a:cs typeface="Courier New" pitchFamily="34" charset="-120"/>
              </a:rPr>
              <a:t>ae_summary_final_v2_AB.sas</a:t>
            </a:r>
            <a:endParaRPr lang="en-US" sz="1050" dirty="0"/>
          </a:p>
        </p:txBody>
      </p:sp>
      <p:sp>
        <p:nvSpPr>
          <p:cNvPr id="14" name="Shape 11"/>
          <p:cNvSpPr/>
          <p:nvPr/>
        </p:nvSpPr>
        <p:spPr>
          <a:xfrm>
            <a:off x="1069848" y="4251960"/>
            <a:ext cx="4343400" cy="438912"/>
          </a:xfrm>
          <a:prstGeom prst="roundRect">
            <a:avLst>
              <a:gd name="adj" fmla="val 8333"/>
            </a:avLst>
          </a:prstGeom>
          <a:solidFill>
            <a:srgbClr val="FFEBE9"/>
          </a:solidFill>
          <a:ln w="10160">
            <a:solidFill>
              <a:srgbClr val="CF222E"/>
            </a:solidFill>
            <a:prstDash val="solid"/>
          </a:ln>
        </p:spPr>
        <p:txBody>
          <a:bodyPr/>
          <a:lstStyle/>
          <a:p>
            <a:endParaRPr lang="en-US"/>
          </a:p>
        </p:txBody>
      </p:sp>
      <p:sp>
        <p:nvSpPr>
          <p:cNvPr id="15" name="Text 12"/>
          <p:cNvSpPr/>
          <p:nvPr/>
        </p:nvSpPr>
        <p:spPr>
          <a:xfrm>
            <a:off x="1307592" y="4389120"/>
            <a:ext cx="3749040" cy="137160"/>
          </a:xfrm>
          <a:prstGeom prst="rect">
            <a:avLst/>
          </a:prstGeom>
          <a:noFill/>
          <a:ln/>
        </p:spPr>
        <p:txBody>
          <a:bodyPr wrap="square" lIns="0" tIns="0" rIns="0" bIns="0" rtlCol="0" anchor="ctr"/>
          <a:lstStyle/>
          <a:p>
            <a:pPr marL="0" indent="0">
              <a:buNone/>
            </a:pPr>
            <a:r>
              <a:rPr lang="en-US" sz="1050" dirty="0">
                <a:solidFill>
                  <a:srgbClr val="0D1117"/>
                </a:solidFill>
                <a:latin typeface="Courier New" pitchFamily="34" charset="0"/>
                <a:ea typeface="Courier New" pitchFamily="34" charset="-122"/>
                <a:cs typeface="Courier New" pitchFamily="34" charset="-120"/>
              </a:rPr>
              <a:t>ae_summary_FINAL_USE_THIS.sas</a:t>
            </a:r>
            <a:endParaRPr lang="en-US" sz="1050" dirty="0"/>
          </a:p>
        </p:txBody>
      </p:sp>
      <p:sp>
        <p:nvSpPr>
          <p:cNvPr id="16" name="Shape 13"/>
          <p:cNvSpPr/>
          <p:nvPr/>
        </p:nvSpPr>
        <p:spPr>
          <a:xfrm>
            <a:off x="5925312" y="2880360"/>
            <a:ext cx="1282446" cy="804672"/>
          </a:xfrm>
          <a:prstGeom prst="roundRect">
            <a:avLst>
              <a:gd name="adj" fmla="val 5682"/>
            </a:avLst>
          </a:prstGeom>
          <a:solidFill>
            <a:srgbClr val="FFFFFF"/>
          </a:solidFill>
          <a:ln w="15240">
            <a:solidFill>
              <a:srgbClr val="D0D7DE"/>
            </a:solidFill>
            <a:prstDash val="solid"/>
          </a:ln>
        </p:spPr>
        <p:txBody>
          <a:bodyPr/>
          <a:lstStyle/>
          <a:p>
            <a:endParaRPr lang="en-US"/>
          </a:p>
        </p:txBody>
      </p:sp>
      <p:sp>
        <p:nvSpPr>
          <p:cNvPr id="17" name="Text 14"/>
          <p:cNvSpPr/>
          <p:nvPr/>
        </p:nvSpPr>
        <p:spPr>
          <a:xfrm>
            <a:off x="6071616" y="3026664"/>
            <a:ext cx="989838" cy="201168"/>
          </a:xfrm>
          <a:prstGeom prst="rect">
            <a:avLst/>
          </a:prstGeom>
          <a:noFill/>
          <a:ln/>
        </p:spPr>
        <p:txBody>
          <a:bodyPr wrap="square" lIns="0" tIns="0" rIns="0" bIns="0" rtlCol="0" anchor="ctr"/>
          <a:lstStyle/>
          <a:p>
            <a:pPr marL="0" indent="0" algn="ctr">
              <a:buNone/>
            </a:pPr>
            <a:r>
              <a:rPr lang="en-US" sz="1300" b="1" dirty="0">
                <a:solidFill>
                  <a:srgbClr val="0D1117"/>
                </a:solidFill>
                <a:latin typeface="Aptos Display" pitchFamily="34" charset="0"/>
                <a:ea typeface="Aptos Display" pitchFamily="34" charset="-122"/>
                <a:cs typeface="Aptos Display" pitchFamily="34" charset="-120"/>
              </a:rPr>
              <a:t>Requirement</a:t>
            </a:r>
            <a:endParaRPr lang="en-US" sz="1300" dirty="0"/>
          </a:p>
        </p:txBody>
      </p:sp>
      <p:sp>
        <p:nvSpPr>
          <p:cNvPr id="18" name="Text 15"/>
          <p:cNvSpPr/>
          <p:nvPr/>
        </p:nvSpPr>
        <p:spPr>
          <a:xfrm>
            <a:off x="6035040" y="3337560"/>
            <a:ext cx="1062990" cy="146304"/>
          </a:xfrm>
          <a:prstGeom prst="rect">
            <a:avLst/>
          </a:prstGeom>
          <a:noFill/>
          <a:ln/>
        </p:spPr>
        <p:txBody>
          <a:bodyPr wrap="square" lIns="0" tIns="0" rIns="0" bIns="0" rtlCol="0" anchor="ctr"/>
          <a:lstStyle/>
          <a:p>
            <a:pPr marL="0" indent="0" algn="ctr">
              <a:buNone/>
            </a:pPr>
            <a:r>
              <a:rPr lang="en-US" sz="850" dirty="0">
                <a:solidFill>
                  <a:srgbClr val="57606A"/>
                </a:solidFill>
                <a:latin typeface="Aptos" pitchFamily="34" charset="0"/>
                <a:ea typeface="Aptos" pitchFamily="34" charset="-122"/>
                <a:cs typeface="Aptos" pitchFamily="34" charset="-120"/>
              </a:rPr>
              <a:t>why</a:t>
            </a:r>
            <a:endParaRPr lang="en-US" sz="850" dirty="0"/>
          </a:p>
        </p:txBody>
      </p:sp>
      <p:sp>
        <p:nvSpPr>
          <p:cNvPr id="19" name="Shape 16"/>
          <p:cNvSpPr/>
          <p:nvPr/>
        </p:nvSpPr>
        <p:spPr>
          <a:xfrm>
            <a:off x="7226046" y="3282696"/>
            <a:ext cx="128016" cy="0"/>
          </a:xfrm>
          <a:prstGeom prst="line">
            <a:avLst/>
          </a:prstGeom>
          <a:noFill/>
          <a:ln w="19050">
            <a:solidFill>
              <a:srgbClr val="0969DA"/>
            </a:solidFill>
            <a:prstDash val="solid"/>
            <a:tailEnd type="triangle"/>
          </a:ln>
        </p:spPr>
        <p:txBody>
          <a:bodyPr/>
          <a:lstStyle/>
          <a:p>
            <a:endParaRPr lang="en-US"/>
          </a:p>
        </p:txBody>
      </p:sp>
      <p:sp>
        <p:nvSpPr>
          <p:cNvPr id="20" name="Shape 17"/>
          <p:cNvSpPr/>
          <p:nvPr/>
        </p:nvSpPr>
        <p:spPr>
          <a:xfrm>
            <a:off x="7372350" y="2880360"/>
            <a:ext cx="1282446" cy="804672"/>
          </a:xfrm>
          <a:prstGeom prst="roundRect">
            <a:avLst>
              <a:gd name="adj" fmla="val 5682"/>
            </a:avLst>
          </a:prstGeom>
          <a:solidFill>
            <a:srgbClr val="FFFFFF"/>
          </a:solidFill>
          <a:ln w="15240">
            <a:solidFill>
              <a:srgbClr val="D0D7DE"/>
            </a:solidFill>
            <a:prstDash val="solid"/>
          </a:ln>
        </p:spPr>
        <p:txBody>
          <a:bodyPr/>
          <a:lstStyle/>
          <a:p>
            <a:endParaRPr lang="en-US"/>
          </a:p>
        </p:txBody>
      </p:sp>
      <p:sp>
        <p:nvSpPr>
          <p:cNvPr id="21" name="Text 18"/>
          <p:cNvSpPr/>
          <p:nvPr/>
        </p:nvSpPr>
        <p:spPr>
          <a:xfrm>
            <a:off x="7518654" y="3026664"/>
            <a:ext cx="989838" cy="201168"/>
          </a:xfrm>
          <a:prstGeom prst="rect">
            <a:avLst/>
          </a:prstGeom>
          <a:noFill/>
          <a:ln/>
        </p:spPr>
        <p:txBody>
          <a:bodyPr wrap="square" lIns="0" tIns="0" rIns="0" bIns="0" rtlCol="0" anchor="ctr"/>
          <a:lstStyle/>
          <a:p>
            <a:pPr marL="0" indent="0" algn="ctr">
              <a:buNone/>
            </a:pPr>
            <a:r>
              <a:rPr lang="en-US" sz="1300" b="1" dirty="0">
                <a:solidFill>
                  <a:srgbClr val="0D1117"/>
                </a:solidFill>
                <a:latin typeface="Aptos Display" pitchFamily="34" charset="0"/>
                <a:ea typeface="Aptos Display" pitchFamily="34" charset="-122"/>
                <a:cs typeface="Aptos Display" pitchFamily="34" charset="-120"/>
              </a:rPr>
              <a:t>Commit</a:t>
            </a:r>
            <a:endParaRPr lang="en-US" sz="1300" dirty="0"/>
          </a:p>
        </p:txBody>
      </p:sp>
      <p:sp>
        <p:nvSpPr>
          <p:cNvPr id="22" name="Text 19"/>
          <p:cNvSpPr/>
          <p:nvPr/>
        </p:nvSpPr>
        <p:spPr>
          <a:xfrm>
            <a:off x="7482078" y="3337560"/>
            <a:ext cx="1062990" cy="146304"/>
          </a:xfrm>
          <a:prstGeom prst="rect">
            <a:avLst/>
          </a:prstGeom>
          <a:noFill/>
          <a:ln/>
        </p:spPr>
        <p:txBody>
          <a:bodyPr wrap="square" lIns="0" tIns="0" rIns="0" bIns="0" rtlCol="0" anchor="ctr"/>
          <a:lstStyle/>
          <a:p>
            <a:pPr marL="0" indent="0" algn="ctr">
              <a:buNone/>
            </a:pPr>
            <a:r>
              <a:rPr lang="en-US" sz="850" dirty="0">
                <a:solidFill>
                  <a:srgbClr val="57606A"/>
                </a:solidFill>
                <a:latin typeface="Aptos" pitchFamily="34" charset="0"/>
                <a:ea typeface="Aptos" pitchFamily="34" charset="-122"/>
                <a:cs typeface="Aptos" pitchFamily="34" charset="-120"/>
              </a:rPr>
              <a:t>what</a:t>
            </a:r>
            <a:endParaRPr lang="en-US" sz="850" dirty="0"/>
          </a:p>
        </p:txBody>
      </p:sp>
      <p:sp>
        <p:nvSpPr>
          <p:cNvPr id="23" name="Shape 20"/>
          <p:cNvSpPr/>
          <p:nvPr/>
        </p:nvSpPr>
        <p:spPr>
          <a:xfrm>
            <a:off x="8673084" y="3282696"/>
            <a:ext cx="128016" cy="0"/>
          </a:xfrm>
          <a:prstGeom prst="line">
            <a:avLst/>
          </a:prstGeom>
          <a:noFill/>
          <a:ln w="19050">
            <a:solidFill>
              <a:srgbClr val="0969DA"/>
            </a:solidFill>
            <a:prstDash val="solid"/>
            <a:tailEnd type="triangle"/>
          </a:ln>
        </p:spPr>
        <p:txBody>
          <a:bodyPr/>
          <a:lstStyle/>
          <a:p>
            <a:endParaRPr lang="en-US"/>
          </a:p>
        </p:txBody>
      </p:sp>
      <p:sp>
        <p:nvSpPr>
          <p:cNvPr id="24" name="Shape 21"/>
          <p:cNvSpPr/>
          <p:nvPr/>
        </p:nvSpPr>
        <p:spPr>
          <a:xfrm>
            <a:off x="8819388" y="2880360"/>
            <a:ext cx="1282446" cy="804672"/>
          </a:xfrm>
          <a:prstGeom prst="roundRect">
            <a:avLst>
              <a:gd name="adj" fmla="val 5682"/>
            </a:avLst>
          </a:prstGeom>
          <a:solidFill>
            <a:srgbClr val="FFFFFF"/>
          </a:solidFill>
          <a:ln w="15240">
            <a:solidFill>
              <a:srgbClr val="D0D7DE"/>
            </a:solidFill>
            <a:prstDash val="solid"/>
          </a:ln>
        </p:spPr>
        <p:txBody>
          <a:bodyPr/>
          <a:lstStyle/>
          <a:p>
            <a:endParaRPr lang="en-US"/>
          </a:p>
        </p:txBody>
      </p:sp>
      <p:sp>
        <p:nvSpPr>
          <p:cNvPr id="25" name="Text 22"/>
          <p:cNvSpPr/>
          <p:nvPr/>
        </p:nvSpPr>
        <p:spPr>
          <a:xfrm>
            <a:off x="8965692" y="3026664"/>
            <a:ext cx="989838" cy="201168"/>
          </a:xfrm>
          <a:prstGeom prst="rect">
            <a:avLst/>
          </a:prstGeom>
          <a:noFill/>
          <a:ln/>
        </p:spPr>
        <p:txBody>
          <a:bodyPr wrap="square" lIns="0" tIns="0" rIns="0" bIns="0" rtlCol="0" anchor="ctr"/>
          <a:lstStyle/>
          <a:p>
            <a:pPr marL="0" indent="0" algn="ctr">
              <a:buNone/>
            </a:pPr>
            <a:r>
              <a:rPr lang="en-US" sz="1300" b="1" dirty="0">
                <a:solidFill>
                  <a:srgbClr val="0D1117"/>
                </a:solidFill>
                <a:latin typeface="Aptos Display" pitchFamily="34" charset="0"/>
                <a:ea typeface="Aptos Display" pitchFamily="34" charset="-122"/>
                <a:cs typeface="Aptos Display" pitchFamily="34" charset="-120"/>
              </a:rPr>
              <a:t>Review</a:t>
            </a:r>
            <a:endParaRPr lang="en-US" sz="1300" dirty="0"/>
          </a:p>
        </p:txBody>
      </p:sp>
      <p:sp>
        <p:nvSpPr>
          <p:cNvPr id="26" name="Text 23"/>
          <p:cNvSpPr/>
          <p:nvPr/>
        </p:nvSpPr>
        <p:spPr>
          <a:xfrm>
            <a:off x="8929116" y="3337560"/>
            <a:ext cx="1062990" cy="146304"/>
          </a:xfrm>
          <a:prstGeom prst="rect">
            <a:avLst/>
          </a:prstGeom>
          <a:noFill/>
          <a:ln/>
        </p:spPr>
        <p:txBody>
          <a:bodyPr wrap="square" lIns="0" tIns="0" rIns="0" bIns="0" rtlCol="0" anchor="ctr"/>
          <a:lstStyle/>
          <a:p>
            <a:pPr marL="0" indent="0" algn="ctr">
              <a:buNone/>
            </a:pPr>
            <a:r>
              <a:rPr lang="en-US" sz="850" dirty="0">
                <a:solidFill>
                  <a:srgbClr val="57606A"/>
                </a:solidFill>
                <a:latin typeface="Aptos" pitchFamily="34" charset="0"/>
                <a:ea typeface="Aptos" pitchFamily="34" charset="-122"/>
                <a:cs typeface="Aptos" pitchFamily="34" charset="-120"/>
              </a:rPr>
              <a:t>decision</a:t>
            </a:r>
            <a:endParaRPr lang="en-US" sz="850" dirty="0"/>
          </a:p>
        </p:txBody>
      </p:sp>
      <p:sp>
        <p:nvSpPr>
          <p:cNvPr id="27" name="Shape 24"/>
          <p:cNvSpPr/>
          <p:nvPr/>
        </p:nvSpPr>
        <p:spPr>
          <a:xfrm>
            <a:off x="10120122" y="3282696"/>
            <a:ext cx="128016" cy="0"/>
          </a:xfrm>
          <a:prstGeom prst="line">
            <a:avLst/>
          </a:prstGeom>
          <a:noFill/>
          <a:ln w="19050">
            <a:solidFill>
              <a:srgbClr val="0969DA"/>
            </a:solidFill>
            <a:prstDash val="solid"/>
            <a:tailEnd type="triangle"/>
          </a:ln>
        </p:spPr>
        <p:txBody>
          <a:bodyPr/>
          <a:lstStyle/>
          <a:p>
            <a:endParaRPr lang="en-US"/>
          </a:p>
        </p:txBody>
      </p:sp>
      <p:sp>
        <p:nvSpPr>
          <p:cNvPr id="28" name="Shape 25"/>
          <p:cNvSpPr/>
          <p:nvPr/>
        </p:nvSpPr>
        <p:spPr>
          <a:xfrm>
            <a:off x="10266426" y="2880360"/>
            <a:ext cx="1282446" cy="804672"/>
          </a:xfrm>
          <a:prstGeom prst="roundRect">
            <a:avLst>
              <a:gd name="adj" fmla="val 5682"/>
            </a:avLst>
          </a:prstGeom>
          <a:solidFill>
            <a:srgbClr val="FFFFFF"/>
          </a:solidFill>
          <a:ln w="15240">
            <a:solidFill>
              <a:srgbClr val="0969DA"/>
            </a:solidFill>
            <a:prstDash val="solid"/>
          </a:ln>
        </p:spPr>
        <p:txBody>
          <a:bodyPr/>
          <a:lstStyle/>
          <a:p>
            <a:endParaRPr lang="en-US"/>
          </a:p>
        </p:txBody>
      </p:sp>
      <p:sp>
        <p:nvSpPr>
          <p:cNvPr id="29" name="Text 26"/>
          <p:cNvSpPr/>
          <p:nvPr/>
        </p:nvSpPr>
        <p:spPr>
          <a:xfrm>
            <a:off x="10412730" y="3026664"/>
            <a:ext cx="989838" cy="201168"/>
          </a:xfrm>
          <a:prstGeom prst="rect">
            <a:avLst/>
          </a:prstGeom>
          <a:noFill/>
          <a:ln/>
        </p:spPr>
        <p:txBody>
          <a:bodyPr wrap="square" lIns="0" tIns="0" rIns="0" bIns="0" rtlCol="0" anchor="ctr"/>
          <a:lstStyle/>
          <a:p>
            <a:pPr marL="0" indent="0" algn="ctr">
              <a:buNone/>
            </a:pPr>
            <a:r>
              <a:rPr lang="en-US" sz="1300" b="1" dirty="0">
                <a:solidFill>
                  <a:srgbClr val="0D1117"/>
                </a:solidFill>
                <a:latin typeface="Aptos Display" pitchFamily="34" charset="0"/>
                <a:ea typeface="Aptos Display" pitchFamily="34" charset="-122"/>
                <a:cs typeface="Aptos Display" pitchFamily="34" charset="-120"/>
              </a:rPr>
              <a:t>History</a:t>
            </a:r>
            <a:endParaRPr lang="en-US" sz="1300" dirty="0"/>
          </a:p>
        </p:txBody>
      </p:sp>
      <p:sp>
        <p:nvSpPr>
          <p:cNvPr id="30" name="Text 27"/>
          <p:cNvSpPr/>
          <p:nvPr/>
        </p:nvSpPr>
        <p:spPr>
          <a:xfrm>
            <a:off x="10376154" y="3337560"/>
            <a:ext cx="1062990" cy="146304"/>
          </a:xfrm>
          <a:prstGeom prst="rect">
            <a:avLst/>
          </a:prstGeom>
          <a:noFill/>
          <a:ln/>
        </p:spPr>
        <p:txBody>
          <a:bodyPr wrap="square" lIns="0" tIns="0" rIns="0" bIns="0" rtlCol="0" anchor="ctr"/>
          <a:lstStyle/>
          <a:p>
            <a:pPr marL="0" indent="0" algn="ctr">
              <a:buNone/>
            </a:pPr>
            <a:r>
              <a:rPr lang="en-US" sz="850" dirty="0">
                <a:solidFill>
                  <a:srgbClr val="57606A"/>
                </a:solidFill>
                <a:latin typeface="Aptos" pitchFamily="34" charset="0"/>
                <a:ea typeface="Aptos" pitchFamily="34" charset="-122"/>
                <a:cs typeface="Aptos" pitchFamily="34" charset="-120"/>
              </a:rPr>
              <a:t>record</a:t>
            </a:r>
            <a:endParaRPr lang="en-US" sz="850" dirty="0"/>
          </a:p>
        </p:txBody>
      </p:sp>
      <p:sp>
        <p:nvSpPr>
          <p:cNvPr id="31" name="Text 28"/>
          <p:cNvSpPr/>
          <p:nvPr/>
        </p:nvSpPr>
        <p:spPr>
          <a:xfrm>
            <a:off x="5925312" y="4160520"/>
            <a:ext cx="5486400" cy="438912"/>
          </a:xfrm>
          <a:prstGeom prst="rect">
            <a:avLst/>
          </a:prstGeom>
          <a:noFill/>
          <a:ln/>
        </p:spPr>
        <p:txBody>
          <a:bodyPr wrap="square" lIns="0" tIns="0" rIns="0" bIns="0" rtlCol="0" anchor="ctr"/>
          <a:lstStyle/>
          <a:p>
            <a:pPr marL="0" indent="0">
              <a:buNone/>
            </a:pPr>
            <a:r>
              <a:rPr lang="en-US" sz="2300" b="1" dirty="0">
                <a:solidFill>
                  <a:srgbClr val="0969DA"/>
                </a:solidFill>
                <a:latin typeface="Aptos Display" pitchFamily="34" charset="0"/>
                <a:ea typeface="Aptos Display" pitchFamily="34" charset="-122"/>
                <a:cs typeface="Aptos Display" pitchFamily="34" charset="-120"/>
              </a:rPr>
              <a:t>Source control turns memory into evidence.</a:t>
            </a:r>
            <a:endParaRPr lang="en-US" sz="2300" dirty="0"/>
          </a:p>
        </p:txBody>
      </p:sp>
      <p:sp>
        <p:nvSpPr>
          <p:cNvPr id="32" name="Text 29"/>
          <p:cNvSpPr/>
          <p:nvPr/>
        </p:nvSpPr>
        <p:spPr>
          <a:xfrm>
            <a:off x="5925312" y="4754880"/>
            <a:ext cx="5349240" cy="685800"/>
          </a:xfrm>
          <a:prstGeom prst="rect">
            <a:avLst/>
          </a:prstGeom>
          <a:noFill/>
          <a:ln/>
        </p:spPr>
        <p:txBody>
          <a:bodyPr wrap="square" lIns="0" tIns="0" rIns="0" bIns="0" rtlCol="0" anchor="ctr"/>
          <a:lstStyle/>
          <a:p>
            <a:pPr marL="0" indent="0">
              <a:buNone/>
            </a:pPr>
            <a:r>
              <a:rPr lang="en-US" sz="1600" dirty="0">
                <a:solidFill>
                  <a:srgbClr val="57606A"/>
                </a:solidFill>
                <a:latin typeface="Aptos" pitchFamily="34" charset="0"/>
                <a:ea typeface="Aptos" pitchFamily="34" charset="-122"/>
                <a:cs typeface="Aptos" pitchFamily="34" charset="-120"/>
              </a:rPr>
              <a:t>You can see what changed, why it changed, and how people responded.</a:t>
            </a:r>
            <a:endParaRPr lang="en-US" sz="1600" dirty="0"/>
          </a:p>
        </p:txBody>
      </p:sp>
      <p:sp>
        <p:nvSpPr>
          <p:cNvPr id="33" name="Text 30"/>
          <p:cNvSpPr/>
          <p:nvPr/>
        </p:nvSpPr>
        <p:spPr>
          <a:xfrm>
            <a:off x="502920" y="6519672"/>
            <a:ext cx="3840480" cy="146304"/>
          </a:xfrm>
          <a:prstGeom prst="rect">
            <a:avLst/>
          </a:prstGeom>
          <a:noFill/>
          <a:ln/>
        </p:spPr>
        <p:txBody>
          <a:bodyPr wrap="square" lIns="0" tIns="0" rIns="0" bIns="0" rtlCol="0" anchor="ctr"/>
          <a:lstStyle/>
          <a:p>
            <a:pPr marL="0" indent="0">
              <a:buNone/>
            </a:pPr>
            <a:r>
              <a:rPr lang="en-US" sz="800" dirty="0">
                <a:solidFill>
                  <a:srgbClr val="8C959F"/>
                </a:solidFill>
                <a:latin typeface="Aptos" pitchFamily="34" charset="0"/>
                <a:ea typeface="Aptos" pitchFamily="34" charset="-122"/>
                <a:cs typeface="Aptos" pitchFamily="34" charset="-120"/>
              </a:rPr>
              <a:t>GitHub Foundations | Gilead DSS</a:t>
            </a:r>
            <a:endParaRPr lang="en-US" sz="800" dirty="0"/>
          </a:p>
        </p:txBody>
      </p:sp>
      <p:sp>
        <p:nvSpPr>
          <p:cNvPr id="34" name="Text 31">
            <a:hlinkClick r:id="rId4"/>
          </p:cNvPr>
          <p:cNvSpPr/>
          <p:nvPr/>
        </p:nvSpPr>
        <p:spPr>
          <a:xfrm>
            <a:off x="5623560" y="6519672"/>
            <a:ext cx="5897880" cy="146304"/>
          </a:xfrm>
          <a:prstGeom prst="rect">
            <a:avLst/>
          </a:prstGeom>
          <a:noFill/>
          <a:ln/>
        </p:spPr>
        <p:txBody>
          <a:bodyPr wrap="square" lIns="0" tIns="0" rIns="0" bIns="0" rtlCol="0" anchor="ctr"/>
          <a:lstStyle/>
          <a:p>
            <a:pPr marL="0" indent="0" algn="r">
              <a:buNone/>
            </a:pPr>
            <a:r>
              <a:rPr lang="en-US" sz="800" u="sng" dirty="0">
                <a:solidFill>
                  <a:srgbClr val="8C959F"/>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github.com/johnsont1693/scientific-workflow-workshop</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A"/>
        </a:solidFill>
        <a:effectLst/>
      </p:bgPr>
    </p:bg>
    <p:spTree>
      <p:nvGrpSpPr>
        <p:cNvPr id="1" name=""/>
        <p:cNvGrpSpPr/>
        <p:nvPr/>
      </p:nvGrpSpPr>
      <p:grpSpPr>
        <a:xfrm>
          <a:off x="0" y="0"/>
          <a:ext cx="0" cy="0"/>
          <a:chOff x="0" y="0"/>
          <a:chExt cx="0" cy="0"/>
        </a:xfrm>
      </p:grpSpPr>
      <p:sp>
        <p:nvSpPr>
          <p:cNvPr id="2" name="Shape 0"/>
          <p:cNvSpPr/>
          <p:nvPr/>
        </p:nvSpPr>
        <p:spPr>
          <a:xfrm>
            <a:off x="475488" y="347472"/>
            <a:ext cx="347472" cy="347472"/>
          </a:xfrm>
          <a:prstGeom prst="ellipse">
            <a:avLst/>
          </a:prstGeom>
          <a:solidFill>
            <a:srgbClr val="0D1117"/>
          </a:solidFill>
          <a:ln w="12700">
            <a:solidFill>
              <a:srgbClr val="0D1117">
                <a:alpha val="0"/>
              </a:srgbClr>
            </a:solidFill>
            <a:prstDash val="solid"/>
          </a:ln>
        </p:spPr>
        <p:txBody>
          <a:bodyPr/>
          <a:lstStyle/>
          <a:p>
            <a:endParaRPr lang="en-US"/>
          </a:p>
        </p:txBody>
      </p:sp>
      <p:pic>
        <p:nvPicPr>
          <p:cNvPr id="3" name="Image 0" descr="/Users/alysiabrown/sandbox/copilot-worktrees/acb-workbench/abrown152-turbo-winner/generated-assets/gilead-sciences-inc/dss-2026/assets/github-mark.png"/>
          <p:cNvPicPr>
            <a:picLocks noChangeAspect="1"/>
          </p:cNvPicPr>
          <p:nvPr/>
        </p:nvPicPr>
        <p:blipFill>
          <a:blip r:embed="rId3"/>
          <a:stretch>
            <a:fillRect/>
          </a:stretch>
        </p:blipFill>
        <p:spPr>
          <a:xfrm>
            <a:off x="525780" y="397764"/>
            <a:ext cx="246888" cy="246888"/>
          </a:xfrm>
          <a:prstGeom prst="rect">
            <a:avLst/>
          </a:prstGeom>
        </p:spPr>
      </p:pic>
      <p:sp>
        <p:nvSpPr>
          <p:cNvPr id="4" name="Text 1"/>
          <p:cNvSpPr/>
          <p:nvPr/>
        </p:nvSpPr>
        <p:spPr>
          <a:xfrm>
            <a:off x="896112" y="356616"/>
            <a:ext cx="960120" cy="256032"/>
          </a:xfrm>
          <a:prstGeom prst="rect">
            <a:avLst/>
          </a:prstGeom>
          <a:noFill/>
          <a:ln/>
        </p:spPr>
        <p:txBody>
          <a:bodyPr wrap="square" lIns="0" tIns="0" rIns="0" bIns="0" rtlCol="0" anchor="ctr"/>
          <a:lstStyle/>
          <a:p>
            <a:pPr marL="0" indent="0">
              <a:buNone/>
            </a:pPr>
            <a:r>
              <a:rPr lang="en-US" sz="1700" b="1" dirty="0">
                <a:solidFill>
                  <a:srgbClr val="0D1117"/>
                </a:solidFill>
                <a:latin typeface="Aptos Display" pitchFamily="34" charset="0"/>
                <a:ea typeface="Aptos Display" pitchFamily="34" charset="-122"/>
                <a:cs typeface="Aptos Display" pitchFamily="34" charset="-120"/>
              </a:rPr>
              <a:t>GitHub</a:t>
            </a:r>
            <a:endParaRPr lang="en-US" sz="1700" dirty="0"/>
          </a:p>
        </p:txBody>
      </p:sp>
      <p:sp>
        <p:nvSpPr>
          <p:cNvPr id="5" name="Text 2"/>
          <p:cNvSpPr/>
          <p:nvPr/>
        </p:nvSpPr>
        <p:spPr>
          <a:xfrm>
            <a:off x="512064" y="932688"/>
            <a:ext cx="4114800" cy="182880"/>
          </a:xfrm>
          <a:prstGeom prst="rect">
            <a:avLst/>
          </a:prstGeom>
          <a:noFill/>
          <a:ln/>
        </p:spPr>
        <p:txBody>
          <a:bodyPr wrap="square" lIns="0" tIns="0" rIns="0" bIns="0" rtlCol="0" anchor="ctr"/>
          <a:lstStyle/>
          <a:p>
            <a:pPr marL="0" indent="0">
              <a:buNone/>
            </a:pPr>
            <a:r>
              <a:rPr lang="en-US" sz="950" b="1" kern="0" spc="140" dirty="0">
                <a:solidFill>
                  <a:srgbClr val="0969DA"/>
                </a:solidFill>
                <a:latin typeface="Aptos" pitchFamily="34" charset="0"/>
                <a:ea typeface="Aptos" pitchFamily="34" charset="-122"/>
                <a:cs typeface="Aptos" pitchFamily="34" charset="-120"/>
              </a:rPr>
              <a:t>PLAIN-LANGUAGE MENTAL MODEL</a:t>
            </a:r>
            <a:endParaRPr lang="en-US" sz="950" dirty="0"/>
          </a:p>
        </p:txBody>
      </p:sp>
      <p:sp>
        <p:nvSpPr>
          <p:cNvPr id="6" name="Text 3"/>
          <p:cNvSpPr/>
          <p:nvPr/>
        </p:nvSpPr>
        <p:spPr>
          <a:xfrm>
            <a:off x="512064" y="1179576"/>
            <a:ext cx="10972800" cy="530352"/>
          </a:xfrm>
          <a:prstGeom prst="rect">
            <a:avLst/>
          </a:prstGeom>
          <a:noFill/>
          <a:ln/>
        </p:spPr>
        <p:txBody>
          <a:bodyPr wrap="square" lIns="0" tIns="0" rIns="0" bIns="0" rtlCol="0" anchor="ctr"/>
          <a:lstStyle/>
          <a:p>
            <a:pPr marL="0" indent="0">
              <a:buNone/>
            </a:pPr>
            <a:r>
              <a:rPr lang="en-US" sz="3100" b="1" dirty="0">
                <a:solidFill>
                  <a:srgbClr val="0D1117"/>
                </a:solidFill>
                <a:latin typeface="Aptos Display" pitchFamily="34" charset="0"/>
                <a:ea typeface="Aptos Display" pitchFamily="34" charset="-122"/>
                <a:cs typeface="Aptos Display" pitchFamily="34" charset="-120"/>
              </a:rPr>
              <a:t>Three tools. Three different jobs.</a:t>
            </a:r>
            <a:endParaRPr lang="en-US" sz="3100" dirty="0"/>
          </a:p>
        </p:txBody>
      </p:sp>
      <p:sp>
        <p:nvSpPr>
          <p:cNvPr id="7" name="Shape 4"/>
          <p:cNvSpPr/>
          <p:nvPr/>
        </p:nvSpPr>
        <p:spPr>
          <a:xfrm>
            <a:off x="658368" y="2084832"/>
            <a:ext cx="475488" cy="475488"/>
          </a:xfrm>
          <a:prstGeom prst="ellipse">
            <a:avLst/>
          </a:prstGeom>
          <a:solidFill>
            <a:srgbClr val="0969DA"/>
          </a:solidFill>
          <a:ln w="12700">
            <a:solidFill>
              <a:srgbClr val="0969DA">
                <a:alpha val="0"/>
              </a:srgbClr>
            </a:solidFill>
            <a:prstDash val="solid"/>
          </a:ln>
        </p:spPr>
        <p:txBody>
          <a:bodyPr/>
          <a:lstStyle/>
          <a:p>
            <a:endParaRPr lang="en-US"/>
          </a:p>
        </p:txBody>
      </p:sp>
      <p:sp>
        <p:nvSpPr>
          <p:cNvPr id="8" name="Text 5"/>
          <p:cNvSpPr/>
          <p:nvPr/>
        </p:nvSpPr>
        <p:spPr>
          <a:xfrm>
            <a:off x="658368" y="2217420"/>
            <a:ext cx="475488" cy="1371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Display" pitchFamily="34" charset="0"/>
                <a:ea typeface="Aptos Display" pitchFamily="34" charset="-122"/>
                <a:cs typeface="Aptos Display" pitchFamily="34" charset="-120"/>
              </a:rPr>
              <a:t>1</a:t>
            </a:r>
            <a:endParaRPr lang="en-US" sz="1200" dirty="0"/>
          </a:p>
        </p:txBody>
      </p:sp>
      <p:sp>
        <p:nvSpPr>
          <p:cNvPr id="9" name="Text 6"/>
          <p:cNvSpPr/>
          <p:nvPr/>
        </p:nvSpPr>
        <p:spPr>
          <a:xfrm>
            <a:off x="658368" y="2816352"/>
            <a:ext cx="3200400" cy="411480"/>
          </a:xfrm>
          <a:prstGeom prst="rect">
            <a:avLst/>
          </a:prstGeom>
          <a:noFill/>
          <a:ln/>
        </p:spPr>
        <p:txBody>
          <a:bodyPr wrap="square" lIns="0" tIns="0" rIns="0" bIns="0" rtlCol="0" anchor="ctr"/>
          <a:lstStyle/>
          <a:p>
            <a:pPr marL="0" indent="0">
              <a:buNone/>
            </a:pPr>
            <a:r>
              <a:rPr lang="en-US" sz="2800" b="1" dirty="0">
                <a:solidFill>
                  <a:srgbClr val="0969DA"/>
                </a:solidFill>
                <a:latin typeface="Aptos Display" pitchFamily="34" charset="0"/>
                <a:ea typeface="Aptos Display" pitchFamily="34" charset="-122"/>
                <a:cs typeface="Aptos Display" pitchFamily="34" charset="-120"/>
              </a:rPr>
              <a:t>Git</a:t>
            </a:r>
            <a:endParaRPr lang="en-US" sz="2800" dirty="0"/>
          </a:p>
        </p:txBody>
      </p:sp>
      <p:sp>
        <p:nvSpPr>
          <p:cNvPr id="10" name="Text 7"/>
          <p:cNvSpPr/>
          <p:nvPr/>
        </p:nvSpPr>
        <p:spPr>
          <a:xfrm>
            <a:off x="658368" y="3401568"/>
            <a:ext cx="3200400" cy="164592"/>
          </a:xfrm>
          <a:prstGeom prst="rect">
            <a:avLst/>
          </a:prstGeom>
          <a:noFill/>
          <a:ln/>
        </p:spPr>
        <p:txBody>
          <a:bodyPr wrap="square" lIns="0" tIns="0" rIns="0" bIns="0" rtlCol="0" anchor="ctr"/>
          <a:lstStyle/>
          <a:p>
            <a:pPr marL="0" indent="0">
              <a:buNone/>
            </a:pPr>
            <a:r>
              <a:rPr lang="en-US" sz="900" b="1" kern="0" spc="120" dirty="0">
                <a:solidFill>
                  <a:srgbClr val="0969DA"/>
                </a:solidFill>
                <a:latin typeface="Aptos" pitchFamily="34" charset="0"/>
                <a:ea typeface="Aptos" pitchFamily="34" charset="-122"/>
                <a:cs typeface="Aptos" pitchFamily="34" charset="-120"/>
              </a:rPr>
              <a:t>VERSION HISTORY</a:t>
            </a:r>
            <a:endParaRPr lang="en-US" sz="900" dirty="0"/>
          </a:p>
        </p:txBody>
      </p:sp>
      <p:sp>
        <p:nvSpPr>
          <p:cNvPr id="11" name="Text 8"/>
          <p:cNvSpPr/>
          <p:nvPr/>
        </p:nvSpPr>
        <p:spPr>
          <a:xfrm>
            <a:off x="658368" y="3840480"/>
            <a:ext cx="3127248" cy="1005840"/>
          </a:xfrm>
          <a:prstGeom prst="rect">
            <a:avLst/>
          </a:prstGeom>
          <a:noFill/>
          <a:ln/>
        </p:spPr>
        <p:txBody>
          <a:bodyPr wrap="square" lIns="0" tIns="0" rIns="0" bIns="0" rtlCol="0" anchor="ctr"/>
          <a:lstStyle/>
          <a:p>
            <a:pPr marL="0" indent="0">
              <a:buNone/>
            </a:pPr>
            <a:r>
              <a:rPr lang="en-US" sz="1500" dirty="0">
                <a:solidFill>
                  <a:srgbClr val="57606A"/>
                </a:solidFill>
                <a:latin typeface="Aptos" pitchFamily="34" charset="0"/>
                <a:ea typeface="Aptos" pitchFamily="34" charset="-122"/>
                <a:cs typeface="Aptos" pitchFamily="34" charset="-120"/>
              </a:rPr>
              <a:t>Records versions and lets us compare changes over time.</a:t>
            </a:r>
            <a:endParaRPr lang="en-US" sz="1500" dirty="0"/>
          </a:p>
        </p:txBody>
      </p:sp>
      <p:sp>
        <p:nvSpPr>
          <p:cNvPr id="12" name="Shape 9"/>
          <p:cNvSpPr/>
          <p:nvPr/>
        </p:nvSpPr>
        <p:spPr>
          <a:xfrm>
            <a:off x="658368" y="5102352"/>
            <a:ext cx="3154680" cy="0"/>
          </a:xfrm>
          <a:prstGeom prst="line">
            <a:avLst/>
          </a:prstGeom>
          <a:noFill/>
          <a:ln w="38100">
            <a:solidFill>
              <a:srgbClr val="0969DA"/>
            </a:solidFill>
            <a:prstDash val="solid"/>
          </a:ln>
        </p:spPr>
        <p:txBody>
          <a:bodyPr/>
          <a:lstStyle/>
          <a:p>
            <a:endParaRPr lang="en-US"/>
          </a:p>
        </p:txBody>
      </p:sp>
      <p:sp>
        <p:nvSpPr>
          <p:cNvPr id="13" name="Shape 10"/>
          <p:cNvSpPr/>
          <p:nvPr/>
        </p:nvSpPr>
        <p:spPr>
          <a:xfrm>
            <a:off x="4517136" y="2084832"/>
            <a:ext cx="475488" cy="475488"/>
          </a:xfrm>
          <a:prstGeom prst="ellipse">
            <a:avLst/>
          </a:prstGeom>
          <a:solidFill>
            <a:srgbClr val="1A7F37"/>
          </a:solidFill>
          <a:ln w="12700">
            <a:solidFill>
              <a:srgbClr val="1A7F37">
                <a:alpha val="0"/>
              </a:srgbClr>
            </a:solidFill>
            <a:prstDash val="solid"/>
          </a:ln>
        </p:spPr>
        <p:txBody>
          <a:bodyPr/>
          <a:lstStyle/>
          <a:p>
            <a:endParaRPr lang="en-US"/>
          </a:p>
        </p:txBody>
      </p:sp>
      <p:sp>
        <p:nvSpPr>
          <p:cNvPr id="14" name="Text 11"/>
          <p:cNvSpPr/>
          <p:nvPr/>
        </p:nvSpPr>
        <p:spPr>
          <a:xfrm>
            <a:off x="4517136" y="2217420"/>
            <a:ext cx="475488" cy="1371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Display" pitchFamily="34" charset="0"/>
                <a:ea typeface="Aptos Display" pitchFamily="34" charset="-122"/>
                <a:cs typeface="Aptos Display" pitchFamily="34" charset="-120"/>
              </a:rPr>
              <a:t>2</a:t>
            </a:r>
            <a:endParaRPr lang="en-US" sz="1200" dirty="0"/>
          </a:p>
        </p:txBody>
      </p:sp>
      <p:sp>
        <p:nvSpPr>
          <p:cNvPr id="15" name="Text 12"/>
          <p:cNvSpPr/>
          <p:nvPr/>
        </p:nvSpPr>
        <p:spPr>
          <a:xfrm>
            <a:off x="4517136" y="2816352"/>
            <a:ext cx="3200400" cy="411480"/>
          </a:xfrm>
          <a:prstGeom prst="rect">
            <a:avLst/>
          </a:prstGeom>
          <a:noFill/>
          <a:ln/>
        </p:spPr>
        <p:txBody>
          <a:bodyPr wrap="square" lIns="0" tIns="0" rIns="0" bIns="0" rtlCol="0" anchor="ctr"/>
          <a:lstStyle/>
          <a:p>
            <a:pPr marL="0" indent="0">
              <a:buNone/>
            </a:pPr>
            <a:r>
              <a:rPr lang="en-US" sz="2800" b="1" dirty="0">
                <a:solidFill>
                  <a:srgbClr val="1A7F37"/>
                </a:solidFill>
                <a:latin typeface="Aptos Display" pitchFamily="34" charset="0"/>
                <a:ea typeface="Aptos Display" pitchFamily="34" charset="-122"/>
                <a:cs typeface="Aptos Display" pitchFamily="34" charset="-120"/>
              </a:rPr>
              <a:t>GitHub</a:t>
            </a:r>
            <a:endParaRPr lang="en-US" sz="2800" dirty="0"/>
          </a:p>
        </p:txBody>
      </p:sp>
      <p:sp>
        <p:nvSpPr>
          <p:cNvPr id="16" name="Text 13"/>
          <p:cNvSpPr/>
          <p:nvPr/>
        </p:nvSpPr>
        <p:spPr>
          <a:xfrm>
            <a:off x="4517136" y="3401568"/>
            <a:ext cx="3200400" cy="164592"/>
          </a:xfrm>
          <a:prstGeom prst="rect">
            <a:avLst/>
          </a:prstGeom>
          <a:noFill/>
          <a:ln/>
        </p:spPr>
        <p:txBody>
          <a:bodyPr wrap="square" lIns="0" tIns="0" rIns="0" bIns="0" rtlCol="0" anchor="ctr"/>
          <a:lstStyle/>
          <a:p>
            <a:pPr marL="0" indent="0">
              <a:buNone/>
            </a:pPr>
            <a:r>
              <a:rPr lang="en-US" sz="900" b="1" kern="0" spc="120" dirty="0">
                <a:solidFill>
                  <a:srgbClr val="1A7F37"/>
                </a:solidFill>
                <a:latin typeface="Aptos" pitchFamily="34" charset="0"/>
                <a:ea typeface="Aptos" pitchFamily="34" charset="-122"/>
                <a:cs typeface="Aptos" pitchFamily="34" charset="-120"/>
              </a:rPr>
              <a:t>COLLABORATION</a:t>
            </a:r>
            <a:endParaRPr lang="en-US" sz="900" dirty="0"/>
          </a:p>
        </p:txBody>
      </p:sp>
      <p:sp>
        <p:nvSpPr>
          <p:cNvPr id="17" name="Text 14"/>
          <p:cNvSpPr/>
          <p:nvPr/>
        </p:nvSpPr>
        <p:spPr>
          <a:xfrm>
            <a:off x="4517136" y="3840480"/>
            <a:ext cx="3127248" cy="1005840"/>
          </a:xfrm>
          <a:prstGeom prst="rect">
            <a:avLst/>
          </a:prstGeom>
          <a:noFill/>
          <a:ln/>
        </p:spPr>
        <p:txBody>
          <a:bodyPr wrap="square" lIns="0" tIns="0" rIns="0" bIns="0" rtlCol="0" anchor="ctr"/>
          <a:lstStyle/>
          <a:p>
            <a:pPr marL="0" indent="0">
              <a:buNone/>
            </a:pPr>
            <a:r>
              <a:rPr lang="en-US" sz="1500" dirty="0">
                <a:solidFill>
                  <a:srgbClr val="57606A"/>
                </a:solidFill>
                <a:latin typeface="Aptos" pitchFamily="34" charset="0"/>
                <a:ea typeface="Aptos" pitchFamily="34" charset="-122"/>
                <a:cs typeface="Aptos" pitchFamily="34" charset="-120"/>
              </a:rPr>
              <a:t>Hosts the repository and adds permissions, review, discussion, and automation.</a:t>
            </a:r>
            <a:endParaRPr lang="en-US" sz="1500" dirty="0"/>
          </a:p>
        </p:txBody>
      </p:sp>
      <p:sp>
        <p:nvSpPr>
          <p:cNvPr id="18" name="Shape 15"/>
          <p:cNvSpPr/>
          <p:nvPr/>
        </p:nvSpPr>
        <p:spPr>
          <a:xfrm>
            <a:off x="4517136" y="5102352"/>
            <a:ext cx="3154680" cy="0"/>
          </a:xfrm>
          <a:prstGeom prst="line">
            <a:avLst/>
          </a:prstGeom>
          <a:noFill/>
          <a:ln w="38100">
            <a:solidFill>
              <a:srgbClr val="1A7F37"/>
            </a:solidFill>
            <a:prstDash val="solid"/>
          </a:ln>
        </p:spPr>
        <p:txBody>
          <a:bodyPr/>
          <a:lstStyle/>
          <a:p>
            <a:endParaRPr lang="en-US"/>
          </a:p>
        </p:txBody>
      </p:sp>
      <p:sp>
        <p:nvSpPr>
          <p:cNvPr id="19" name="Shape 16"/>
          <p:cNvSpPr/>
          <p:nvPr/>
        </p:nvSpPr>
        <p:spPr>
          <a:xfrm>
            <a:off x="8375904" y="2084832"/>
            <a:ext cx="475488" cy="475488"/>
          </a:xfrm>
          <a:prstGeom prst="ellipse">
            <a:avLst/>
          </a:prstGeom>
          <a:solidFill>
            <a:srgbClr val="8250DF"/>
          </a:solidFill>
          <a:ln w="12700">
            <a:solidFill>
              <a:srgbClr val="8250DF">
                <a:alpha val="0"/>
              </a:srgbClr>
            </a:solidFill>
            <a:prstDash val="solid"/>
          </a:ln>
        </p:spPr>
        <p:txBody>
          <a:bodyPr/>
          <a:lstStyle/>
          <a:p>
            <a:endParaRPr lang="en-US"/>
          </a:p>
        </p:txBody>
      </p:sp>
      <p:sp>
        <p:nvSpPr>
          <p:cNvPr id="20" name="Text 17"/>
          <p:cNvSpPr/>
          <p:nvPr/>
        </p:nvSpPr>
        <p:spPr>
          <a:xfrm>
            <a:off x="8375904" y="2217420"/>
            <a:ext cx="475488" cy="1371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Display" pitchFamily="34" charset="0"/>
                <a:ea typeface="Aptos Display" pitchFamily="34" charset="-122"/>
                <a:cs typeface="Aptos Display" pitchFamily="34" charset="-120"/>
              </a:rPr>
              <a:t>3</a:t>
            </a:r>
            <a:endParaRPr lang="en-US" sz="1200" dirty="0"/>
          </a:p>
        </p:txBody>
      </p:sp>
      <p:sp>
        <p:nvSpPr>
          <p:cNvPr id="21" name="Text 18"/>
          <p:cNvSpPr/>
          <p:nvPr/>
        </p:nvSpPr>
        <p:spPr>
          <a:xfrm>
            <a:off x="8375904" y="2816352"/>
            <a:ext cx="3200400" cy="411480"/>
          </a:xfrm>
          <a:prstGeom prst="rect">
            <a:avLst/>
          </a:prstGeom>
          <a:noFill/>
          <a:ln/>
        </p:spPr>
        <p:txBody>
          <a:bodyPr wrap="square" lIns="0" tIns="0" rIns="0" bIns="0" rtlCol="0" anchor="ctr"/>
          <a:lstStyle/>
          <a:p>
            <a:pPr marL="0" indent="0">
              <a:buNone/>
            </a:pPr>
            <a:r>
              <a:rPr lang="en-US" sz="2800" b="1" dirty="0">
                <a:solidFill>
                  <a:srgbClr val="8250DF"/>
                </a:solidFill>
                <a:latin typeface="Aptos Display" pitchFamily="34" charset="0"/>
                <a:ea typeface="Aptos Display" pitchFamily="34" charset="-122"/>
                <a:cs typeface="Aptos Display" pitchFamily="34" charset="-120"/>
              </a:rPr>
              <a:t>Copilot</a:t>
            </a:r>
            <a:endParaRPr lang="en-US" sz="2800" dirty="0"/>
          </a:p>
        </p:txBody>
      </p:sp>
      <p:sp>
        <p:nvSpPr>
          <p:cNvPr id="22" name="Text 19"/>
          <p:cNvSpPr/>
          <p:nvPr/>
        </p:nvSpPr>
        <p:spPr>
          <a:xfrm>
            <a:off x="8375904" y="3401568"/>
            <a:ext cx="3200400" cy="164592"/>
          </a:xfrm>
          <a:prstGeom prst="rect">
            <a:avLst/>
          </a:prstGeom>
          <a:noFill/>
          <a:ln/>
        </p:spPr>
        <p:txBody>
          <a:bodyPr wrap="square" lIns="0" tIns="0" rIns="0" bIns="0" rtlCol="0" anchor="ctr"/>
          <a:lstStyle/>
          <a:p>
            <a:pPr marL="0" indent="0">
              <a:buNone/>
            </a:pPr>
            <a:r>
              <a:rPr lang="en-US" sz="900" b="1" kern="0" spc="120" dirty="0">
                <a:solidFill>
                  <a:srgbClr val="8250DF"/>
                </a:solidFill>
                <a:latin typeface="Aptos" pitchFamily="34" charset="0"/>
                <a:ea typeface="Aptos" pitchFamily="34" charset="-122"/>
                <a:cs typeface="Aptos" pitchFamily="34" charset="-120"/>
              </a:rPr>
              <a:t>AI ASSISTANCE</a:t>
            </a:r>
            <a:endParaRPr lang="en-US" sz="900" dirty="0"/>
          </a:p>
        </p:txBody>
      </p:sp>
      <p:sp>
        <p:nvSpPr>
          <p:cNvPr id="23" name="Text 20"/>
          <p:cNvSpPr/>
          <p:nvPr/>
        </p:nvSpPr>
        <p:spPr>
          <a:xfrm>
            <a:off x="8375904" y="3840480"/>
            <a:ext cx="3127248" cy="1005840"/>
          </a:xfrm>
          <a:prstGeom prst="rect">
            <a:avLst/>
          </a:prstGeom>
          <a:noFill/>
          <a:ln/>
        </p:spPr>
        <p:txBody>
          <a:bodyPr wrap="square" lIns="0" tIns="0" rIns="0" bIns="0" rtlCol="0" anchor="ctr"/>
          <a:lstStyle/>
          <a:p>
            <a:pPr marL="0" indent="0">
              <a:buNone/>
            </a:pPr>
            <a:r>
              <a:rPr lang="en-US" sz="1500" dirty="0">
                <a:solidFill>
                  <a:srgbClr val="57606A"/>
                </a:solidFill>
                <a:latin typeface="Aptos" pitchFamily="34" charset="0"/>
                <a:ea typeface="Aptos" pitchFamily="34" charset="-122"/>
                <a:cs typeface="Aptos" pitchFamily="34" charset="-120"/>
              </a:rPr>
              <a:t>Helps understand, propose, and review work inside the GitHub workflow.</a:t>
            </a:r>
            <a:endParaRPr lang="en-US" sz="1500" dirty="0"/>
          </a:p>
        </p:txBody>
      </p:sp>
      <p:sp>
        <p:nvSpPr>
          <p:cNvPr id="24" name="Shape 21"/>
          <p:cNvSpPr/>
          <p:nvPr/>
        </p:nvSpPr>
        <p:spPr>
          <a:xfrm>
            <a:off x="8375904" y="5102352"/>
            <a:ext cx="3154680" cy="0"/>
          </a:xfrm>
          <a:prstGeom prst="line">
            <a:avLst/>
          </a:prstGeom>
          <a:noFill/>
          <a:ln w="38100">
            <a:solidFill>
              <a:srgbClr val="8250DF"/>
            </a:solidFill>
            <a:prstDash val="solid"/>
          </a:ln>
        </p:spPr>
        <p:txBody>
          <a:bodyPr/>
          <a:lstStyle/>
          <a:p>
            <a:endParaRPr lang="en-US"/>
          </a:p>
        </p:txBody>
      </p:sp>
      <p:sp>
        <p:nvSpPr>
          <p:cNvPr id="25" name="Text 22"/>
          <p:cNvSpPr/>
          <p:nvPr/>
        </p:nvSpPr>
        <p:spPr>
          <a:xfrm>
            <a:off x="1828800" y="5623560"/>
            <a:ext cx="8503920" cy="310896"/>
          </a:xfrm>
          <a:prstGeom prst="rect">
            <a:avLst/>
          </a:prstGeom>
          <a:noFill/>
          <a:ln/>
        </p:spPr>
        <p:txBody>
          <a:bodyPr wrap="square" lIns="0" tIns="0" rIns="0" bIns="0" rtlCol="0" anchor="ctr"/>
          <a:lstStyle/>
          <a:p>
            <a:pPr marL="0" indent="0" algn="ctr">
              <a:buNone/>
            </a:pPr>
            <a:r>
              <a:rPr lang="en-US" sz="1700" b="1" dirty="0">
                <a:solidFill>
                  <a:srgbClr val="0D1117"/>
                </a:solidFill>
                <a:latin typeface="Aptos Display" pitchFamily="34" charset="0"/>
                <a:ea typeface="Aptos Display" pitchFamily="34" charset="-122"/>
                <a:cs typeface="Aptos Display" pitchFamily="34" charset="-120"/>
              </a:rPr>
              <a:t>Copilot assists inside the workflow. It does not replace Git or GitHub.</a:t>
            </a:r>
            <a:endParaRPr lang="en-US" sz="1700" dirty="0"/>
          </a:p>
        </p:txBody>
      </p:sp>
      <p:sp>
        <p:nvSpPr>
          <p:cNvPr id="26" name="Text 23"/>
          <p:cNvSpPr/>
          <p:nvPr/>
        </p:nvSpPr>
        <p:spPr>
          <a:xfrm>
            <a:off x="502920" y="6519672"/>
            <a:ext cx="3840480" cy="146304"/>
          </a:xfrm>
          <a:prstGeom prst="rect">
            <a:avLst/>
          </a:prstGeom>
          <a:noFill/>
          <a:ln/>
        </p:spPr>
        <p:txBody>
          <a:bodyPr wrap="square" lIns="0" tIns="0" rIns="0" bIns="0" rtlCol="0" anchor="ctr"/>
          <a:lstStyle/>
          <a:p>
            <a:pPr marL="0" indent="0">
              <a:buNone/>
            </a:pPr>
            <a:r>
              <a:rPr lang="en-US" sz="800" dirty="0">
                <a:solidFill>
                  <a:srgbClr val="8C959F"/>
                </a:solidFill>
                <a:latin typeface="Aptos" pitchFamily="34" charset="0"/>
                <a:ea typeface="Aptos" pitchFamily="34" charset="-122"/>
                <a:cs typeface="Aptos" pitchFamily="34" charset="-120"/>
              </a:rPr>
              <a:t>GitHub Foundations | Gilead DSS</a:t>
            </a:r>
            <a:endParaRPr lang="en-US" sz="800" dirty="0"/>
          </a:p>
        </p:txBody>
      </p:sp>
      <p:sp>
        <p:nvSpPr>
          <p:cNvPr id="27" name="Text 24">
            <a:hlinkClick r:id="rId4"/>
          </p:cNvPr>
          <p:cNvSpPr/>
          <p:nvPr/>
        </p:nvSpPr>
        <p:spPr>
          <a:xfrm>
            <a:off x="5623560" y="6519672"/>
            <a:ext cx="5897880" cy="146304"/>
          </a:xfrm>
          <a:prstGeom prst="rect">
            <a:avLst/>
          </a:prstGeom>
          <a:noFill/>
          <a:ln/>
        </p:spPr>
        <p:txBody>
          <a:bodyPr wrap="square" lIns="0" tIns="0" rIns="0" bIns="0" rtlCol="0" anchor="ctr"/>
          <a:lstStyle/>
          <a:p>
            <a:pPr marL="0" indent="0" algn="r">
              <a:buNone/>
            </a:pPr>
            <a:r>
              <a:rPr lang="en-US" sz="800" u="sng" dirty="0">
                <a:solidFill>
                  <a:srgbClr val="8C959F"/>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github.com/johnsont1693/scientific-workflow-workshop</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bg>
      <p:bgPr>
        <a:solidFill>
          <a:srgbClr val="F6F8FA"/>
        </a:solidFill>
        <a:effectLst/>
      </p:bgPr>
    </p:bg>
    <p:spTree>
      <p:nvGrpSpPr>
        <p:cNvPr id="1" name=""/>
        <p:cNvGrpSpPr/>
        <p:nvPr/>
      </p:nvGrpSpPr>
      <p:grpSpPr>
        <a:xfrm>
          <a:off x="0" y="0"/>
          <a:ext cx="0" cy="0"/>
          <a:chOff x="0" y="0"/>
          <a:chExt cx="0" cy="0"/>
        </a:xfrm>
      </p:grpSpPr>
      <p:sp>
        <p:nvSpPr>
          <p:cNvPr id="2" name="Shape 0"/>
          <p:cNvSpPr/>
          <p:nvPr/>
        </p:nvSpPr>
        <p:spPr>
          <a:xfrm>
            <a:off x="475488" y="347472"/>
            <a:ext cx="347472" cy="347472"/>
          </a:xfrm>
          <a:prstGeom prst="ellipse">
            <a:avLst/>
          </a:prstGeom>
          <a:solidFill>
            <a:srgbClr val="0D1117"/>
          </a:solidFill>
          <a:ln w="12700">
            <a:solidFill>
              <a:srgbClr val="0D1117">
                <a:alpha val="0"/>
              </a:srgbClr>
            </a:solidFill>
            <a:prstDash val="solid"/>
          </a:ln>
        </p:spPr>
        <p:txBody>
          <a:bodyPr/>
          <a:lstStyle/>
          <a:p>
            <a:endParaRPr lang="en-US"/>
          </a:p>
        </p:txBody>
      </p:sp>
      <p:pic>
        <p:nvPicPr>
          <p:cNvPr id="3" name="Image 0" descr="/Users/alysiabrown/sandbox/copilot-worktrees/acb-workbench/abrown152-turbo-winner/generated-assets/gilead-sciences-inc/dss-2026/assets/github-mark.png"/>
          <p:cNvPicPr>
            <a:picLocks noChangeAspect="1"/>
          </p:cNvPicPr>
          <p:nvPr/>
        </p:nvPicPr>
        <p:blipFill>
          <a:blip r:embed="rId3"/>
          <a:stretch>
            <a:fillRect/>
          </a:stretch>
        </p:blipFill>
        <p:spPr>
          <a:xfrm>
            <a:off x="525780" y="397764"/>
            <a:ext cx="246888" cy="246888"/>
          </a:xfrm>
          <a:prstGeom prst="rect">
            <a:avLst/>
          </a:prstGeom>
        </p:spPr>
      </p:pic>
      <p:sp>
        <p:nvSpPr>
          <p:cNvPr id="4" name="Text 1"/>
          <p:cNvSpPr/>
          <p:nvPr/>
        </p:nvSpPr>
        <p:spPr>
          <a:xfrm>
            <a:off x="896112" y="356616"/>
            <a:ext cx="960120" cy="256032"/>
          </a:xfrm>
          <a:prstGeom prst="rect">
            <a:avLst/>
          </a:prstGeom>
          <a:noFill/>
          <a:ln/>
        </p:spPr>
        <p:txBody>
          <a:bodyPr wrap="square" lIns="0" tIns="0" rIns="0" bIns="0" rtlCol="0" anchor="ctr"/>
          <a:lstStyle/>
          <a:p>
            <a:pPr marL="0" indent="0">
              <a:buNone/>
            </a:pPr>
            <a:r>
              <a:rPr lang="en-US" sz="1700" b="1" dirty="0">
                <a:solidFill>
                  <a:srgbClr val="0D1117"/>
                </a:solidFill>
                <a:latin typeface="Aptos Display" pitchFamily="34" charset="0"/>
                <a:ea typeface="Aptos Display" pitchFamily="34" charset="-122"/>
                <a:cs typeface="Aptos Display" pitchFamily="34" charset="-120"/>
              </a:rPr>
              <a:t>GitHub</a:t>
            </a:r>
            <a:endParaRPr lang="en-US" sz="1700" dirty="0"/>
          </a:p>
        </p:txBody>
      </p:sp>
      <p:sp>
        <p:nvSpPr>
          <p:cNvPr id="24" name="Text 21"/>
          <p:cNvSpPr/>
          <p:nvPr/>
        </p:nvSpPr>
        <p:spPr>
          <a:xfrm>
            <a:off x="502920" y="6519672"/>
            <a:ext cx="3840480" cy="146304"/>
          </a:xfrm>
          <a:prstGeom prst="rect">
            <a:avLst/>
          </a:prstGeom>
          <a:noFill/>
          <a:ln/>
        </p:spPr>
        <p:txBody>
          <a:bodyPr wrap="square" lIns="0" tIns="0" rIns="0" bIns="0" rtlCol="0" anchor="ctr"/>
          <a:lstStyle/>
          <a:p>
            <a:pPr marL="0" indent="0">
              <a:buNone/>
            </a:pPr>
            <a:r>
              <a:rPr lang="en-US" sz="800" dirty="0">
                <a:solidFill>
                  <a:srgbClr val="8C959F"/>
                </a:solidFill>
                <a:latin typeface="Aptos" pitchFamily="34" charset="0"/>
                <a:ea typeface="Aptos" pitchFamily="34" charset="-122"/>
                <a:cs typeface="Aptos" pitchFamily="34" charset="-120"/>
              </a:rPr>
              <a:t>GitHub Foundations | Gilead DSS</a:t>
            </a:r>
            <a:endParaRPr lang="en-US" sz="800" dirty="0"/>
          </a:p>
        </p:txBody>
      </p:sp>
      <p:sp>
        <p:nvSpPr>
          <p:cNvPr id="25" name="Text 22">
            <a:hlinkClick r:id="rId4"/>
          </p:cNvPr>
          <p:cNvSpPr/>
          <p:nvPr/>
        </p:nvSpPr>
        <p:spPr>
          <a:xfrm>
            <a:off x="5623560" y="6519672"/>
            <a:ext cx="5897880" cy="146304"/>
          </a:xfrm>
          <a:prstGeom prst="rect">
            <a:avLst/>
          </a:prstGeom>
          <a:noFill/>
          <a:ln/>
        </p:spPr>
        <p:txBody>
          <a:bodyPr wrap="square" lIns="0" tIns="0" rIns="0" bIns="0" rtlCol="0" anchor="ctr"/>
          <a:lstStyle/>
          <a:p>
            <a:pPr marL="0" indent="0" algn="r">
              <a:buNone/>
            </a:pPr>
            <a:r>
              <a:rPr lang="en-US" sz="800" u="sng" dirty="0">
                <a:solidFill>
                  <a:srgbClr val="8C959F"/>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github.com/johnsont1693/scientific-workflow-workshop</a:t>
            </a:r>
            <a:endParaRPr lang="en-US" sz="800" dirty="0"/>
          </a:p>
        </p:txBody>
      </p:sp>
      <p:sp>
        <p:nvSpPr>
          <p:cNvPr id="26" name="Revision text 26">
            <a:extLst>
              <a:ext uri="{FF2B5EF4-FFF2-40B4-BE49-F238E27FC236}">
                <a16:creationId xmlns:a16="http://schemas.microsoft.com/office/drawing/2014/main" id="{5A109BE4-8180-C485-35A8-0B3485B657AB}"/>
              </a:ext>
            </a:extLst>
          </p:cNvPr>
          <p:cNvSpPr txBox="1"/>
          <p:nvPr/>
        </p:nvSpPr>
        <p:spPr>
          <a:xfrm>
            <a:off x="512064" y="932688"/>
            <a:ext cx="10922000" cy="228600"/>
          </a:xfrm>
          <a:prstGeom prst="rect">
            <a:avLst/>
          </a:prstGeom>
          <a:noFill/>
        </p:spPr>
        <p:txBody>
          <a:bodyPr vert="horz" wrap="square" lIns="0" tIns="0" rIns="0" bIns="0" rtlCol="0">
            <a:noAutofit/>
          </a:bodyPr>
          <a:lstStyle/>
          <a:p>
            <a:r>
              <a:rPr lang="en-US" sz="1000" b="1">
                <a:solidFill>
                  <a:srgbClr val="0969DA"/>
                </a:solidFill>
                <a:latin typeface="Aptos" panose="020B0004020202020204" pitchFamily="34" charset="0"/>
              </a:rPr>
              <a:t>GILEAD-SPECIFIC GUIDANCE</a:t>
            </a:r>
          </a:p>
        </p:txBody>
      </p:sp>
      <p:sp>
        <p:nvSpPr>
          <p:cNvPr id="27" name="Revision text 27">
            <a:extLst>
              <a:ext uri="{FF2B5EF4-FFF2-40B4-BE49-F238E27FC236}">
                <a16:creationId xmlns:a16="http://schemas.microsoft.com/office/drawing/2014/main" id="{FCC53A6E-E2D5-1A6D-F974-2567B849A436}"/>
              </a:ext>
            </a:extLst>
          </p:cNvPr>
          <p:cNvSpPr txBox="1"/>
          <p:nvPr/>
        </p:nvSpPr>
        <p:spPr>
          <a:xfrm>
            <a:off x="512064" y="1231899"/>
            <a:ext cx="11049000" cy="736600"/>
          </a:xfrm>
          <a:prstGeom prst="rect">
            <a:avLst/>
          </a:prstGeom>
          <a:noFill/>
        </p:spPr>
        <p:txBody>
          <a:bodyPr vert="horz" wrap="square" lIns="0" tIns="0" rIns="0" bIns="0" rtlCol="0">
            <a:noAutofit/>
          </a:bodyPr>
          <a:lstStyle/>
          <a:p>
            <a:r>
              <a:rPr lang="en-US" sz="2700" b="1">
                <a:solidFill>
                  <a:srgbClr val="0D1117"/>
                </a:solidFill>
                <a:latin typeface="Aptos" panose="020B0004020202020204" pitchFamily="34" charset="0"/>
              </a:rPr>
              <a:t>Gilead source-control and security standards</a:t>
            </a:r>
          </a:p>
        </p:txBody>
      </p:sp>
      <p:sp>
        <p:nvSpPr>
          <p:cNvPr id="28" name="Rectangle 27">
            <a:extLst>
              <a:ext uri="{FF2B5EF4-FFF2-40B4-BE49-F238E27FC236}">
                <a16:creationId xmlns:a16="http://schemas.microsoft.com/office/drawing/2014/main" id="{72CDEE10-A9BF-59FB-09A9-3493BC0B5E69}"/>
              </a:ext>
            </a:extLst>
          </p:cNvPr>
          <p:cNvSpPr/>
          <p:nvPr/>
        </p:nvSpPr>
        <p:spPr>
          <a:xfrm>
            <a:off x="533400" y="2171700"/>
            <a:ext cx="5448300" cy="1054100"/>
          </a:xfrm>
          <a:prstGeom prst="rect">
            <a:avLst/>
          </a:prstGeom>
          <a:solidFill>
            <a:srgbClr val="F6F8FA"/>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vision text 29">
            <a:extLst>
              <a:ext uri="{FF2B5EF4-FFF2-40B4-BE49-F238E27FC236}">
                <a16:creationId xmlns:a16="http://schemas.microsoft.com/office/drawing/2014/main" id="{B46D087C-FFD2-C065-6791-05FC5D344353}"/>
              </a:ext>
            </a:extLst>
          </p:cNvPr>
          <p:cNvSpPr txBox="1"/>
          <p:nvPr/>
        </p:nvSpPr>
        <p:spPr>
          <a:xfrm>
            <a:off x="685800" y="2273299"/>
            <a:ext cx="5143500" cy="292100"/>
          </a:xfrm>
          <a:prstGeom prst="rect">
            <a:avLst/>
          </a:prstGeom>
          <a:noFill/>
        </p:spPr>
        <p:txBody>
          <a:bodyPr vert="horz" wrap="square" lIns="0" tIns="0" rIns="0" bIns="0" rtlCol="0">
            <a:noAutofit/>
          </a:bodyPr>
          <a:lstStyle/>
          <a:p>
            <a:r>
              <a:rPr lang="en-US" sz="1700" b="1">
                <a:solidFill>
                  <a:srgbClr val="0969DA"/>
                </a:solidFill>
                <a:latin typeface="Aptos" panose="020B0004020202020204" pitchFamily="34" charset="0"/>
              </a:rPr>
              <a:t>Keep secrets out</a:t>
            </a:r>
          </a:p>
        </p:txBody>
      </p:sp>
      <p:sp>
        <p:nvSpPr>
          <p:cNvPr id="30" name="Revision text 30">
            <a:extLst>
              <a:ext uri="{FF2B5EF4-FFF2-40B4-BE49-F238E27FC236}">
                <a16:creationId xmlns:a16="http://schemas.microsoft.com/office/drawing/2014/main" id="{F4001D15-6F28-6EB9-1E3B-A467F2C95073}"/>
              </a:ext>
            </a:extLst>
          </p:cNvPr>
          <p:cNvSpPr txBox="1"/>
          <p:nvPr/>
        </p:nvSpPr>
        <p:spPr>
          <a:xfrm>
            <a:off x="685800" y="2616199"/>
            <a:ext cx="5143500" cy="584200"/>
          </a:xfrm>
          <a:prstGeom prst="rect">
            <a:avLst/>
          </a:prstGeom>
          <a:noFill/>
        </p:spPr>
        <p:txBody>
          <a:bodyPr vert="horz" wrap="square" lIns="0" tIns="0" rIns="0" bIns="0" rtlCol="0">
            <a:noAutofit/>
          </a:bodyPr>
          <a:lstStyle/>
          <a:p>
            <a:r>
              <a:rPr lang="en-US" sz="1300">
                <a:solidFill>
                  <a:srgbClr val="0D1117"/>
                </a:solidFill>
                <a:latin typeface="Aptos" panose="020B0004020202020204" pitchFamily="34" charset="0"/>
              </a:rPr>
              <a:t>Never commit passwords, API keys, tokens, certificates or secrets. Exclude local/config files with .gitignore; use approved secret management.</a:t>
            </a:r>
          </a:p>
        </p:txBody>
      </p:sp>
      <p:sp>
        <p:nvSpPr>
          <p:cNvPr id="31" name="Rectangle 30">
            <a:extLst>
              <a:ext uri="{FF2B5EF4-FFF2-40B4-BE49-F238E27FC236}">
                <a16:creationId xmlns:a16="http://schemas.microsoft.com/office/drawing/2014/main" id="{7AF7EA20-3EB1-542C-F857-4E8A50C9FA34}"/>
              </a:ext>
            </a:extLst>
          </p:cNvPr>
          <p:cNvSpPr/>
          <p:nvPr/>
        </p:nvSpPr>
        <p:spPr>
          <a:xfrm>
            <a:off x="6172200" y="2171700"/>
            <a:ext cx="5448300" cy="1054100"/>
          </a:xfrm>
          <a:prstGeom prst="rect">
            <a:avLst/>
          </a:prstGeom>
          <a:solidFill>
            <a:srgbClr val="F6F8FA"/>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vision text 32">
            <a:extLst>
              <a:ext uri="{FF2B5EF4-FFF2-40B4-BE49-F238E27FC236}">
                <a16:creationId xmlns:a16="http://schemas.microsoft.com/office/drawing/2014/main" id="{76831D1C-5118-DF57-A578-00B3C4890DB3}"/>
              </a:ext>
            </a:extLst>
          </p:cNvPr>
          <p:cNvSpPr txBox="1"/>
          <p:nvPr/>
        </p:nvSpPr>
        <p:spPr>
          <a:xfrm>
            <a:off x="6324600" y="2273299"/>
            <a:ext cx="5143500" cy="292100"/>
          </a:xfrm>
          <a:prstGeom prst="rect">
            <a:avLst/>
          </a:prstGeom>
          <a:noFill/>
        </p:spPr>
        <p:txBody>
          <a:bodyPr vert="horz" wrap="square" lIns="0" tIns="0" rIns="0" bIns="0" rtlCol="0">
            <a:noAutofit/>
          </a:bodyPr>
          <a:lstStyle/>
          <a:p>
            <a:r>
              <a:rPr lang="en-US" sz="1700" b="1">
                <a:solidFill>
                  <a:srgbClr val="0969DA"/>
                </a:solidFill>
                <a:latin typeface="Aptos" panose="020B0004020202020204" pitchFamily="34" charset="0"/>
              </a:rPr>
              <a:t>Remediate findings</a:t>
            </a:r>
          </a:p>
        </p:txBody>
      </p:sp>
      <p:sp>
        <p:nvSpPr>
          <p:cNvPr id="33" name="Revision text 33">
            <a:extLst>
              <a:ext uri="{FF2B5EF4-FFF2-40B4-BE49-F238E27FC236}">
                <a16:creationId xmlns:a16="http://schemas.microsoft.com/office/drawing/2014/main" id="{36F87A79-9938-23EB-6D11-180FCC071C32}"/>
              </a:ext>
            </a:extLst>
          </p:cNvPr>
          <p:cNvSpPr txBox="1"/>
          <p:nvPr/>
        </p:nvSpPr>
        <p:spPr>
          <a:xfrm>
            <a:off x="6324600" y="2616199"/>
            <a:ext cx="5143500" cy="584200"/>
          </a:xfrm>
          <a:prstGeom prst="rect">
            <a:avLst/>
          </a:prstGeom>
          <a:noFill/>
        </p:spPr>
        <p:txBody>
          <a:bodyPr vert="horz" wrap="square" lIns="0" tIns="0" rIns="0" bIns="0" rtlCol="0">
            <a:noAutofit/>
          </a:bodyPr>
          <a:lstStyle/>
          <a:p>
            <a:r>
              <a:rPr lang="en-US" sz="1300">
                <a:solidFill>
                  <a:srgbClr val="0D1117"/>
                </a:solidFill>
                <a:latin typeface="Aptos" panose="020B0004020202020204" pitchFamily="34" charset="0"/>
              </a:rPr>
              <a:t>Review and remediate CodeQL/static-analysis, secret-scanning and Dependabot/dependency findings.</a:t>
            </a:r>
          </a:p>
        </p:txBody>
      </p:sp>
      <p:sp>
        <p:nvSpPr>
          <p:cNvPr id="34" name="Rectangle 33">
            <a:extLst>
              <a:ext uri="{FF2B5EF4-FFF2-40B4-BE49-F238E27FC236}">
                <a16:creationId xmlns:a16="http://schemas.microsoft.com/office/drawing/2014/main" id="{F0CC6668-4866-5E78-6DE2-CB3F2FC49AFE}"/>
              </a:ext>
            </a:extLst>
          </p:cNvPr>
          <p:cNvSpPr/>
          <p:nvPr/>
        </p:nvSpPr>
        <p:spPr>
          <a:xfrm>
            <a:off x="533400" y="3365500"/>
            <a:ext cx="5448300" cy="1054100"/>
          </a:xfrm>
          <a:prstGeom prst="rect">
            <a:avLst/>
          </a:prstGeom>
          <a:solidFill>
            <a:srgbClr val="F6F8FA"/>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vision text 35">
            <a:extLst>
              <a:ext uri="{FF2B5EF4-FFF2-40B4-BE49-F238E27FC236}">
                <a16:creationId xmlns:a16="http://schemas.microsoft.com/office/drawing/2014/main" id="{F893733F-CC6F-2F2A-B6FB-E769C15FC9F8}"/>
              </a:ext>
            </a:extLst>
          </p:cNvPr>
          <p:cNvSpPr txBox="1"/>
          <p:nvPr/>
        </p:nvSpPr>
        <p:spPr>
          <a:xfrm>
            <a:off x="685800" y="3467099"/>
            <a:ext cx="5143500" cy="292100"/>
          </a:xfrm>
          <a:prstGeom prst="rect">
            <a:avLst/>
          </a:prstGeom>
          <a:noFill/>
        </p:spPr>
        <p:txBody>
          <a:bodyPr vert="horz" wrap="square" lIns="0" tIns="0" rIns="0" bIns="0" rtlCol="0">
            <a:noAutofit/>
          </a:bodyPr>
          <a:lstStyle/>
          <a:p>
            <a:r>
              <a:rPr lang="en-US" sz="1700" b="1">
                <a:solidFill>
                  <a:srgbClr val="0969DA"/>
                </a:solidFill>
                <a:latin typeface="Aptos" panose="020B0004020202020204" pitchFamily="34" charset="0"/>
              </a:rPr>
              <a:t>Retain peer review</a:t>
            </a:r>
          </a:p>
        </p:txBody>
      </p:sp>
      <p:sp>
        <p:nvSpPr>
          <p:cNvPr id="36" name="Revision text 36">
            <a:extLst>
              <a:ext uri="{FF2B5EF4-FFF2-40B4-BE49-F238E27FC236}">
                <a16:creationId xmlns:a16="http://schemas.microsoft.com/office/drawing/2014/main" id="{E971EFDE-75CC-1348-CE93-F7874DAB23F3}"/>
              </a:ext>
            </a:extLst>
          </p:cNvPr>
          <p:cNvSpPr txBox="1"/>
          <p:nvPr/>
        </p:nvSpPr>
        <p:spPr>
          <a:xfrm>
            <a:off x="685800" y="3809999"/>
            <a:ext cx="5143500" cy="546100"/>
          </a:xfrm>
          <a:prstGeom prst="rect">
            <a:avLst/>
          </a:prstGeom>
          <a:noFill/>
        </p:spPr>
        <p:txBody>
          <a:bodyPr vert="horz" wrap="square" lIns="0" tIns="0" rIns="0" bIns="0" rtlCol="0">
            <a:noAutofit/>
          </a:bodyPr>
          <a:lstStyle/>
          <a:p>
            <a:r>
              <a:rPr lang="en-US" sz="1350">
                <a:solidFill>
                  <a:srgbClr val="0D1117"/>
                </a:solidFill>
                <a:latin typeface="Aptos" panose="020B0004020202020204" pitchFamily="34" charset="0"/>
              </a:rPr>
              <a:t>Normal PR controls, security scans and validation remain required before acceptance.</a:t>
            </a:r>
          </a:p>
        </p:txBody>
      </p:sp>
      <p:sp>
        <p:nvSpPr>
          <p:cNvPr id="37" name="Rectangle 36">
            <a:extLst>
              <a:ext uri="{FF2B5EF4-FFF2-40B4-BE49-F238E27FC236}">
                <a16:creationId xmlns:a16="http://schemas.microsoft.com/office/drawing/2014/main" id="{FFF82802-DA75-AB57-1FF6-52B0C413216B}"/>
              </a:ext>
            </a:extLst>
          </p:cNvPr>
          <p:cNvSpPr/>
          <p:nvPr/>
        </p:nvSpPr>
        <p:spPr>
          <a:xfrm>
            <a:off x="6172200" y="3365500"/>
            <a:ext cx="5448300" cy="1054100"/>
          </a:xfrm>
          <a:prstGeom prst="rect">
            <a:avLst/>
          </a:prstGeom>
          <a:solidFill>
            <a:srgbClr val="F6F8FA"/>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vision text 38">
            <a:extLst>
              <a:ext uri="{FF2B5EF4-FFF2-40B4-BE49-F238E27FC236}">
                <a16:creationId xmlns:a16="http://schemas.microsoft.com/office/drawing/2014/main" id="{49555806-A42C-A059-A18A-75FF209D02AD}"/>
              </a:ext>
            </a:extLst>
          </p:cNvPr>
          <p:cNvSpPr txBox="1"/>
          <p:nvPr/>
        </p:nvSpPr>
        <p:spPr>
          <a:xfrm>
            <a:off x="6324600" y="3467099"/>
            <a:ext cx="5143500" cy="292100"/>
          </a:xfrm>
          <a:prstGeom prst="rect">
            <a:avLst/>
          </a:prstGeom>
          <a:noFill/>
        </p:spPr>
        <p:txBody>
          <a:bodyPr vert="horz" wrap="square" lIns="0" tIns="0" rIns="0" bIns="0" rtlCol="0">
            <a:noAutofit/>
          </a:bodyPr>
          <a:lstStyle/>
          <a:p>
            <a:r>
              <a:rPr lang="en-US" sz="1700" b="1">
                <a:solidFill>
                  <a:srgbClr val="0969DA"/>
                </a:solidFill>
                <a:latin typeface="Aptos" panose="020B0004020202020204" pitchFamily="34" charset="0"/>
              </a:rPr>
              <a:t>Use approved delivery</a:t>
            </a:r>
          </a:p>
        </p:txBody>
      </p:sp>
      <p:sp>
        <p:nvSpPr>
          <p:cNvPr id="39" name="Revision text 39">
            <a:extLst>
              <a:ext uri="{FF2B5EF4-FFF2-40B4-BE49-F238E27FC236}">
                <a16:creationId xmlns:a16="http://schemas.microsoft.com/office/drawing/2014/main" id="{B04D32A6-A206-6422-3F8F-3A3DAD2EBB01}"/>
              </a:ext>
            </a:extLst>
          </p:cNvPr>
          <p:cNvSpPr txBox="1"/>
          <p:nvPr/>
        </p:nvSpPr>
        <p:spPr>
          <a:xfrm>
            <a:off x="6324600" y="3809999"/>
            <a:ext cx="5143500" cy="546100"/>
          </a:xfrm>
          <a:prstGeom prst="rect">
            <a:avLst/>
          </a:prstGeom>
          <a:noFill/>
        </p:spPr>
        <p:txBody>
          <a:bodyPr vert="horz" wrap="square" lIns="0" tIns="0" rIns="0" bIns="0" rtlCol="0">
            <a:noAutofit/>
          </a:bodyPr>
          <a:lstStyle/>
          <a:p>
            <a:r>
              <a:rPr lang="en-US" sz="1350">
                <a:solidFill>
                  <a:srgbClr val="0D1117"/>
                </a:solidFill>
                <a:latin typeface="Aptos" panose="020B0004020202020204" pitchFamily="34" charset="0"/>
              </a:rPr>
              <a:t>Build and deploy to runtime environments with Gilead-approved CI/CD pipelines.</a:t>
            </a:r>
          </a:p>
        </p:txBody>
      </p:sp>
      <p:sp>
        <p:nvSpPr>
          <p:cNvPr id="40" name="Rectangle 39">
            <a:extLst>
              <a:ext uri="{FF2B5EF4-FFF2-40B4-BE49-F238E27FC236}">
                <a16:creationId xmlns:a16="http://schemas.microsoft.com/office/drawing/2014/main" id="{D51427A2-73A4-F3AA-AB78-F1EA89C20361}"/>
              </a:ext>
            </a:extLst>
          </p:cNvPr>
          <p:cNvSpPr/>
          <p:nvPr/>
        </p:nvSpPr>
        <p:spPr>
          <a:xfrm>
            <a:off x="533400" y="4559300"/>
            <a:ext cx="5448300" cy="1054100"/>
          </a:xfrm>
          <a:prstGeom prst="rect">
            <a:avLst/>
          </a:prstGeom>
          <a:solidFill>
            <a:srgbClr val="F6F8FA"/>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vision text 41">
            <a:extLst>
              <a:ext uri="{FF2B5EF4-FFF2-40B4-BE49-F238E27FC236}">
                <a16:creationId xmlns:a16="http://schemas.microsoft.com/office/drawing/2014/main" id="{5CE2C640-FB70-9A88-C302-47DB3803FC4B}"/>
              </a:ext>
            </a:extLst>
          </p:cNvPr>
          <p:cNvSpPr txBox="1"/>
          <p:nvPr/>
        </p:nvSpPr>
        <p:spPr>
          <a:xfrm>
            <a:off x="685800" y="4660899"/>
            <a:ext cx="5143500" cy="292100"/>
          </a:xfrm>
          <a:prstGeom prst="rect">
            <a:avLst/>
          </a:prstGeom>
          <a:noFill/>
        </p:spPr>
        <p:txBody>
          <a:bodyPr vert="horz" wrap="square" lIns="0" tIns="0" rIns="0" bIns="0" rtlCol="0">
            <a:noAutofit/>
          </a:bodyPr>
          <a:lstStyle/>
          <a:p>
            <a:r>
              <a:rPr lang="en-US" sz="1700" b="1">
                <a:solidFill>
                  <a:srgbClr val="0969DA"/>
                </a:solidFill>
                <a:latin typeface="Aptos" panose="020B0004020202020204" pitchFamily="34" charset="0"/>
              </a:rPr>
              <a:t>Secure the supply chain</a:t>
            </a:r>
          </a:p>
        </p:txBody>
      </p:sp>
      <p:sp>
        <p:nvSpPr>
          <p:cNvPr id="42" name="Revision text 42">
            <a:extLst>
              <a:ext uri="{FF2B5EF4-FFF2-40B4-BE49-F238E27FC236}">
                <a16:creationId xmlns:a16="http://schemas.microsoft.com/office/drawing/2014/main" id="{6B6424B7-DDA2-DF0B-8217-1D98F5D2C4DB}"/>
              </a:ext>
            </a:extLst>
          </p:cNvPr>
          <p:cNvSpPr txBox="1"/>
          <p:nvPr/>
        </p:nvSpPr>
        <p:spPr>
          <a:xfrm>
            <a:off x="685800" y="5003799"/>
            <a:ext cx="5143500" cy="584200"/>
          </a:xfrm>
          <a:prstGeom prst="rect">
            <a:avLst/>
          </a:prstGeom>
          <a:noFill/>
        </p:spPr>
        <p:txBody>
          <a:bodyPr vert="horz" wrap="square" lIns="0" tIns="0" rIns="0" bIns="0" rtlCol="0">
            <a:noAutofit/>
          </a:bodyPr>
          <a:lstStyle/>
          <a:p>
            <a:r>
              <a:rPr lang="en-US" sz="1300">
                <a:solidFill>
                  <a:srgbClr val="0D1117"/>
                </a:solidFill>
                <a:latin typeface="Aptos" panose="020B0004020202020204" pitchFamily="34" charset="0"/>
              </a:rPr>
              <a:t>Use approved Actions/dependencies and least privilege. Direction: SHA-pinned dependencies and centrally governed rulesets.</a:t>
            </a:r>
          </a:p>
        </p:txBody>
      </p:sp>
      <p:sp>
        <p:nvSpPr>
          <p:cNvPr id="43" name="Rectangle 42">
            <a:extLst>
              <a:ext uri="{FF2B5EF4-FFF2-40B4-BE49-F238E27FC236}">
                <a16:creationId xmlns:a16="http://schemas.microsoft.com/office/drawing/2014/main" id="{7F4C4216-E191-6B7E-4F30-69602A94EAED}"/>
              </a:ext>
            </a:extLst>
          </p:cNvPr>
          <p:cNvSpPr/>
          <p:nvPr/>
        </p:nvSpPr>
        <p:spPr>
          <a:xfrm>
            <a:off x="6172200" y="4559300"/>
            <a:ext cx="5448300" cy="1054100"/>
          </a:xfrm>
          <a:prstGeom prst="rect">
            <a:avLst/>
          </a:prstGeom>
          <a:solidFill>
            <a:srgbClr val="F6F8FA"/>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vision text 44">
            <a:extLst>
              <a:ext uri="{FF2B5EF4-FFF2-40B4-BE49-F238E27FC236}">
                <a16:creationId xmlns:a16="http://schemas.microsoft.com/office/drawing/2014/main" id="{6CD5C744-E3E9-4351-41FE-64F4489095EC}"/>
              </a:ext>
            </a:extLst>
          </p:cNvPr>
          <p:cNvSpPr txBox="1"/>
          <p:nvPr/>
        </p:nvSpPr>
        <p:spPr>
          <a:xfrm>
            <a:off x="6324600" y="4660899"/>
            <a:ext cx="5143500" cy="292100"/>
          </a:xfrm>
          <a:prstGeom prst="rect">
            <a:avLst/>
          </a:prstGeom>
          <a:noFill/>
        </p:spPr>
        <p:txBody>
          <a:bodyPr vert="horz" wrap="square" lIns="0" tIns="0" rIns="0" bIns="0" rtlCol="0">
            <a:noAutofit/>
          </a:bodyPr>
          <a:lstStyle/>
          <a:p>
            <a:r>
              <a:rPr lang="en-US" sz="1700" b="1">
                <a:solidFill>
                  <a:srgbClr val="0969DA"/>
                </a:solidFill>
                <a:latin typeface="Aptos" panose="020B0004020202020204" pitchFamily="34" charset="0"/>
              </a:rPr>
              <a:t>Respect Gilead boundaries</a:t>
            </a:r>
          </a:p>
        </p:txBody>
      </p:sp>
      <p:sp>
        <p:nvSpPr>
          <p:cNvPr id="45" name="Revision text 45">
            <a:extLst>
              <a:ext uri="{FF2B5EF4-FFF2-40B4-BE49-F238E27FC236}">
                <a16:creationId xmlns:a16="http://schemas.microsoft.com/office/drawing/2014/main" id="{AAF8CB07-69AD-9E98-B789-24C8E6F7DD46}"/>
              </a:ext>
            </a:extLst>
          </p:cNvPr>
          <p:cNvSpPr txBox="1"/>
          <p:nvPr/>
        </p:nvSpPr>
        <p:spPr>
          <a:xfrm>
            <a:off x="6324600" y="5003799"/>
            <a:ext cx="5143500" cy="584200"/>
          </a:xfrm>
          <a:prstGeom prst="rect">
            <a:avLst/>
          </a:prstGeom>
          <a:noFill/>
        </p:spPr>
        <p:txBody>
          <a:bodyPr vert="horz" wrap="square" lIns="0" tIns="0" rIns="0" bIns="0" rtlCol="0">
            <a:noAutofit/>
          </a:bodyPr>
          <a:lstStyle/>
          <a:p>
            <a:r>
              <a:rPr lang="en-US" sz="1300">
                <a:solidFill>
                  <a:srgbClr val="0D1117"/>
                </a:solidFill>
                <a:latin typeface="Aptos" panose="020B0004020202020204" pitchFamily="34" charset="0"/>
              </a:rPr>
              <a:t>Follow GVault policy for all third-party dependencies. Gilead code/data stay in Gilead-managed repos; EMU aims to prevent public sharing.</a:t>
            </a:r>
          </a:p>
        </p:txBody>
      </p:sp>
      <p:sp>
        <p:nvSpPr>
          <p:cNvPr id="46" name="Rectangle 45">
            <a:extLst>
              <a:ext uri="{FF2B5EF4-FFF2-40B4-BE49-F238E27FC236}">
                <a16:creationId xmlns:a16="http://schemas.microsoft.com/office/drawing/2014/main" id="{4A45EA7C-4B45-F129-5C23-65D48B5D2731}"/>
              </a:ext>
            </a:extLst>
          </p:cNvPr>
          <p:cNvSpPr/>
          <p:nvPr/>
        </p:nvSpPr>
        <p:spPr>
          <a:xfrm>
            <a:off x="533400" y="5905500"/>
            <a:ext cx="11074400" cy="381000"/>
          </a:xfrm>
          <a:prstGeom prst="rect">
            <a:avLst/>
          </a:prstGeom>
          <a:solidFill>
            <a:srgbClr val="F0F3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vision text 47">
            <a:extLst>
              <a:ext uri="{FF2B5EF4-FFF2-40B4-BE49-F238E27FC236}">
                <a16:creationId xmlns:a16="http://schemas.microsoft.com/office/drawing/2014/main" id="{3D2BE70E-4B78-C7AD-4F6F-AEEFA8D96F55}"/>
              </a:ext>
            </a:extLst>
          </p:cNvPr>
          <p:cNvSpPr txBox="1"/>
          <p:nvPr/>
        </p:nvSpPr>
        <p:spPr>
          <a:xfrm>
            <a:off x="685800" y="5994400"/>
            <a:ext cx="10769600" cy="254000"/>
          </a:xfrm>
          <a:prstGeom prst="rect">
            <a:avLst/>
          </a:prstGeom>
          <a:noFill/>
        </p:spPr>
        <p:txBody>
          <a:bodyPr vert="horz" wrap="square" lIns="0" tIns="0" rIns="0" bIns="0" rtlCol="0">
            <a:noAutofit/>
          </a:bodyPr>
          <a:lstStyle/>
          <a:p>
            <a:r>
              <a:rPr lang="en-US" sz="1200" b="1">
                <a:solidFill>
                  <a:srgbClr val="0969DA"/>
                </a:solidFill>
                <a:latin typeface="Aptos" panose="020B0004020202020204" pitchFamily="34" charset="0"/>
              </a:rPr>
              <a:t>Synthetic workshop data only. GitHub does not replace Gilead SOPs or formal approval.</a:t>
            </a:r>
          </a:p>
        </p:txBody>
      </p:sp>
    </p:spTree>
    <p:extLst>
      <p:ext uri="{BB962C8B-B14F-4D97-AF65-F5344CB8AC3E}">
        <p14:creationId xmlns:p14="http://schemas.microsoft.com/office/powerpoint/2010/main" val="2249161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F6F8FA"/>
        </a:solidFill>
        <a:effectLst/>
      </p:bgPr>
    </p:bg>
    <p:spTree>
      <p:nvGrpSpPr>
        <p:cNvPr id="1" name=""/>
        <p:cNvGrpSpPr/>
        <p:nvPr/>
      </p:nvGrpSpPr>
      <p:grpSpPr>
        <a:xfrm>
          <a:off x="0" y="0"/>
          <a:ext cx="0" cy="0"/>
          <a:chOff x="0" y="0"/>
          <a:chExt cx="0" cy="0"/>
        </a:xfrm>
      </p:grpSpPr>
      <p:sp>
        <p:nvSpPr>
          <p:cNvPr id="2" name="Shape 0"/>
          <p:cNvSpPr/>
          <p:nvPr/>
        </p:nvSpPr>
        <p:spPr>
          <a:xfrm>
            <a:off x="475488" y="347472"/>
            <a:ext cx="347472" cy="347472"/>
          </a:xfrm>
          <a:prstGeom prst="ellipse">
            <a:avLst/>
          </a:prstGeom>
          <a:solidFill>
            <a:srgbClr val="0D1117"/>
          </a:solidFill>
          <a:ln w="12700">
            <a:solidFill>
              <a:srgbClr val="0D1117">
                <a:alpha val="0"/>
              </a:srgbClr>
            </a:solidFill>
            <a:prstDash val="solid"/>
          </a:ln>
        </p:spPr>
        <p:txBody>
          <a:bodyPr/>
          <a:lstStyle/>
          <a:p>
            <a:endParaRPr lang="en-US"/>
          </a:p>
        </p:txBody>
      </p:sp>
      <p:pic>
        <p:nvPicPr>
          <p:cNvPr id="3" name="Image 0" descr="/Users/alysiabrown/sandbox/copilot-worktrees/acb-workbench/abrown152-turbo-winner/generated-assets/gilead-sciences-inc/dss-2026/assets/github-mark.png"/>
          <p:cNvPicPr>
            <a:picLocks noChangeAspect="1"/>
          </p:cNvPicPr>
          <p:nvPr/>
        </p:nvPicPr>
        <p:blipFill>
          <a:blip r:embed="rId3"/>
          <a:stretch>
            <a:fillRect/>
          </a:stretch>
        </p:blipFill>
        <p:spPr>
          <a:xfrm>
            <a:off x="525780" y="397764"/>
            <a:ext cx="246888" cy="246888"/>
          </a:xfrm>
          <a:prstGeom prst="rect">
            <a:avLst/>
          </a:prstGeom>
        </p:spPr>
      </p:pic>
      <p:sp>
        <p:nvSpPr>
          <p:cNvPr id="4" name="Text 1"/>
          <p:cNvSpPr/>
          <p:nvPr/>
        </p:nvSpPr>
        <p:spPr>
          <a:xfrm>
            <a:off x="896112" y="356616"/>
            <a:ext cx="960120" cy="256032"/>
          </a:xfrm>
          <a:prstGeom prst="rect">
            <a:avLst/>
          </a:prstGeom>
          <a:noFill/>
          <a:ln/>
        </p:spPr>
        <p:txBody>
          <a:bodyPr wrap="square" lIns="0" tIns="0" rIns="0" bIns="0" rtlCol="0" anchor="ctr"/>
          <a:lstStyle/>
          <a:p>
            <a:pPr marL="0" indent="0">
              <a:buNone/>
            </a:pPr>
            <a:r>
              <a:rPr lang="en-US" sz="1700" b="1" dirty="0">
                <a:solidFill>
                  <a:srgbClr val="0D1117"/>
                </a:solidFill>
                <a:latin typeface="Aptos Display" pitchFamily="34" charset="0"/>
                <a:ea typeface="Aptos Display" pitchFamily="34" charset="-122"/>
                <a:cs typeface="Aptos Display" pitchFamily="34" charset="-120"/>
              </a:rPr>
              <a:t>GitHub</a:t>
            </a:r>
            <a:endParaRPr lang="en-US" sz="1700" dirty="0"/>
          </a:p>
        </p:txBody>
      </p:sp>
      <p:sp>
        <p:nvSpPr>
          <p:cNvPr id="24" name="Text 21"/>
          <p:cNvSpPr/>
          <p:nvPr/>
        </p:nvSpPr>
        <p:spPr>
          <a:xfrm>
            <a:off x="502920" y="6519672"/>
            <a:ext cx="3840480" cy="146304"/>
          </a:xfrm>
          <a:prstGeom prst="rect">
            <a:avLst/>
          </a:prstGeom>
          <a:noFill/>
          <a:ln/>
        </p:spPr>
        <p:txBody>
          <a:bodyPr wrap="square" lIns="0" tIns="0" rIns="0" bIns="0" rtlCol="0" anchor="ctr"/>
          <a:lstStyle/>
          <a:p>
            <a:pPr marL="0" indent="0">
              <a:buNone/>
            </a:pPr>
            <a:r>
              <a:rPr lang="en-US" sz="800" dirty="0">
                <a:solidFill>
                  <a:srgbClr val="8C959F"/>
                </a:solidFill>
                <a:latin typeface="Aptos" pitchFamily="34" charset="0"/>
                <a:ea typeface="Aptos" pitchFamily="34" charset="-122"/>
                <a:cs typeface="Aptos" pitchFamily="34" charset="-120"/>
              </a:rPr>
              <a:t>GitHub Foundations | Gilead DSS</a:t>
            </a:r>
            <a:endParaRPr lang="en-US" sz="800" dirty="0"/>
          </a:p>
        </p:txBody>
      </p:sp>
      <p:sp>
        <p:nvSpPr>
          <p:cNvPr id="25" name="Text 22">
            <a:hlinkClick r:id="rId4"/>
          </p:cNvPr>
          <p:cNvSpPr/>
          <p:nvPr/>
        </p:nvSpPr>
        <p:spPr>
          <a:xfrm>
            <a:off x="5623560" y="6519672"/>
            <a:ext cx="5897880" cy="146304"/>
          </a:xfrm>
          <a:prstGeom prst="rect">
            <a:avLst/>
          </a:prstGeom>
          <a:noFill/>
          <a:ln/>
        </p:spPr>
        <p:txBody>
          <a:bodyPr wrap="square" lIns="0" tIns="0" rIns="0" bIns="0" rtlCol="0" anchor="ctr"/>
          <a:lstStyle/>
          <a:p>
            <a:pPr marL="0" indent="0" algn="r">
              <a:buNone/>
            </a:pPr>
            <a:r>
              <a:rPr lang="en-US" sz="800" u="sng" dirty="0">
                <a:solidFill>
                  <a:srgbClr val="8C959F"/>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github.com/johnsont1693/scientific-workflow-workshop</a:t>
            </a:r>
            <a:endParaRPr lang="en-US" sz="800" dirty="0"/>
          </a:p>
        </p:txBody>
      </p:sp>
      <p:sp>
        <p:nvSpPr>
          <p:cNvPr id="26" name="Revision text 26">
            <a:extLst>
              <a:ext uri="{FF2B5EF4-FFF2-40B4-BE49-F238E27FC236}">
                <a16:creationId xmlns:a16="http://schemas.microsoft.com/office/drawing/2014/main" id="{CA310FFA-9B8F-527E-A276-EE3E6EA03713}"/>
              </a:ext>
            </a:extLst>
          </p:cNvPr>
          <p:cNvSpPr txBox="1"/>
          <p:nvPr/>
        </p:nvSpPr>
        <p:spPr>
          <a:xfrm>
            <a:off x="512064" y="932688"/>
            <a:ext cx="10922000" cy="228600"/>
          </a:xfrm>
          <a:prstGeom prst="rect">
            <a:avLst/>
          </a:prstGeom>
          <a:noFill/>
        </p:spPr>
        <p:txBody>
          <a:bodyPr vert="horz" wrap="square" lIns="0" tIns="0" rIns="0" bIns="0" rtlCol="0">
            <a:noAutofit/>
          </a:bodyPr>
          <a:lstStyle/>
          <a:p>
            <a:r>
              <a:rPr lang="en-US" sz="1000" b="1">
                <a:solidFill>
                  <a:srgbClr val="0969DA"/>
                </a:solidFill>
                <a:latin typeface="Aptos" panose="020B0004020202020204" pitchFamily="34" charset="0"/>
              </a:rPr>
              <a:t>PARTICIPANT ACCESS</a:t>
            </a:r>
          </a:p>
        </p:txBody>
      </p:sp>
      <p:sp>
        <p:nvSpPr>
          <p:cNvPr id="27" name="Revision text 27">
            <a:extLst>
              <a:ext uri="{FF2B5EF4-FFF2-40B4-BE49-F238E27FC236}">
                <a16:creationId xmlns:a16="http://schemas.microsoft.com/office/drawing/2014/main" id="{DEA12981-AB78-3EBC-B089-BD76DFFD6AC7}"/>
              </a:ext>
            </a:extLst>
          </p:cNvPr>
          <p:cNvSpPr txBox="1"/>
          <p:nvPr/>
        </p:nvSpPr>
        <p:spPr>
          <a:xfrm>
            <a:off x="512064" y="1231899"/>
            <a:ext cx="11049000" cy="736600"/>
          </a:xfrm>
          <a:prstGeom prst="rect">
            <a:avLst/>
          </a:prstGeom>
          <a:noFill/>
        </p:spPr>
        <p:txBody>
          <a:bodyPr vert="horz" wrap="square" lIns="0" tIns="0" rIns="0" bIns="0" rtlCol="0">
            <a:noAutofit/>
          </a:bodyPr>
          <a:lstStyle/>
          <a:p>
            <a:r>
              <a:rPr lang="en-US" sz="2900" b="1">
                <a:solidFill>
                  <a:srgbClr val="0D1117"/>
                </a:solidFill>
                <a:latin typeface="Aptos" panose="020B0004020202020204" pitchFamily="34" charset="0"/>
              </a:rPr>
              <a:t>Read the reference. Fork for today's lab.</a:t>
            </a:r>
          </a:p>
        </p:txBody>
      </p:sp>
      <p:sp>
        <p:nvSpPr>
          <p:cNvPr id="28" name="Rectangle 27">
            <a:extLst>
              <a:ext uri="{FF2B5EF4-FFF2-40B4-BE49-F238E27FC236}">
                <a16:creationId xmlns:a16="http://schemas.microsoft.com/office/drawing/2014/main" id="{7A248761-D63E-29F9-C3DF-D0B7B67C4627}"/>
              </a:ext>
            </a:extLst>
          </p:cNvPr>
          <p:cNvSpPr/>
          <p:nvPr/>
        </p:nvSpPr>
        <p:spPr>
          <a:xfrm>
            <a:off x="533400" y="2260600"/>
            <a:ext cx="3568700" cy="3238500"/>
          </a:xfrm>
          <a:prstGeom prst="rect">
            <a:avLst/>
          </a:prstGeom>
          <a:solidFill>
            <a:srgbClr val="F6F8FA"/>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vision text 29">
            <a:extLst>
              <a:ext uri="{FF2B5EF4-FFF2-40B4-BE49-F238E27FC236}">
                <a16:creationId xmlns:a16="http://schemas.microsoft.com/office/drawing/2014/main" id="{72DB0A7A-4A03-5F8F-FF19-E1A1DC536CFE}"/>
              </a:ext>
            </a:extLst>
          </p:cNvPr>
          <p:cNvSpPr txBox="1"/>
          <p:nvPr/>
        </p:nvSpPr>
        <p:spPr>
          <a:xfrm>
            <a:off x="711200" y="2451099"/>
            <a:ext cx="3200400" cy="381000"/>
          </a:xfrm>
          <a:prstGeom prst="rect">
            <a:avLst/>
          </a:prstGeom>
          <a:noFill/>
        </p:spPr>
        <p:txBody>
          <a:bodyPr vert="horz" wrap="square" lIns="0" tIns="0" rIns="0" bIns="0" rtlCol="0">
            <a:noAutofit/>
          </a:bodyPr>
          <a:lstStyle/>
          <a:p>
            <a:r>
              <a:rPr lang="en-US" sz="1900" b="1">
                <a:solidFill>
                  <a:srgbClr val="0969DA"/>
                </a:solidFill>
                <a:latin typeface="Aptos" panose="020B0004020202020204" pitchFamily="34" charset="0"/>
              </a:rPr>
              <a:t>Reference</a:t>
            </a:r>
          </a:p>
        </p:txBody>
      </p:sp>
      <p:sp>
        <p:nvSpPr>
          <p:cNvPr id="30" name="Revision text 30">
            <a:extLst>
              <a:ext uri="{FF2B5EF4-FFF2-40B4-BE49-F238E27FC236}">
                <a16:creationId xmlns:a16="http://schemas.microsoft.com/office/drawing/2014/main" id="{A5C4B7D1-706B-AF0C-3C63-B2D358287BEB}"/>
              </a:ext>
            </a:extLst>
          </p:cNvPr>
          <p:cNvSpPr txBox="1"/>
          <p:nvPr/>
        </p:nvSpPr>
        <p:spPr>
          <a:xfrm>
            <a:off x="711200" y="3022599"/>
            <a:ext cx="3200400" cy="2311400"/>
          </a:xfrm>
          <a:prstGeom prst="rect">
            <a:avLst/>
          </a:prstGeom>
          <a:noFill/>
        </p:spPr>
        <p:txBody>
          <a:bodyPr vert="horz" wrap="square" lIns="0" tIns="0" rIns="0" bIns="0" rtlCol="0">
            <a:noAutofit/>
          </a:bodyPr>
          <a:lstStyle/>
          <a:p>
            <a:r>
              <a:rPr lang="en-US" sz="1600">
                <a:solidFill>
                  <a:srgbClr val="0D1117"/>
                </a:solidFill>
                <a:latin typeface="Aptos" panose="020B0004020202020204" pitchFamily="34" charset="0"/>
              </a:rPr>
              <a:t>Thomas's teaching repo is public.</a:t>
            </a:r>
          </a:p>
          <a:p>
            <a:r>
              <a:rPr lang="en-US" sz="1600">
                <a:solidFill>
                  <a:srgbClr val="0D1117"/>
                </a:solidFill>
                <a:latin typeface="Aptos" panose="020B0004020202020204" pitchFamily="34" charset="0"/>
              </a:rPr>
              <a:t>Anyone can read it; public does not mean write access.</a:t>
            </a:r>
          </a:p>
        </p:txBody>
      </p:sp>
      <p:sp>
        <p:nvSpPr>
          <p:cNvPr id="31" name="Rectangle 30">
            <a:extLst>
              <a:ext uri="{FF2B5EF4-FFF2-40B4-BE49-F238E27FC236}">
                <a16:creationId xmlns:a16="http://schemas.microsoft.com/office/drawing/2014/main" id="{4A24E68C-F521-B973-35AD-56BA415D8921}"/>
              </a:ext>
            </a:extLst>
          </p:cNvPr>
          <p:cNvSpPr/>
          <p:nvPr/>
        </p:nvSpPr>
        <p:spPr>
          <a:xfrm>
            <a:off x="4279900" y="2260600"/>
            <a:ext cx="3568700" cy="3238500"/>
          </a:xfrm>
          <a:prstGeom prst="rect">
            <a:avLst/>
          </a:prstGeom>
          <a:solidFill>
            <a:srgbClr val="F6F8FA"/>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vision text 32">
            <a:extLst>
              <a:ext uri="{FF2B5EF4-FFF2-40B4-BE49-F238E27FC236}">
                <a16:creationId xmlns:a16="http://schemas.microsoft.com/office/drawing/2014/main" id="{6F16EFC4-F322-6B91-908B-813CBE14A8D7}"/>
              </a:ext>
            </a:extLst>
          </p:cNvPr>
          <p:cNvSpPr txBox="1"/>
          <p:nvPr/>
        </p:nvSpPr>
        <p:spPr>
          <a:xfrm>
            <a:off x="4457700" y="2451099"/>
            <a:ext cx="3200400" cy="381000"/>
          </a:xfrm>
          <a:prstGeom prst="rect">
            <a:avLst/>
          </a:prstGeom>
          <a:noFill/>
        </p:spPr>
        <p:txBody>
          <a:bodyPr vert="horz" wrap="square" lIns="0" tIns="0" rIns="0" bIns="0" rtlCol="0">
            <a:noAutofit/>
          </a:bodyPr>
          <a:lstStyle/>
          <a:p>
            <a:r>
              <a:rPr lang="en-US" sz="1900" b="1">
                <a:solidFill>
                  <a:srgbClr val="0969DA"/>
                </a:solidFill>
                <a:latin typeface="Aptos" panose="020B0004020202020204" pitchFamily="34" charset="0"/>
              </a:rPr>
              <a:t>Working repository</a:t>
            </a:r>
          </a:p>
        </p:txBody>
      </p:sp>
      <p:sp>
        <p:nvSpPr>
          <p:cNvPr id="33" name="Revision text 33">
            <a:extLst>
              <a:ext uri="{FF2B5EF4-FFF2-40B4-BE49-F238E27FC236}">
                <a16:creationId xmlns:a16="http://schemas.microsoft.com/office/drawing/2014/main" id="{6E7DA89C-59D4-C35F-7D76-7714FC02A9C8}"/>
              </a:ext>
            </a:extLst>
          </p:cNvPr>
          <p:cNvSpPr txBox="1"/>
          <p:nvPr/>
        </p:nvSpPr>
        <p:spPr>
          <a:xfrm>
            <a:off x="4457700" y="3022599"/>
            <a:ext cx="3200400" cy="2311400"/>
          </a:xfrm>
          <a:prstGeom prst="rect">
            <a:avLst/>
          </a:prstGeom>
          <a:noFill/>
        </p:spPr>
        <p:txBody>
          <a:bodyPr vert="horz" wrap="square" lIns="0" tIns="0" rIns="0" bIns="0" rtlCol="0">
            <a:noAutofit/>
          </a:bodyPr>
          <a:lstStyle/>
          <a:p>
            <a:r>
              <a:rPr lang="en-US" sz="1600">
                <a:solidFill>
                  <a:srgbClr val="0D1117"/>
                </a:solidFill>
                <a:latin typeface="Aptos" panose="020B0004020202020204" pitchFamily="34" charset="0"/>
              </a:rPr>
              <a:t>Today: fork the synthetic teaching repo to an approved account or organization.</a:t>
            </a:r>
          </a:p>
          <a:p>
            <a:r>
              <a:rPr lang="en-US" sz="1600">
                <a:solidFill>
                  <a:srgbClr val="0D1117"/>
                </a:solidFill>
                <a:latin typeface="Aptos" panose="020B0004020202020204" pitchFamily="34" charset="0"/>
              </a:rPr>
              <a:t>Work on a branch in your fork; target your own fork with the lab PR.</a:t>
            </a:r>
          </a:p>
        </p:txBody>
      </p:sp>
      <p:sp>
        <p:nvSpPr>
          <p:cNvPr id="34" name="Rectangle 33">
            <a:extLst>
              <a:ext uri="{FF2B5EF4-FFF2-40B4-BE49-F238E27FC236}">
                <a16:creationId xmlns:a16="http://schemas.microsoft.com/office/drawing/2014/main" id="{F1FC1107-FEF5-73B5-48AB-58328E9A93E9}"/>
              </a:ext>
            </a:extLst>
          </p:cNvPr>
          <p:cNvSpPr/>
          <p:nvPr/>
        </p:nvSpPr>
        <p:spPr>
          <a:xfrm>
            <a:off x="8026400" y="2260600"/>
            <a:ext cx="3568700" cy="3238500"/>
          </a:xfrm>
          <a:prstGeom prst="rect">
            <a:avLst/>
          </a:prstGeom>
          <a:solidFill>
            <a:srgbClr val="F6F8FA"/>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vision text 35">
            <a:extLst>
              <a:ext uri="{FF2B5EF4-FFF2-40B4-BE49-F238E27FC236}">
                <a16:creationId xmlns:a16="http://schemas.microsoft.com/office/drawing/2014/main" id="{7DD9B138-1866-2098-AAB7-3F3EA8ACECA4}"/>
              </a:ext>
            </a:extLst>
          </p:cNvPr>
          <p:cNvSpPr txBox="1"/>
          <p:nvPr/>
        </p:nvSpPr>
        <p:spPr>
          <a:xfrm>
            <a:off x="8204200" y="2451099"/>
            <a:ext cx="3200400" cy="381000"/>
          </a:xfrm>
          <a:prstGeom prst="rect">
            <a:avLst/>
          </a:prstGeom>
          <a:noFill/>
        </p:spPr>
        <p:txBody>
          <a:bodyPr vert="horz" wrap="square" lIns="0" tIns="0" rIns="0" bIns="0" rtlCol="0">
            <a:noAutofit/>
          </a:bodyPr>
          <a:lstStyle/>
          <a:p>
            <a:r>
              <a:rPr lang="en-US" sz="1900" b="1">
                <a:solidFill>
                  <a:srgbClr val="0969DA"/>
                </a:solidFill>
                <a:latin typeface="Aptos" panose="020B0004020202020204" pitchFamily="34" charset="0"/>
              </a:rPr>
              <a:t>Browser-first</a:t>
            </a:r>
          </a:p>
        </p:txBody>
      </p:sp>
      <p:sp>
        <p:nvSpPr>
          <p:cNvPr id="36" name="Revision text 36">
            <a:extLst>
              <a:ext uri="{FF2B5EF4-FFF2-40B4-BE49-F238E27FC236}">
                <a16:creationId xmlns:a16="http://schemas.microsoft.com/office/drawing/2014/main" id="{AF1A6F62-9F67-8CF8-9726-1D0A32DF3352}"/>
              </a:ext>
            </a:extLst>
          </p:cNvPr>
          <p:cNvSpPr txBox="1"/>
          <p:nvPr/>
        </p:nvSpPr>
        <p:spPr>
          <a:xfrm>
            <a:off x="8204200" y="3022599"/>
            <a:ext cx="3200400" cy="2311400"/>
          </a:xfrm>
          <a:prstGeom prst="rect">
            <a:avLst/>
          </a:prstGeom>
          <a:noFill/>
        </p:spPr>
        <p:txBody>
          <a:bodyPr vert="horz" wrap="square" lIns="0" tIns="0" rIns="0" bIns="0" rtlCol="0">
            <a:noAutofit/>
          </a:bodyPr>
          <a:lstStyle/>
          <a:p>
            <a:r>
              <a:rPr lang="en-US" sz="1600">
                <a:solidFill>
                  <a:srgbClr val="0D1117"/>
                </a:solidFill>
                <a:latin typeface="Aptos" panose="020B0004020202020204" pitchFamily="34" charset="0"/>
              </a:rPr>
              <a:t>Foundations needs only an approved browser and repo access.</a:t>
            </a:r>
          </a:p>
          <a:p>
            <a:r>
              <a:rPr lang="en-US" sz="1600">
                <a:solidFill>
                  <a:srgbClr val="0D1117"/>
                </a:solidFill>
                <a:latin typeface="Aptos" panose="020B0004020202020204" pitchFamily="34" charset="0"/>
              </a:rPr>
              <a:t>No local IDE, Git runtime or Copilot license required.</a:t>
            </a:r>
          </a:p>
        </p:txBody>
      </p:sp>
      <p:sp>
        <p:nvSpPr>
          <p:cNvPr id="37" name="Rectangle 36">
            <a:extLst>
              <a:ext uri="{FF2B5EF4-FFF2-40B4-BE49-F238E27FC236}">
                <a16:creationId xmlns:a16="http://schemas.microsoft.com/office/drawing/2014/main" id="{7CC2E29B-3054-1DA4-91AB-E0DF98CA6712}"/>
              </a:ext>
            </a:extLst>
          </p:cNvPr>
          <p:cNvSpPr/>
          <p:nvPr/>
        </p:nvSpPr>
        <p:spPr>
          <a:xfrm>
            <a:off x="533400" y="5905500"/>
            <a:ext cx="11074400" cy="381000"/>
          </a:xfrm>
          <a:prstGeom prst="rect">
            <a:avLst/>
          </a:prstGeom>
          <a:solidFill>
            <a:srgbClr val="F0F3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vision text 38">
            <a:extLst>
              <a:ext uri="{FF2B5EF4-FFF2-40B4-BE49-F238E27FC236}">
                <a16:creationId xmlns:a16="http://schemas.microsoft.com/office/drawing/2014/main" id="{3D3CF43C-874C-31E3-1D00-29732E5CC360}"/>
              </a:ext>
            </a:extLst>
          </p:cNvPr>
          <p:cNvSpPr txBox="1"/>
          <p:nvPr/>
        </p:nvSpPr>
        <p:spPr>
          <a:xfrm>
            <a:off x="685800" y="5994400"/>
            <a:ext cx="10769600" cy="406400"/>
          </a:xfrm>
          <a:prstGeom prst="rect">
            <a:avLst/>
          </a:prstGeom>
          <a:noFill/>
        </p:spPr>
        <p:txBody>
          <a:bodyPr vert="horz" wrap="square" lIns="0" tIns="0" rIns="0" bIns="0" rtlCol="0">
            <a:noAutofit/>
          </a:bodyPr>
          <a:lstStyle/>
          <a:p>
            <a:r>
              <a:rPr lang="en-US" sz="1200" b="1">
                <a:solidFill>
                  <a:srgbClr val="0969DA"/>
                </a:solidFill>
                <a:latin typeface="Aptos" panose="020B0004020202020204" pitchFamily="34" charset="0"/>
              </a:rPr>
              <a:t>Fork only where policy permits. If blocked, use an approved internal copy or pair/observe.</a:t>
            </a:r>
          </a:p>
        </p:txBody>
      </p:sp>
    </p:spTree>
    <p:extLst>
      <p:ext uri="{BB962C8B-B14F-4D97-AF65-F5344CB8AC3E}">
        <p14:creationId xmlns:p14="http://schemas.microsoft.com/office/powerpoint/2010/main" val="192896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bg>
      <p:bgPr>
        <a:solidFill>
          <a:srgbClr val="F6F8FA"/>
        </a:solidFill>
        <a:effectLst/>
      </p:bgPr>
    </p:bg>
    <p:spTree>
      <p:nvGrpSpPr>
        <p:cNvPr id="1" name=""/>
        <p:cNvGrpSpPr/>
        <p:nvPr/>
      </p:nvGrpSpPr>
      <p:grpSpPr>
        <a:xfrm>
          <a:off x="0" y="0"/>
          <a:ext cx="0" cy="0"/>
          <a:chOff x="0" y="0"/>
          <a:chExt cx="0" cy="0"/>
        </a:xfrm>
      </p:grpSpPr>
      <p:sp>
        <p:nvSpPr>
          <p:cNvPr id="2" name="Shape 0"/>
          <p:cNvSpPr/>
          <p:nvPr/>
        </p:nvSpPr>
        <p:spPr>
          <a:xfrm>
            <a:off x="475488" y="347472"/>
            <a:ext cx="347472" cy="347472"/>
          </a:xfrm>
          <a:prstGeom prst="ellipse">
            <a:avLst/>
          </a:prstGeom>
          <a:solidFill>
            <a:srgbClr val="0D1117"/>
          </a:solidFill>
          <a:ln w="12700">
            <a:solidFill>
              <a:srgbClr val="0D1117">
                <a:alpha val="0"/>
              </a:srgbClr>
            </a:solidFill>
            <a:prstDash val="solid"/>
          </a:ln>
        </p:spPr>
        <p:txBody>
          <a:bodyPr/>
          <a:lstStyle/>
          <a:p>
            <a:endParaRPr lang="en-US"/>
          </a:p>
        </p:txBody>
      </p:sp>
      <p:pic>
        <p:nvPicPr>
          <p:cNvPr id="3" name="Image 0" descr="/Users/alysiabrown/sandbox/copilot-worktrees/acb-workbench/abrown152-turbo-winner/generated-assets/gilead-sciences-inc/dss-2026/assets/github-mark.png"/>
          <p:cNvPicPr>
            <a:picLocks noChangeAspect="1"/>
          </p:cNvPicPr>
          <p:nvPr/>
        </p:nvPicPr>
        <p:blipFill>
          <a:blip r:embed="rId3"/>
          <a:stretch>
            <a:fillRect/>
          </a:stretch>
        </p:blipFill>
        <p:spPr>
          <a:xfrm>
            <a:off x="525780" y="397764"/>
            <a:ext cx="246888" cy="246888"/>
          </a:xfrm>
          <a:prstGeom prst="rect">
            <a:avLst/>
          </a:prstGeom>
        </p:spPr>
      </p:pic>
      <p:sp>
        <p:nvSpPr>
          <p:cNvPr id="4" name="Text 1"/>
          <p:cNvSpPr/>
          <p:nvPr/>
        </p:nvSpPr>
        <p:spPr>
          <a:xfrm>
            <a:off x="896112" y="356616"/>
            <a:ext cx="960120" cy="256032"/>
          </a:xfrm>
          <a:prstGeom prst="rect">
            <a:avLst/>
          </a:prstGeom>
          <a:noFill/>
          <a:ln/>
        </p:spPr>
        <p:txBody>
          <a:bodyPr wrap="square" lIns="0" tIns="0" rIns="0" bIns="0" rtlCol="0" anchor="ctr"/>
          <a:lstStyle/>
          <a:p>
            <a:pPr marL="0" indent="0">
              <a:buNone/>
            </a:pPr>
            <a:r>
              <a:rPr lang="en-US" sz="1700" b="1" dirty="0">
                <a:solidFill>
                  <a:srgbClr val="0D1117"/>
                </a:solidFill>
                <a:latin typeface="Aptos Display" pitchFamily="34" charset="0"/>
                <a:ea typeface="Aptos Display" pitchFamily="34" charset="-122"/>
                <a:cs typeface="Aptos Display" pitchFamily="34" charset="-120"/>
              </a:rPr>
              <a:t>GitHub</a:t>
            </a:r>
            <a:endParaRPr lang="en-US" sz="1700" dirty="0"/>
          </a:p>
        </p:txBody>
      </p:sp>
      <p:sp>
        <p:nvSpPr>
          <p:cNvPr id="24" name="Text 21"/>
          <p:cNvSpPr/>
          <p:nvPr/>
        </p:nvSpPr>
        <p:spPr>
          <a:xfrm>
            <a:off x="502920" y="6519672"/>
            <a:ext cx="3840480" cy="146304"/>
          </a:xfrm>
          <a:prstGeom prst="rect">
            <a:avLst/>
          </a:prstGeom>
          <a:noFill/>
          <a:ln/>
        </p:spPr>
        <p:txBody>
          <a:bodyPr wrap="square" lIns="0" tIns="0" rIns="0" bIns="0" rtlCol="0" anchor="ctr"/>
          <a:lstStyle/>
          <a:p>
            <a:pPr marL="0" indent="0">
              <a:buNone/>
            </a:pPr>
            <a:r>
              <a:rPr lang="en-US" sz="800" dirty="0">
                <a:solidFill>
                  <a:srgbClr val="8C959F"/>
                </a:solidFill>
                <a:latin typeface="Aptos" pitchFamily="34" charset="0"/>
                <a:ea typeface="Aptos" pitchFamily="34" charset="-122"/>
                <a:cs typeface="Aptos" pitchFamily="34" charset="-120"/>
              </a:rPr>
              <a:t>GitHub Foundations | Gilead DSS</a:t>
            </a:r>
            <a:endParaRPr lang="en-US" sz="800" dirty="0"/>
          </a:p>
        </p:txBody>
      </p:sp>
      <p:sp>
        <p:nvSpPr>
          <p:cNvPr id="25" name="Text 22">
            <a:hlinkClick r:id="rId4"/>
          </p:cNvPr>
          <p:cNvSpPr/>
          <p:nvPr/>
        </p:nvSpPr>
        <p:spPr>
          <a:xfrm>
            <a:off x="5623560" y="6519672"/>
            <a:ext cx="5897880" cy="146304"/>
          </a:xfrm>
          <a:prstGeom prst="rect">
            <a:avLst/>
          </a:prstGeom>
          <a:noFill/>
          <a:ln/>
        </p:spPr>
        <p:txBody>
          <a:bodyPr wrap="square" lIns="0" tIns="0" rIns="0" bIns="0" rtlCol="0" anchor="ctr"/>
          <a:lstStyle/>
          <a:p>
            <a:pPr marL="0" indent="0" algn="r">
              <a:buNone/>
            </a:pPr>
            <a:r>
              <a:rPr lang="en-US" sz="800" u="sng" dirty="0">
                <a:solidFill>
                  <a:srgbClr val="8C959F"/>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github.com/johnsont1693/scientific-workflow-workshop</a:t>
            </a:r>
            <a:endParaRPr lang="en-US" sz="800" dirty="0"/>
          </a:p>
        </p:txBody>
      </p:sp>
      <p:sp>
        <p:nvSpPr>
          <p:cNvPr id="26" name="TextBox 25">
            <a:extLst>
              <a:ext uri="{FF2B5EF4-FFF2-40B4-BE49-F238E27FC236}">
                <a16:creationId xmlns:a16="http://schemas.microsoft.com/office/drawing/2014/main" id="{D9440570-2299-3D06-2020-56A0743BF03E}"/>
              </a:ext>
            </a:extLst>
          </p:cNvPr>
          <p:cNvSpPr txBox="1"/>
          <p:nvPr/>
        </p:nvSpPr>
        <p:spPr>
          <a:xfrm>
            <a:off x="508000" y="927100"/>
            <a:ext cx="11112500" cy="254000"/>
          </a:xfrm>
          <a:prstGeom prst="rect">
            <a:avLst/>
          </a:prstGeom>
          <a:noFill/>
        </p:spPr>
        <p:txBody>
          <a:bodyPr vert="horz" wrap="square" lIns="0" tIns="0" rIns="0" bIns="0" rtlCol="0">
            <a:noAutofit/>
          </a:bodyPr>
          <a:lstStyle/>
          <a:p>
            <a:r>
              <a:rPr lang="en-US" sz="1000" b="1">
                <a:solidFill>
                  <a:srgbClr val="0969DA"/>
                </a:solidFill>
                <a:latin typeface="Aptos" panose="020B0004020202020204" pitchFamily="34" charset="0"/>
              </a:rPr>
              <a:t>FORKS, BRANCHES AND TODAY'S LAB | 4 MINUTES</a:t>
            </a:r>
          </a:p>
        </p:txBody>
      </p:sp>
      <p:sp>
        <p:nvSpPr>
          <p:cNvPr id="27" name="TextBox 26">
            <a:extLst>
              <a:ext uri="{FF2B5EF4-FFF2-40B4-BE49-F238E27FC236}">
                <a16:creationId xmlns:a16="http://schemas.microsoft.com/office/drawing/2014/main" id="{4CC074D3-98CB-F1A4-68A1-75CDC30EA97B}"/>
              </a:ext>
            </a:extLst>
          </p:cNvPr>
          <p:cNvSpPr txBox="1"/>
          <p:nvPr/>
        </p:nvSpPr>
        <p:spPr>
          <a:xfrm>
            <a:off x="508000" y="1257299"/>
            <a:ext cx="11112500" cy="723900"/>
          </a:xfrm>
          <a:prstGeom prst="rect">
            <a:avLst/>
          </a:prstGeom>
          <a:noFill/>
        </p:spPr>
        <p:txBody>
          <a:bodyPr vert="horz" wrap="square" lIns="0" tIns="0" rIns="0" bIns="0" rtlCol="0">
            <a:noAutofit/>
          </a:bodyPr>
          <a:lstStyle/>
          <a:p>
            <a:r>
              <a:rPr lang="en-US" sz="3000" b="1">
                <a:solidFill>
                  <a:srgbClr val="0D1117"/>
                </a:solidFill>
                <a:latin typeface="Aptos" panose="020B0004020202020204" pitchFamily="34" charset="0"/>
              </a:rPr>
              <a:t>Branch inside a repo. Fork to a separate repo.</a:t>
            </a:r>
          </a:p>
        </p:txBody>
      </p:sp>
      <p:sp>
        <p:nvSpPr>
          <p:cNvPr id="28" name="Rectangle 27">
            <a:extLst>
              <a:ext uri="{FF2B5EF4-FFF2-40B4-BE49-F238E27FC236}">
                <a16:creationId xmlns:a16="http://schemas.microsoft.com/office/drawing/2014/main" id="{2DF9DB26-E172-2D3E-C69B-9AE332C08B5E}"/>
              </a:ext>
            </a:extLst>
          </p:cNvPr>
          <p:cNvSpPr/>
          <p:nvPr/>
        </p:nvSpPr>
        <p:spPr>
          <a:xfrm>
            <a:off x="533400" y="2247900"/>
            <a:ext cx="5410200" cy="3187700"/>
          </a:xfrm>
          <a:prstGeom prst="rect">
            <a:avLst/>
          </a:prstGeom>
          <a:solidFill>
            <a:srgbClr val="F6F8FA"/>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24891C23-F72F-EEAA-851E-E6AA89733F2C}"/>
              </a:ext>
            </a:extLst>
          </p:cNvPr>
          <p:cNvSpPr/>
          <p:nvPr/>
        </p:nvSpPr>
        <p:spPr>
          <a:xfrm>
            <a:off x="6197600" y="2247900"/>
            <a:ext cx="5410200" cy="3187700"/>
          </a:xfrm>
          <a:prstGeom prst="rect">
            <a:avLst/>
          </a:prstGeom>
          <a:solidFill>
            <a:srgbClr val="F6F8FA"/>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AAC70747-B6A7-7BD1-BBCD-E31B2FCA7299}"/>
              </a:ext>
            </a:extLst>
          </p:cNvPr>
          <p:cNvSpPr txBox="1"/>
          <p:nvPr/>
        </p:nvSpPr>
        <p:spPr>
          <a:xfrm>
            <a:off x="698500" y="2438399"/>
            <a:ext cx="5054600" cy="546100"/>
          </a:xfrm>
          <a:prstGeom prst="rect">
            <a:avLst/>
          </a:prstGeom>
          <a:noFill/>
        </p:spPr>
        <p:txBody>
          <a:bodyPr vert="horz" wrap="square" lIns="0" tIns="0" rIns="0" bIns="0" rtlCol="0">
            <a:noAutofit/>
          </a:bodyPr>
          <a:lstStyle/>
          <a:p>
            <a:r>
              <a:rPr lang="en-US" sz="2000" b="1">
                <a:solidFill>
                  <a:srgbClr val="0969DA"/>
                </a:solidFill>
                <a:latin typeface="Aptos" panose="020B0004020202020204" pitchFamily="34" charset="0"/>
              </a:rPr>
              <a:t>BRANCH | Usual enterprise teamwork</a:t>
            </a:r>
          </a:p>
        </p:txBody>
      </p:sp>
      <p:sp>
        <p:nvSpPr>
          <p:cNvPr id="31" name="TextBox 30">
            <a:extLst>
              <a:ext uri="{FF2B5EF4-FFF2-40B4-BE49-F238E27FC236}">
                <a16:creationId xmlns:a16="http://schemas.microsoft.com/office/drawing/2014/main" id="{15CE998D-CEB4-3A9B-93D3-67ADD142831A}"/>
              </a:ext>
            </a:extLst>
          </p:cNvPr>
          <p:cNvSpPr txBox="1"/>
          <p:nvPr/>
        </p:nvSpPr>
        <p:spPr>
          <a:xfrm>
            <a:off x="698500" y="3175000"/>
            <a:ext cx="5054600" cy="1930400"/>
          </a:xfrm>
          <a:prstGeom prst="rect">
            <a:avLst/>
          </a:prstGeom>
          <a:noFill/>
        </p:spPr>
        <p:txBody>
          <a:bodyPr vert="horz" wrap="square" lIns="0" tIns="0" rIns="0" bIns="0" rtlCol="0">
            <a:noAutofit/>
          </a:bodyPr>
          <a:lstStyle/>
          <a:p>
            <a:r>
              <a:rPr lang="en-US">
                <a:solidFill>
                  <a:srgbClr val="0D1117"/>
                </a:solidFill>
                <a:latin typeface="Aptos" panose="020B0004020202020204" pitchFamily="34" charset="0"/>
              </a:rPr>
              <a:t>A separate line of work in the same repository.</a:t>
            </a:r>
          </a:p>
          <a:p>
            <a:r>
              <a:rPr lang="en-US">
                <a:solidFill>
                  <a:srgbClr val="0D1117"/>
                </a:solidFill>
                <a:latin typeface="Aptos" panose="020B0004020202020204" pitchFamily="34" charset="0"/>
              </a:rPr>
              <a:t>The team already has approved write access.</a:t>
            </a:r>
          </a:p>
          <a:p>
            <a:r>
              <a:rPr lang="en-US">
                <a:solidFill>
                  <a:srgbClr val="0D1117"/>
                </a:solidFill>
                <a:latin typeface="Aptos" panose="020B0004020202020204" pitchFamily="34" charset="0"/>
              </a:rPr>
              <a:t>One home for issues, pull requests and centrally managed controls.</a:t>
            </a:r>
          </a:p>
        </p:txBody>
      </p:sp>
      <p:sp>
        <p:nvSpPr>
          <p:cNvPr id="32" name="TextBox 31">
            <a:extLst>
              <a:ext uri="{FF2B5EF4-FFF2-40B4-BE49-F238E27FC236}">
                <a16:creationId xmlns:a16="http://schemas.microsoft.com/office/drawing/2014/main" id="{3D993C34-B038-AC8A-9BBF-39A99F0BA32C}"/>
              </a:ext>
            </a:extLst>
          </p:cNvPr>
          <p:cNvSpPr txBox="1"/>
          <p:nvPr/>
        </p:nvSpPr>
        <p:spPr>
          <a:xfrm>
            <a:off x="6362700" y="2438399"/>
            <a:ext cx="5054600" cy="546100"/>
          </a:xfrm>
          <a:prstGeom prst="rect">
            <a:avLst/>
          </a:prstGeom>
          <a:noFill/>
        </p:spPr>
        <p:txBody>
          <a:bodyPr vert="horz" wrap="square" lIns="0" tIns="0" rIns="0" bIns="0" rtlCol="0">
            <a:noAutofit/>
          </a:bodyPr>
          <a:lstStyle/>
          <a:p>
            <a:r>
              <a:rPr lang="en-US" sz="2000" b="1">
                <a:solidFill>
                  <a:srgbClr val="0969DA"/>
                </a:solidFill>
                <a:latin typeface="Aptos" panose="020B0004020202020204" pitchFamily="34" charset="0"/>
              </a:rPr>
              <a:t>FORK | Today's teaching exercise</a:t>
            </a:r>
          </a:p>
        </p:txBody>
      </p:sp>
      <p:sp>
        <p:nvSpPr>
          <p:cNvPr id="33" name="TextBox 32">
            <a:extLst>
              <a:ext uri="{FF2B5EF4-FFF2-40B4-BE49-F238E27FC236}">
                <a16:creationId xmlns:a16="http://schemas.microsoft.com/office/drawing/2014/main" id="{9C0D556B-2343-CA89-D283-90EFFFFCC937}"/>
              </a:ext>
            </a:extLst>
          </p:cNvPr>
          <p:cNvSpPr txBox="1"/>
          <p:nvPr/>
        </p:nvSpPr>
        <p:spPr>
          <a:xfrm>
            <a:off x="6362700" y="3174999"/>
            <a:ext cx="5054600" cy="1930400"/>
          </a:xfrm>
          <a:prstGeom prst="rect">
            <a:avLst/>
          </a:prstGeom>
          <a:noFill/>
        </p:spPr>
        <p:txBody>
          <a:bodyPr vert="horz" wrap="square" lIns="0" tIns="0" rIns="0" bIns="0" rtlCol="0">
            <a:noAutofit/>
          </a:bodyPr>
          <a:lstStyle/>
          <a:p>
            <a:r>
              <a:rPr lang="en-US">
                <a:solidFill>
                  <a:srgbClr val="0D1117"/>
                </a:solidFill>
                <a:latin typeface="Aptos" panose="020B0004020202020204" pitchFamily="34" charset="0"/>
              </a:rPr>
              <a:t>A separate repository linked to the source.</a:t>
            </a:r>
          </a:p>
          <a:p>
            <a:r>
              <a:rPr lang="en-US">
                <a:solidFill>
                  <a:srgbClr val="0D1117"/>
                </a:solidFill>
                <a:latin typeface="Aptos" panose="020B0004020202020204" pitchFamily="34" charset="0"/>
              </a:rPr>
              <a:t>Your own writable copy of the synthetic lab.</a:t>
            </a:r>
          </a:p>
          <a:p>
            <a:r>
              <a:rPr lang="en-US">
                <a:solidFill>
                  <a:srgbClr val="0D1117"/>
                </a:solidFill>
                <a:latin typeface="Aptos" panose="020B0004020202020204" pitchFamily="34" charset="0"/>
              </a:rPr>
              <a:t>No contributor access to the teaching repo; independent practice without changing its baseline.</a:t>
            </a:r>
          </a:p>
        </p:txBody>
      </p:sp>
      <p:sp>
        <p:nvSpPr>
          <p:cNvPr id="34" name="TextBox 33">
            <a:extLst>
              <a:ext uri="{FF2B5EF4-FFF2-40B4-BE49-F238E27FC236}">
                <a16:creationId xmlns:a16="http://schemas.microsoft.com/office/drawing/2014/main" id="{E194709C-1E6F-85CD-C045-693A44B0E801}"/>
              </a:ext>
            </a:extLst>
          </p:cNvPr>
          <p:cNvSpPr txBox="1"/>
          <p:nvPr/>
        </p:nvSpPr>
        <p:spPr>
          <a:xfrm>
            <a:off x="558800" y="5600699"/>
            <a:ext cx="11049000" cy="381000"/>
          </a:xfrm>
          <a:prstGeom prst="rect">
            <a:avLst/>
          </a:prstGeom>
          <a:noFill/>
        </p:spPr>
        <p:txBody>
          <a:bodyPr vert="horz" wrap="square" lIns="0" tIns="0" rIns="0" bIns="0" rtlCol="0">
            <a:noAutofit/>
          </a:bodyPr>
          <a:lstStyle/>
          <a:p>
            <a:r>
              <a:rPr lang="en-US" sz="1600" b="1">
                <a:solidFill>
                  <a:srgbClr val="0969DA"/>
                </a:solidFill>
                <a:latin typeface="Aptos" panose="020B0004020202020204" pitchFamily="34" charset="0"/>
              </a:rPr>
              <a:t>Fork (approved owner)  &gt;  branch in your fork  &gt;  edit + commit  &gt;  PR to your fork/main</a:t>
            </a:r>
          </a:p>
        </p:txBody>
      </p:sp>
      <p:sp>
        <p:nvSpPr>
          <p:cNvPr id="35" name="TextBox 34">
            <a:extLst>
              <a:ext uri="{FF2B5EF4-FFF2-40B4-BE49-F238E27FC236}">
                <a16:creationId xmlns:a16="http://schemas.microsoft.com/office/drawing/2014/main" id="{78F888EF-D0A1-7FE3-9728-9BD7F27B78B3}"/>
              </a:ext>
            </a:extLst>
          </p:cNvPr>
          <p:cNvSpPr txBox="1"/>
          <p:nvPr/>
        </p:nvSpPr>
        <p:spPr>
          <a:xfrm>
            <a:off x="558800" y="6083299"/>
            <a:ext cx="11049000" cy="304800"/>
          </a:xfrm>
          <a:prstGeom prst="rect">
            <a:avLst/>
          </a:prstGeom>
          <a:noFill/>
        </p:spPr>
        <p:txBody>
          <a:bodyPr vert="horz" wrap="square" lIns="0" tIns="0" rIns="0" bIns="0" rtlCol="0">
            <a:noAutofit/>
          </a:bodyPr>
          <a:lstStyle/>
          <a:p>
            <a:r>
              <a:rPr lang="en-US" sz="1300">
                <a:solidFill>
                  <a:srgbClr val="57606A"/>
                </a:solidFill>
                <a:latin typeface="Aptos" panose="020B0004020202020204" pitchFamily="34" charset="0"/>
              </a:rPr>
              <a:t>Enterprise policy still applies. If external forks are blocked, use an approved copy or pair/observe.</a:t>
            </a:r>
          </a:p>
        </p:txBody>
      </p:sp>
    </p:spTree>
    <p:extLst>
      <p:ext uri="{BB962C8B-B14F-4D97-AF65-F5344CB8AC3E}">
        <p14:creationId xmlns:p14="http://schemas.microsoft.com/office/powerpoint/2010/main" val="3014436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6F8FA"/>
        </a:solidFill>
        <a:effectLst/>
      </p:bgPr>
    </p:bg>
    <p:spTree>
      <p:nvGrpSpPr>
        <p:cNvPr id="1" name=""/>
        <p:cNvGrpSpPr/>
        <p:nvPr/>
      </p:nvGrpSpPr>
      <p:grpSpPr>
        <a:xfrm>
          <a:off x="0" y="0"/>
          <a:ext cx="0" cy="0"/>
          <a:chOff x="0" y="0"/>
          <a:chExt cx="0" cy="0"/>
        </a:xfrm>
      </p:grpSpPr>
      <p:sp>
        <p:nvSpPr>
          <p:cNvPr id="2" name="Shape 0"/>
          <p:cNvSpPr/>
          <p:nvPr/>
        </p:nvSpPr>
        <p:spPr>
          <a:xfrm>
            <a:off x="475488" y="347472"/>
            <a:ext cx="347472" cy="347472"/>
          </a:xfrm>
          <a:prstGeom prst="ellipse">
            <a:avLst/>
          </a:prstGeom>
          <a:solidFill>
            <a:srgbClr val="0D1117"/>
          </a:solidFill>
          <a:ln w="12700">
            <a:solidFill>
              <a:srgbClr val="0D1117">
                <a:alpha val="0"/>
              </a:srgbClr>
            </a:solidFill>
            <a:prstDash val="solid"/>
          </a:ln>
        </p:spPr>
        <p:txBody>
          <a:bodyPr/>
          <a:lstStyle/>
          <a:p>
            <a:endParaRPr lang="en-US"/>
          </a:p>
        </p:txBody>
      </p:sp>
      <p:pic>
        <p:nvPicPr>
          <p:cNvPr id="3" name="Image 0" descr="/Users/alysiabrown/sandbox/copilot-worktrees/acb-workbench/abrown152-turbo-winner/generated-assets/gilead-sciences-inc/dss-2026/assets/github-mark.png"/>
          <p:cNvPicPr>
            <a:picLocks noChangeAspect="1"/>
          </p:cNvPicPr>
          <p:nvPr/>
        </p:nvPicPr>
        <p:blipFill>
          <a:blip r:embed="rId3"/>
          <a:stretch>
            <a:fillRect/>
          </a:stretch>
        </p:blipFill>
        <p:spPr>
          <a:xfrm>
            <a:off x="525780" y="397764"/>
            <a:ext cx="246888" cy="246888"/>
          </a:xfrm>
          <a:prstGeom prst="rect">
            <a:avLst/>
          </a:prstGeom>
        </p:spPr>
      </p:pic>
      <p:sp>
        <p:nvSpPr>
          <p:cNvPr id="4" name="Text 1"/>
          <p:cNvSpPr/>
          <p:nvPr/>
        </p:nvSpPr>
        <p:spPr>
          <a:xfrm>
            <a:off x="896112" y="356616"/>
            <a:ext cx="960120" cy="256032"/>
          </a:xfrm>
          <a:prstGeom prst="rect">
            <a:avLst/>
          </a:prstGeom>
          <a:noFill/>
          <a:ln/>
        </p:spPr>
        <p:txBody>
          <a:bodyPr wrap="square" lIns="0" tIns="0" rIns="0" bIns="0" rtlCol="0" anchor="ctr"/>
          <a:lstStyle/>
          <a:p>
            <a:pPr marL="0" indent="0">
              <a:buNone/>
            </a:pPr>
            <a:r>
              <a:rPr lang="en-US" sz="1700" b="1" dirty="0">
                <a:solidFill>
                  <a:srgbClr val="0D1117"/>
                </a:solidFill>
                <a:latin typeface="Aptos Display" pitchFamily="34" charset="0"/>
                <a:ea typeface="Aptos Display" pitchFamily="34" charset="-122"/>
                <a:cs typeface="Aptos Display" pitchFamily="34" charset="-120"/>
              </a:rPr>
              <a:t>GitHub</a:t>
            </a:r>
            <a:endParaRPr lang="en-US" sz="1700" dirty="0"/>
          </a:p>
        </p:txBody>
      </p:sp>
      <p:sp>
        <p:nvSpPr>
          <p:cNvPr id="5" name="Text 2"/>
          <p:cNvSpPr/>
          <p:nvPr/>
        </p:nvSpPr>
        <p:spPr>
          <a:xfrm>
            <a:off x="512064" y="932688"/>
            <a:ext cx="4114800" cy="182880"/>
          </a:xfrm>
          <a:prstGeom prst="rect">
            <a:avLst/>
          </a:prstGeom>
          <a:noFill/>
          <a:ln/>
        </p:spPr>
        <p:txBody>
          <a:bodyPr wrap="square" lIns="0" tIns="0" rIns="0" bIns="0" rtlCol="0" anchor="ctr"/>
          <a:lstStyle/>
          <a:p>
            <a:pPr marL="0" indent="0">
              <a:buNone/>
            </a:pPr>
            <a:r>
              <a:rPr lang="en-US" sz="950" b="1" kern="0" spc="140" dirty="0">
                <a:solidFill>
                  <a:srgbClr val="0969DA"/>
                </a:solidFill>
                <a:latin typeface="Aptos" pitchFamily="34" charset="0"/>
                <a:ea typeface="Aptos" pitchFamily="34" charset="-122"/>
                <a:cs typeface="Aptos" pitchFamily="34" charset="-120"/>
              </a:rPr>
              <a:t>BROWSER ORIENTATION</a:t>
            </a:r>
            <a:endParaRPr lang="en-US" sz="950" dirty="0"/>
          </a:p>
        </p:txBody>
      </p:sp>
      <p:sp>
        <p:nvSpPr>
          <p:cNvPr id="6" name="Text 3"/>
          <p:cNvSpPr/>
          <p:nvPr/>
        </p:nvSpPr>
        <p:spPr>
          <a:xfrm>
            <a:off x="512064" y="1179576"/>
            <a:ext cx="10972800" cy="530352"/>
          </a:xfrm>
          <a:prstGeom prst="rect">
            <a:avLst/>
          </a:prstGeom>
          <a:noFill/>
          <a:ln/>
        </p:spPr>
        <p:txBody>
          <a:bodyPr wrap="square" lIns="0" tIns="0" rIns="0" bIns="0" rtlCol="0" anchor="ctr"/>
          <a:lstStyle/>
          <a:p>
            <a:pPr marL="0" indent="0">
              <a:buNone/>
            </a:pPr>
            <a:r>
              <a:rPr lang="en-US" sz="3100" b="1" dirty="0">
                <a:solidFill>
                  <a:srgbClr val="0D1117"/>
                </a:solidFill>
                <a:latin typeface="Aptos Display" pitchFamily="34" charset="0"/>
                <a:ea typeface="Aptos Display" pitchFamily="34" charset="-122"/>
                <a:cs typeface="Aptos Display" pitchFamily="34" charset="-120"/>
              </a:rPr>
              <a:t>A repository connects the work</a:t>
            </a:r>
            <a:endParaRPr lang="en-US" sz="3100" dirty="0"/>
          </a:p>
        </p:txBody>
      </p:sp>
      <p:sp>
        <p:nvSpPr>
          <p:cNvPr id="7" name="Shape 4"/>
          <p:cNvSpPr/>
          <p:nvPr/>
        </p:nvSpPr>
        <p:spPr>
          <a:xfrm>
            <a:off x="566928" y="1874520"/>
            <a:ext cx="6537960" cy="4041648"/>
          </a:xfrm>
          <a:prstGeom prst="roundRect">
            <a:avLst>
              <a:gd name="adj" fmla="val 1810"/>
            </a:avLst>
          </a:prstGeom>
          <a:solidFill>
            <a:srgbClr val="FFFFFF"/>
          </a:solidFill>
          <a:ln w="11430">
            <a:solidFill>
              <a:srgbClr val="D0D7DE"/>
            </a:solidFill>
            <a:prstDash val="solid"/>
          </a:ln>
          <a:effectLst>
            <a:outerShdw blurRad="38100" dist="12700" dir="2700000" algn="bl" rotWithShape="0">
              <a:srgbClr val="000000">
                <a:alpha val="14000"/>
              </a:srgbClr>
            </a:outerShdw>
          </a:effectLst>
        </p:spPr>
        <p:txBody>
          <a:bodyPr/>
          <a:lstStyle/>
          <a:p>
            <a:endParaRPr lang="en-US"/>
          </a:p>
        </p:txBody>
      </p:sp>
      <p:sp>
        <p:nvSpPr>
          <p:cNvPr id="8" name="Shape 5"/>
          <p:cNvSpPr/>
          <p:nvPr/>
        </p:nvSpPr>
        <p:spPr>
          <a:xfrm>
            <a:off x="566928" y="1874520"/>
            <a:ext cx="6537960" cy="457200"/>
          </a:xfrm>
          <a:prstGeom prst="rect">
            <a:avLst/>
          </a:prstGeom>
          <a:solidFill>
            <a:srgbClr val="F6F8FA"/>
          </a:solidFill>
          <a:ln w="8890">
            <a:solidFill>
              <a:srgbClr val="D0D7DE"/>
            </a:solidFill>
            <a:prstDash val="solid"/>
          </a:ln>
        </p:spPr>
        <p:txBody>
          <a:bodyPr/>
          <a:lstStyle/>
          <a:p>
            <a:endParaRPr lang="en-US"/>
          </a:p>
        </p:txBody>
      </p:sp>
      <p:sp>
        <p:nvSpPr>
          <p:cNvPr id="9" name="Shape 6"/>
          <p:cNvSpPr/>
          <p:nvPr/>
        </p:nvSpPr>
        <p:spPr>
          <a:xfrm>
            <a:off x="731520" y="2039112"/>
            <a:ext cx="100584" cy="100584"/>
          </a:xfrm>
          <a:prstGeom prst="ellipse">
            <a:avLst/>
          </a:prstGeom>
          <a:solidFill>
            <a:srgbClr val="CF222E"/>
          </a:solidFill>
          <a:ln w="12700">
            <a:solidFill>
              <a:srgbClr val="CF222E">
                <a:alpha val="0"/>
              </a:srgbClr>
            </a:solidFill>
            <a:prstDash val="solid"/>
          </a:ln>
        </p:spPr>
        <p:txBody>
          <a:bodyPr/>
          <a:lstStyle/>
          <a:p>
            <a:endParaRPr lang="en-US"/>
          </a:p>
        </p:txBody>
      </p:sp>
      <p:sp>
        <p:nvSpPr>
          <p:cNvPr id="10" name="Shape 7"/>
          <p:cNvSpPr/>
          <p:nvPr/>
        </p:nvSpPr>
        <p:spPr>
          <a:xfrm>
            <a:off x="932688" y="2039112"/>
            <a:ext cx="100584" cy="100584"/>
          </a:xfrm>
          <a:prstGeom prst="ellipse">
            <a:avLst/>
          </a:prstGeom>
          <a:solidFill>
            <a:srgbClr val="BF8700"/>
          </a:solidFill>
          <a:ln w="12700">
            <a:solidFill>
              <a:srgbClr val="BF8700">
                <a:alpha val="0"/>
              </a:srgbClr>
            </a:solidFill>
            <a:prstDash val="solid"/>
          </a:ln>
        </p:spPr>
        <p:txBody>
          <a:bodyPr/>
          <a:lstStyle/>
          <a:p>
            <a:endParaRPr lang="en-US"/>
          </a:p>
        </p:txBody>
      </p:sp>
      <p:sp>
        <p:nvSpPr>
          <p:cNvPr id="11" name="Shape 8"/>
          <p:cNvSpPr/>
          <p:nvPr/>
        </p:nvSpPr>
        <p:spPr>
          <a:xfrm>
            <a:off x="1133856" y="2039112"/>
            <a:ext cx="100584" cy="100584"/>
          </a:xfrm>
          <a:prstGeom prst="ellipse">
            <a:avLst/>
          </a:prstGeom>
          <a:solidFill>
            <a:srgbClr val="1A7F37"/>
          </a:solidFill>
          <a:ln w="12700">
            <a:solidFill>
              <a:srgbClr val="1A7F37">
                <a:alpha val="0"/>
              </a:srgbClr>
            </a:solidFill>
            <a:prstDash val="solid"/>
          </a:ln>
        </p:spPr>
        <p:txBody>
          <a:bodyPr/>
          <a:lstStyle/>
          <a:p>
            <a:endParaRPr lang="en-US"/>
          </a:p>
        </p:txBody>
      </p:sp>
      <p:sp>
        <p:nvSpPr>
          <p:cNvPr id="12" name="Shape 9"/>
          <p:cNvSpPr/>
          <p:nvPr/>
        </p:nvSpPr>
        <p:spPr>
          <a:xfrm>
            <a:off x="1408176" y="1975104"/>
            <a:ext cx="5477256" cy="256032"/>
          </a:xfrm>
          <a:prstGeom prst="roundRect">
            <a:avLst>
              <a:gd name="adj" fmla="val 14286"/>
            </a:avLst>
          </a:prstGeom>
          <a:solidFill>
            <a:srgbClr val="FFFFFF"/>
          </a:solidFill>
          <a:ln w="6350">
            <a:solidFill>
              <a:srgbClr val="D0D7DE"/>
            </a:solidFill>
            <a:prstDash val="solid"/>
          </a:ln>
        </p:spPr>
        <p:txBody>
          <a:bodyPr/>
          <a:lstStyle/>
          <a:p>
            <a:endParaRPr lang="en-US"/>
          </a:p>
        </p:txBody>
      </p:sp>
      <p:sp>
        <p:nvSpPr>
          <p:cNvPr id="13" name="Text 10"/>
          <p:cNvSpPr/>
          <p:nvPr/>
        </p:nvSpPr>
        <p:spPr>
          <a:xfrm>
            <a:off x="1554480" y="2048256"/>
            <a:ext cx="5184648" cy="91440"/>
          </a:xfrm>
          <a:prstGeom prst="rect">
            <a:avLst/>
          </a:prstGeom>
          <a:noFill/>
          <a:ln/>
        </p:spPr>
        <p:txBody>
          <a:bodyPr wrap="square" lIns="0" tIns="0" rIns="0" bIns="0" rtlCol="0" anchor="ctr"/>
          <a:lstStyle/>
          <a:p>
            <a:pPr marL="0" indent="0">
              <a:buNone/>
            </a:pPr>
            <a:r>
              <a:rPr lang="en-US" sz="720">
                <a:solidFill>
                  <a:srgbClr val="57606A"/>
                </a:solidFill>
                <a:latin typeface="Courier New" pitchFamily="34" charset="0"/>
                <a:ea typeface="Courier New" pitchFamily="34" charset="-122"/>
                <a:cs typeface="Courier New" pitchFamily="34" charset="-120"/>
              </a:rPr>
              <a:t>Public teaching reference</a:t>
            </a:r>
            <a:endParaRPr lang="en-US" sz="720" dirty="0"/>
          </a:p>
        </p:txBody>
      </p:sp>
      <p:sp>
        <p:nvSpPr>
          <p:cNvPr id="14" name="Text 11"/>
          <p:cNvSpPr/>
          <p:nvPr/>
        </p:nvSpPr>
        <p:spPr>
          <a:xfrm>
            <a:off x="886968" y="2587752"/>
            <a:ext cx="5897880" cy="256032"/>
          </a:xfrm>
          <a:prstGeom prst="rect">
            <a:avLst/>
          </a:prstGeom>
          <a:noFill/>
          <a:ln/>
        </p:spPr>
        <p:txBody>
          <a:bodyPr wrap="square" lIns="0" tIns="0" rIns="0" bIns="0" rtlCol="0" anchor="ctr"/>
          <a:lstStyle/>
          <a:p>
            <a:pPr marL="0" indent="0">
              <a:buNone/>
            </a:pPr>
            <a:r>
              <a:rPr lang="en-US" sz="1600" b="1" dirty="0">
                <a:solidFill>
                  <a:srgbClr val="0D1117"/>
                </a:solidFill>
                <a:latin typeface="Aptos Display" pitchFamily="34" charset="0"/>
                <a:ea typeface="Aptos Display" pitchFamily="34" charset="-122"/>
                <a:cs typeface="Aptos Display" pitchFamily="34" charset="-120"/>
              </a:rPr>
              <a:t>scientific-workflow-workshop</a:t>
            </a:r>
            <a:endParaRPr lang="en-US" sz="1600" dirty="0"/>
          </a:p>
        </p:txBody>
      </p:sp>
      <p:sp>
        <p:nvSpPr>
          <p:cNvPr id="15" name="Shape 12"/>
          <p:cNvSpPr/>
          <p:nvPr/>
        </p:nvSpPr>
        <p:spPr>
          <a:xfrm>
            <a:off x="822960" y="3392424"/>
            <a:ext cx="6025896" cy="0"/>
          </a:xfrm>
          <a:prstGeom prst="line">
            <a:avLst/>
          </a:prstGeom>
          <a:noFill/>
          <a:ln w="6350">
            <a:solidFill>
              <a:srgbClr val="D0D7DE"/>
            </a:solidFill>
            <a:prstDash val="solid"/>
          </a:ln>
        </p:spPr>
        <p:txBody>
          <a:bodyPr/>
          <a:lstStyle/>
          <a:p>
            <a:endParaRPr lang="en-US"/>
          </a:p>
        </p:txBody>
      </p:sp>
      <p:sp>
        <p:nvSpPr>
          <p:cNvPr id="16" name="Text 13"/>
          <p:cNvSpPr/>
          <p:nvPr/>
        </p:nvSpPr>
        <p:spPr>
          <a:xfrm>
            <a:off x="932688" y="3118104"/>
            <a:ext cx="1554480" cy="182880"/>
          </a:xfrm>
          <a:prstGeom prst="rect">
            <a:avLst/>
          </a:prstGeom>
          <a:noFill/>
          <a:ln/>
        </p:spPr>
        <p:txBody>
          <a:bodyPr wrap="square" lIns="0" tIns="0" rIns="0" bIns="0" rtlCol="0" anchor="ctr"/>
          <a:lstStyle/>
          <a:p>
            <a:pPr marL="0" indent="0">
              <a:buNone/>
            </a:pPr>
            <a:r>
              <a:rPr lang="en-US" sz="1150" b="1" dirty="0">
                <a:solidFill>
                  <a:srgbClr val="0969DA"/>
                </a:solidFill>
                <a:latin typeface="Courier New" pitchFamily="34" charset="0"/>
                <a:ea typeface="Courier New" pitchFamily="34" charset="-122"/>
                <a:cs typeface="Courier New" pitchFamily="34" charset="-120"/>
              </a:rPr>
              <a:t>requirements/</a:t>
            </a:r>
            <a:endParaRPr lang="en-US" sz="1150" dirty="0"/>
          </a:p>
        </p:txBody>
      </p:sp>
      <p:sp>
        <p:nvSpPr>
          <p:cNvPr id="17" name="Text 14"/>
          <p:cNvSpPr/>
          <p:nvPr/>
        </p:nvSpPr>
        <p:spPr>
          <a:xfrm>
            <a:off x="2560320" y="3118104"/>
            <a:ext cx="4206240" cy="182880"/>
          </a:xfrm>
          <a:prstGeom prst="rect">
            <a:avLst/>
          </a:prstGeom>
          <a:noFill/>
          <a:ln/>
        </p:spPr>
        <p:txBody>
          <a:bodyPr wrap="square" lIns="0" tIns="0" rIns="0" bIns="0" rtlCol="0" anchor="ctr"/>
          <a:lstStyle/>
          <a:p>
            <a:pPr marL="0" indent="0">
              <a:buNone/>
            </a:pPr>
            <a:r>
              <a:rPr lang="en-US" sz="1120" dirty="0">
                <a:solidFill>
                  <a:srgbClr val="57606A"/>
                </a:solidFill>
                <a:latin typeface="Aptos" pitchFamily="34" charset="0"/>
                <a:ea typeface="Aptos" pitchFamily="34" charset="-122"/>
                <a:cs typeface="Aptos" pitchFamily="34" charset="-120"/>
              </a:rPr>
              <a:t>what the analysis must do</a:t>
            </a:r>
            <a:endParaRPr lang="en-US" sz="1120" dirty="0"/>
          </a:p>
        </p:txBody>
      </p:sp>
      <p:sp>
        <p:nvSpPr>
          <p:cNvPr id="18" name="Shape 15"/>
          <p:cNvSpPr/>
          <p:nvPr/>
        </p:nvSpPr>
        <p:spPr>
          <a:xfrm>
            <a:off x="822960" y="3849624"/>
            <a:ext cx="6025896" cy="0"/>
          </a:xfrm>
          <a:prstGeom prst="line">
            <a:avLst/>
          </a:prstGeom>
          <a:noFill/>
          <a:ln w="6350">
            <a:solidFill>
              <a:srgbClr val="D0D7DE"/>
            </a:solidFill>
            <a:prstDash val="solid"/>
          </a:ln>
        </p:spPr>
        <p:txBody>
          <a:bodyPr/>
          <a:lstStyle/>
          <a:p>
            <a:endParaRPr lang="en-US"/>
          </a:p>
        </p:txBody>
      </p:sp>
      <p:sp>
        <p:nvSpPr>
          <p:cNvPr id="19" name="Text 16"/>
          <p:cNvSpPr/>
          <p:nvPr/>
        </p:nvSpPr>
        <p:spPr>
          <a:xfrm>
            <a:off x="932688" y="3575304"/>
            <a:ext cx="1554480" cy="182880"/>
          </a:xfrm>
          <a:prstGeom prst="rect">
            <a:avLst/>
          </a:prstGeom>
          <a:noFill/>
          <a:ln/>
        </p:spPr>
        <p:txBody>
          <a:bodyPr wrap="square" lIns="0" tIns="0" rIns="0" bIns="0" rtlCol="0" anchor="ctr"/>
          <a:lstStyle/>
          <a:p>
            <a:pPr marL="0" indent="0">
              <a:buNone/>
            </a:pPr>
            <a:r>
              <a:rPr lang="en-US" sz="1150" b="1" dirty="0">
                <a:solidFill>
                  <a:srgbClr val="0969DA"/>
                </a:solidFill>
                <a:latin typeface="Courier New" pitchFamily="34" charset="0"/>
                <a:ea typeface="Courier New" pitchFamily="34" charset="-122"/>
                <a:cs typeface="Courier New" pitchFamily="34" charset="-120"/>
              </a:rPr>
              <a:t>analysis/</a:t>
            </a:r>
            <a:endParaRPr lang="en-US" sz="1150" dirty="0"/>
          </a:p>
        </p:txBody>
      </p:sp>
      <p:sp>
        <p:nvSpPr>
          <p:cNvPr id="20" name="Text 17"/>
          <p:cNvSpPr/>
          <p:nvPr/>
        </p:nvSpPr>
        <p:spPr>
          <a:xfrm>
            <a:off x="2560320" y="3575304"/>
            <a:ext cx="4206240" cy="182880"/>
          </a:xfrm>
          <a:prstGeom prst="rect">
            <a:avLst/>
          </a:prstGeom>
          <a:noFill/>
          <a:ln/>
        </p:spPr>
        <p:txBody>
          <a:bodyPr wrap="square" lIns="0" tIns="0" rIns="0" bIns="0" rtlCol="0" anchor="ctr"/>
          <a:lstStyle/>
          <a:p>
            <a:pPr marL="0" indent="0">
              <a:buNone/>
            </a:pPr>
            <a:r>
              <a:rPr lang="en-US" sz="1120" dirty="0">
                <a:solidFill>
                  <a:srgbClr val="57606A"/>
                </a:solidFill>
                <a:latin typeface="Aptos" pitchFamily="34" charset="0"/>
                <a:ea typeface="Aptos" pitchFamily="34" charset="-122"/>
                <a:cs typeface="Aptos" pitchFamily="34" charset="-120"/>
              </a:rPr>
              <a:t>SAS, R, and Python examples</a:t>
            </a:r>
            <a:endParaRPr lang="en-US" sz="1120" dirty="0"/>
          </a:p>
        </p:txBody>
      </p:sp>
      <p:sp>
        <p:nvSpPr>
          <p:cNvPr id="21" name="Shape 18"/>
          <p:cNvSpPr/>
          <p:nvPr/>
        </p:nvSpPr>
        <p:spPr>
          <a:xfrm>
            <a:off x="822960" y="4306824"/>
            <a:ext cx="6025896" cy="0"/>
          </a:xfrm>
          <a:prstGeom prst="line">
            <a:avLst/>
          </a:prstGeom>
          <a:noFill/>
          <a:ln w="6350">
            <a:solidFill>
              <a:srgbClr val="D0D7DE"/>
            </a:solidFill>
            <a:prstDash val="solid"/>
          </a:ln>
        </p:spPr>
        <p:txBody>
          <a:bodyPr/>
          <a:lstStyle/>
          <a:p>
            <a:endParaRPr lang="en-US"/>
          </a:p>
        </p:txBody>
      </p:sp>
      <p:sp>
        <p:nvSpPr>
          <p:cNvPr id="22" name="Text 19"/>
          <p:cNvSpPr/>
          <p:nvPr/>
        </p:nvSpPr>
        <p:spPr>
          <a:xfrm>
            <a:off x="932688" y="4032504"/>
            <a:ext cx="1554480" cy="182880"/>
          </a:xfrm>
          <a:prstGeom prst="rect">
            <a:avLst/>
          </a:prstGeom>
          <a:noFill/>
          <a:ln/>
        </p:spPr>
        <p:txBody>
          <a:bodyPr wrap="square" lIns="0" tIns="0" rIns="0" bIns="0" rtlCol="0" anchor="ctr"/>
          <a:lstStyle/>
          <a:p>
            <a:pPr marL="0" indent="0">
              <a:buNone/>
            </a:pPr>
            <a:r>
              <a:rPr lang="en-US" sz="1150" b="1" dirty="0">
                <a:solidFill>
                  <a:srgbClr val="0969DA"/>
                </a:solidFill>
                <a:latin typeface="Courier New" pitchFamily="34" charset="0"/>
                <a:ea typeface="Courier New" pitchFamily="34" charset="-122"/>
                <a:cs typeface="Courier New" pitchFamily="34" charset="-120"/>
              </a:rPr>
              <a:t>reference/</a:t>
            </a:r>
            <a:endParaRPr lang="en-US" sz="1150" dirty="0"/>
          </a:p>
        </p:txBody>
      </p:sp>
      <p:sp>
        <p:nvSpPr>
          <p:cNvPr id="23" name="Text 20"/>
          <p:cNvSpPr/>
          <p:nvPr/>
        </p:nvSpPr>
        <p:spPr>
          <a:xfrm>
            <a:off x="2560320" y="4032504"/>
            <a:ext cx="4206240" cy="182880"/>
          </a:xfrm>
          <a:prstGeom prst="rect">
            <a:avLst/>
          </a:prstGeom>
          <a:noFill/>
          <a:ln/>
        </p:spPr>
        <p:txBody>
          <a:bodyPr wrap="square" lIns="0" tIns="0" rIns="0" bIns="0" rtlCol="0" anchor="ctr"/>
          <a:lstStyle/>
          <a:p>
            <a:pPr marL="0" indent="0">
              <a:buNone/>
            </a:pPr>
            <a:r>
              <a:rPr lang="en-US" sz="1120" dirty="0">
                <a:solidFill>
                  <a:srgbClr val="57606A"/>
                </a:solidFill>
                <a:latin typeface="Aptos" pitchFamily="34" charset="0"/>
                <a:ea typeface="Aptos" pitchFamily="34" charset="-122"/>
                <a:cs typeface="Aptos" pitchFamily="34" charset="-120"/>
              </a:rPr>
              <a:t>controlled terminology</a:t>
            </a:r>
            <a:endParaRPr lang="en-US" sz="1120" dirty="0"/>
          </a:p>
        </p:txBody>
      </p:sp>
      <p:sp>
        <p:nvSpPr>
          <p:cNvPr id="24" name="Shape 21"/>
          <p:cNvSpPr/>
          <p:nvPr/>
        </p:nvSpPr>
        <p:spPr>
          <a:xfrm>
            <a:off x="822960" y="4764024"/>
            <a:ext cx="6025896" cy="0"/>
          </a:xfrm>
          <a:prstGeom prst="line">
            <a:avLst/>
          </a:prstGeom>
          <a:noFill/>
          <a:ln w="6350">
            <a:solidFill>
              <a:srgbClr val="D0D7DE"/>
            </a:solidFill>
            <a:prstDash val="solid"/>
          </a:ln>
        </p:spPr>
        <p:txBody>
          <a:bodyPr/>
          <a:lstStyle/>
          <a:p>
            <a:endParaRPr lang="en-US"/>
          </a:p>
        </p:txBody>
      </p:sp>
      <p:sp>
        <p:nvSpPr>
          <p:cNvPr id="25" name="Text 22"/>
          <p:cNvSpPr/>
          <p:nvPr/>
        </p:nvSpPr>
        <p:spPr>
          <a:xfrm>
            <a:off x="932688" y="4489704"/>
            <a:ext cx="1554480" cy="182880"/>
          </a:xfrm>
          <a:prstGeom prst="rect">
            <a:avLst/>
          </a:prstGeom>
          <a:noFill/>
          <a:ln/>
        </p:spPr>
        <p:txBody>
          <a:bodyPr wrap="square" lIns="0" tIns="0" rIns="0" bIns="0" rtlCol="0" anchor="ctr"/>
          <a:lstStyle/>
          <a:p>
            <a:pPr marL="0" indent="0">
              <a:buNone/>
            </a:pPr>
            <a:r>
              <a:rPr lang="en-US" sz="1150" b="1" dirty="0">
                <a:solidFill>
                  <a:srgbClr val="0969DA"/>
                </a:solidFill>
                <a:latin typeface="Courier New" pitchFamily="34" charset="0"/>
                <a:ea typeface="Courier New" pitchFamily="34" charset="-122"/>
                <a:cs typeface="Courier New" pitchFamily="34" charset="-120"/>
              </a:rPr>
              <a:t>checks/</a:t>
            </a:r>
            <a:endParaRPr lang="en-US" sz="1150" dirty="0"/>
          </a:p>
        </p:txBody>
      </p:sp>
      <p:sp>
        <p:nvSpPr>
          <p:cNvPr id="26" name="Text 23"/>
          <p:cNvSpPr/>
          <p:nvPr/>
        </p:nvSpPr>
        <p:spPr>
          <a:xfrm>
            <a:off x="2560320" y="4489704"/>
            <a:ext cx="4206240" cy="182880"/>
          </a:xfrm>
          <a:prstGeom prst="rect">
            <a:avLst/>
          </a:prstGeom>
          <a:noFill/>
          <a:ln/>
        </p:spPr>
        <p:txBody>
          <a:bodyPr wrap="square" lIns="0" tIns="0" rIns="0" bIns="0" rtlCol="0" anchor="ctr"/>
          <a:lstStyle/>
          <a:p>
            <a:pPr marL="0" indent="0">
              <a:buNone/>
            </a:pPr>
            <a:r>
              <a:rPr lang="en-US" sz="1120" dirty="0">
                <a:solidFill>
                  <a:srgbClr val="57606A"/>
                </a:solidFill>
                <a:latin typeface="Aptos" pitchFamily="34" charset="0"/>
                <a:ea typeface="Aptos" pitchFamily="34" charset="-122"/>
                <a:cs typeface="Aptos" pitchFamily="34" charset="-120"/>
              </a:rPr>
              <a:t>expected output</a:t>
            </a:r>
            <a:endParaRPr lang="en-US" sz="1120" dirty="0"/>
          </a:p>
        </p:txBody>
      </p:sp>
      <p:sp>
        <p:nvSpPr>
          <p:cNvPr id="27" name="Shape 24"/>
          <p:cNvSpPr/>
          <p:nvPr/>
        </p:nvSpPr>
        <p:spPr>
          <a:xfrm>
            <a:off x="822960" y="5221224"/>
            <a:ext cx="6025896" cy="0"/>
          </a:xfrm>
          <a:prstGeom prst="line">
            <a:avLst/>
          </a:prstGeom>
          <a:noFill/>
          <a:ln w="6350">
            <a:solidFill>
              <a:srgbClr val="D0D7DE"/>
            </a:solidFill>
            <a:prstDash val="solid"/>
          </a:ln>
        </p:spPr>
        <p:txBody>
          <a:bodyPr/>
          <a:lstStyle/>
          <a:p>
            <a:endParaRPr lang="en-US"/>
          </a:p>
        </p:txBody>
      </p:sp>
      <p:sp>
        <p:nvSpPr>
          <p:cNvPr id="28" name="Text 25"/>
          <p:cNvSpPr/>
          <p:nvPr/>
        </p:nvSpPr>
        <p:spPr>
          <a:xfrm>
            <a:off x="932688" y="4946904"/>
            <a:ext cx="1554480" cy="182880"/>
          </a:xfrm>
          <a:prstGeom prst="rect">
            <a:avLst/>
          </a:prstGeom>
          <a:noFill/>
          <a:ln/>
        </p:spPr>
        <p:txBody>
          <a:bodyPr wrap="square" lIns="0" tIns="0" rIns="0" bIns="0" rtlCol="0" anchor="ctr"/>
          <a:lstStyle/>
          <a:p>
            <a:pPr marL="0" indent="0">
              <a:buNone/>
            </a:pPr>
            <a:r>
              <a:rPr lang="en-US" sz="1150" b="1" dirty="0">
                <a:solidFill>
                  <a:srgbClr val="0969DA"/>
                </a:solidFill>
                <a:latin typeface="Courier New" pitchFamily="34" charset="0"/>
                <a:ea typeface="Courier New" pitchFamily="34" charset="-122"/>
                <a:cs typeface="Courier New" pitchFamily="34" charset="-120"/>
              </a:rPr>
              <a:t>tests/</a:t>
            </a:r>
            <a:endParaRPr lang="en-US" sz="1150" dirty="0"/>
          </a:p>
        </p:txBody>
      </p:sp>
      <p:sp>
        <p:nvSpPr>
          <p:cNvPr id="29" name="Text 26"/>
          <p:cNvSpPr/>
          <p:nvPr/>
        </p:nvSpPr>
        <p:spPr>
          <a:xfrm>
            <a:off x="2560320" y="4946904"/>
            <a:ext cx="4206240" cy="182880"/>
          </a:xfrm>
          <a:prstGeom prst="rect">
            <a:avLst/>
          </a:prstGeom>
          <a:noFill/>
          <a:ln/>
        </p:spPr>
        <p:txBody>
          <a:bodyPr wrap="square" lIns="0" tIns="0" rIns="0" bIns="0" rtlCol="0" anchor="ctr"/>
          <a:lstStyle/>
          <a:p>
            <a:pPr marL="0" indent="0">
              <a:buNone/>
            </a:pPr>
            <a:r>
              <a:rPr lang="en-US" sz="1120" dirty="0">
                <a:solidFill>
                  <a:srgbClr val="57606A"/>
                </a:solidFill>
                <a:latin typeface="Aptos" pitchFamily="34" charset="0"/>
                <a:ea typeface="Aptos" pitchFamily="34" charset="-122"/>
                <a:cs typeface="Aptos" pitchFamily="34" charset="-120"/>
              </a:rPr>
              <a:t>automated evidence</a:t>
            </a:r>
            <a:endParaRPr lang="en-US" sz="1120" dirty="0"/>
          </a:p>
        </p:txBody>
      </p:sp>
      <p:sp>
        <p:nvSpPr>
          <p:cNvPr id="30" name="Shape 27"/>
          <p:cNvSpPr/>
          <p:nvPr/>
        </p:nvSpPr>
        <p:spPr>
          <a:xfrm>
            <a:off x="822960" y="5678424"/>
            <a:ext cx="6025896" cy="0"/>
          </a:xfrm>
          <a:prstGeom prst="line">
            <a:avLst/>
          </a:prstGeom>
          <a:noFill/>
          <a:ln w="6350">
            <a:solidFill>
              <a:srgbClr val="D0D7DE"/>
            </a:solidFill>
            <a:prstDash val="solid"/>
          </a:ln>
        </p:spPr>
        <p:txBody>
          <a:bodyPr/>
          <a:lstStyle/>
          <a:p>
            <a:endParaRPr lang="en-US"/>
          </a:p>
        </p:txBody>
      </p:sp>
      <p:sp>
        <p:nvSpPr>
          <p:cNvPr id="31" name="Text 28"/>
          <p:cNvSpPr/>
          <p:nvPr/>
        </p:nvSpPr>
        <p:spPr>
          <a:xfrm>
            <a:off x="932688" y="5404104"/>
            <a:ext cx="1554480" cy="182880"/>
          </a:xfrm>
          <a:prstGeom prst="rect">
            <a:avLst/>
          </a:prstGeom>
          <a:noFill/>
          <a:ln/>
        </p:spPr>
        <p:txBody>
          <a:bodyPr wrap="square" lIns="0" tIns="0" rIns="0" bIns="0" rtlCol="0" anchor="ctr"/>
          <a:lstStyle/>
          <a:p>
            <a:pPr marL="0" indent="0">
              <a:buNone/>
            </a:pPr>
            <a:r>
              <a:rPr lang="en-US" sz="1150" b="1" dirty="0">
                <a:solidFill>
                  <a:srgbClr val="0969DA"/>
                </a:solidFill>
                <a:latin typeface="Courier New" pitchFamily="34" charset="0"/>
                <a:ea typeface="Courier New" pitchFamily="34" charset="-122"/>
                <a:cs typeface="Courier New" pitchFamily="34" charset="-120"/>
              </a:rPr>
              <a:t>workshop/</a:t>
            </a:r>
            <a:endParaRPr lang="en-US" sz="1150" dirty="0"/>
          </a:p>
        </p:txBody>
      </p:sp>
      <p:sp>
        <p:nvSpPr>
          <p:cNvPr id="32" name="Text 29"/>
          <p:cNvSpPr/>
          <p:nvPr/>
        </p:nvSpPr>
        <p:spPr>
          <a:xfrm>
            <a:off x="2560320" y="5404104"/>
            <a:ext cx="4206240" cy="182880"/>
          </a:xfrm>
          <a:prstGeom prst="rect">
            <a:avLst/>
          </a:prstGeom>
          <a:noFill/>
          <a:ln/>
        </p:spPr>
        <p:txBody>
          <a:bodyPr wrap="square" lIns="0" tIns="0" rIns="0" bIns="0" rtlCol="0" anchor="ctr"/>
          <a:lstStyle/>
          <a:p>
            <a:pPr marL="0" indent="0">
              <a:buNone/>
            </a:pPr>
            <a:r>
              <a:rPr lang="en-US" sz="1120" dirty="0">
                <a:solidFill>
                  <a:srgbClr val="57606A"/>
                </a:solidFill>
                <a:latin typeface="Aptos" pitchFamily="34" charset="0"/>
                <a:ea typeface="Aptos" pitchFamily="34" charset="-122"/>
                <a:cs typeface="Aptos" pitchFamily="34" charset="-120"/>
              </a:rPr>
              <a:t>browser lab instructions</a:t>
            </a:r>
            <a:endParaRPr lang="en-US" sz="1120" dirty="0"/>
          </a:p>
        </p:txBody>
      </p:sp>
      <p:sp>
        <p:nvSpPr>
          <p:cNvPr id="33" name="Text 30"/>
          <p:cNvSpPr/>
          <p:nvPr/>
        </p:nvSpPr>
        <p:spPr>
          <a:xfrm>
            <a:off x="7635240" y="1965960"/>
            <a:ext cx="3383280" cy="438912"/>
          </a:xfrm>
          <a:prstGeom prst="rect">
            <a:avLst/>
          </a:prstGeom>
          <a:noFill/>
          <a:ln/>
        </p:spPr>
        <p:txBody>
          <a:bodyPr wrap="square" lIns="0" tIns="0" rIns="0" bIns="0" rtlCol="0" anchor="ctr"/>
          <a:lstStyle/>
          <a:p>
            <a:pPr marL="0" indent="0">
              <a:buNone/>
            </a:pPr>
            <a:r>
              <a:rPr lang="en-US" sz="2500" b="1" dirty="0">
                <a:solidFill>
                  <a:srgbClr val="0D1117"/>
                </a:solidFill>
                <a:latin typeface="Aptos Display" pitchFamily="34" charset="0"/>
                <a:ea typeface="Aptos Display" pitchFamily="34" charset="-122"/>
                <a:cs typeface="Aptos Display" pitchFamily="34" charset="-120"/>
              </a:rPr>
              <a:t>Find the evidence</a:t>
            </a:r>
            <a:endParaRPr lang="en-US" sz="2500" dirty="0"/>
          </a:p>
        </p:txBody>
      </p:sp>
      <p:sp>
        <p:nvSpPr>
          <p:cNvPr id="34" name="Shape 31"/>
          <p:cNvSpPr/>
          <p:nvPr/>
        </p:nvSpPr>
        <p:spPr>
          <a:xfrm>
            <a:off x="7662672" y="2697480"/>
            <a:ext cx="475488" cy="475488"/>
          </a:xfrm>
          <a:prstGeom prst="ellipse">
            <a:avLst/>
          </a:prstGeom>
          <a:solidFill>
            <a:srgbClr val="0969DA"/>
          </a:solidFill>
          <a:ln w="12700">
            <a:solidFill>
              <a:srgbClr val="0969DA">
                <a:alpha val="0"/>
              </a:srgbClr>
            </a:solidFill>
            <a:prstDash val="solid"/>
          </a:ln>
        </p:spPr>
        <p:txBody>
          <a:bodyPr/>
          <a:lstStyle/>
          <a:p>
            <a:endParaRPr lang="en-US"/>
          </a:p>
        </p:txBody>
      </p:sp>
      <p:sp>
        <p:nvSpPr>
          <p:cNvPr id="35" name="Text 32"/>
          <p:cNvSpPr/>
          <p:nvPr/>
        </p:nvSpPr>
        <p:spPr>
          <a:xfrm>
            <a:off x="7662672" y="2830068"/>
            <a:ext cx="475488" cy="1371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Display" pitchFamily="34" charset="0"/>
                <a:ea typeface="Aptos Display" pitchFamily="34" charset="-122"/>
                <a:cs typeface="Aptos Display" pitchFamily="34" charset="-120"/>
              </a:rPr>
              <a:t>1</a:t>
            </a:r>
            <a:endParaRPr lang="en-US" sz="1200" dirty="0"/>
          </a:p>
        </p:txBody>
      </p:sp>
      <p:sp>
        <p:nvSpPr>
          <p:cNvPr id="36" name="Text 33"/>
          <p:cNvSpPr/>
          <p:nvPr/>
        </p:nvSpPr>
        <p:spPr>
          <a:xfrm>
            <a:off x="8302752" y="2734056"/>
            <a:ext cx="1417320" cy="219456"/>
          </a:xfrm>
          <a:prstGeom prst="rect">
            <a:avLst/>
          </a:prstGeom>
          <a:noFill/>
          <a:ln/>
        </p:spPr>
        <p:txBody>
          <a:bodyPr wrap="square" lIns="0" tIns="0" rIns="0" bIns="0" rtlCol="0" anchor="ctr"/>
          <a:lstStyle/>
          <a:p>
            <a:pPr marL="0" indent="0">
              <a:buNone/>
            </a:pPr>
            <a:r>
              <a:rPr lang="en-US" sz="1500" b="1" dirty="0">
                <a:solidFill>
                  <a:srgbClr val="0D1117"/>
                </a:solidFill>
                <a:latin typeface="Aptos Display" pitchFamily="34" charset="0"/>
                <a:ea typeface="Aptos Display" pitchFamily="34" charset="-122"/>
                <a:cs typeface="Aptos Display" pitchFamily="34" charset="-120"/>
              </a:rPr>
              <a:t>Requirement</a:t>
            </a:r>
            <a:endParaRPr lang="en-US" sz="1500" dirty="0"/>
          </a:p>
        </p:txBody>
      </p:sp>
      <p:sp>
        <p:nvSpPr>
          <p:cNvPr id="37" name="Text 34"/>
          <p:cNvSpPr/>
          <p:nvPr/>
        </p:nvSpPr>
        <p:spPr>
          <a:xfrm>
            <a:off x="9738360" y="2743200"/>
            <a:ext cx="1691640" cy="201168"/>
          </a:xfrm>
          <a:prstGeom prst="rect">
            <a:avLst/>
          </a:prstGeom>
          <a:noFill/>
          <a:ln/>
        </p:spPr>
        <p:txBody>
          <a:bodyPr wrap="square" lIns="0" tIns="0" rIns="0" bIns="0" rtlCol="0" anchor="ctr"/>
          <a:lstStyle/>
          <a:p>
            <a:pPr marL="0" indent="0">
              <a:buNone/>
            </a:pPr>
            <a:r>
              <a:rPr lang="en-US" sz="1150" dirty="0">
                <a:solidFill>
                  <a:srgbClr val="57606A"/>
                </a:solidFill>
                <a:latin typeface="Aptos" pitchFamily="34" charset="0"/>
                <a:ea typeface="Aptos" pitchFamily="34" charset="-122"/>
                <a:cs typeface="Aptos" pitchFamily="34" charset="-120"/>
              </a:rPr>
              <a:t>What must happen?</a:t>
            </a:r>
            <a:endParaRPr lang="en-US" sz="1150" dirty="0"/>
          </a:p>
        </p:txBody>
      </p:sp>
      <p:sp>
        <p:nvSpPr>
          <p:cNvPr id="38" name="Shape 35"/>
          <p:cNvSpPr/>
          <p:nvPr/>
        </p:nvSpPr>
        <p:spPr>
          <a:xfrm>
            <a:off x="7662672" y="3410712"/>
            <a:ext cx="475488" cy="475488"/>
          </a:xfrm>
          <a:prstGeom prst="ellipse">
            <a:avLst/>
          </a:prstGeom>
          <a:solidFill>
            <a:srgbClr val="0969DA"/>
          </a:solidFill>
          <a:ln w="12700">
            <a:solidFill>
              <a:srgbClr val="0969DA">
                <a:alpha val="0"/>
              </a:srgbClr>
            </a:solidFill>
            <a:prstDash val="solid"/>
          </a:ln>
        </p:spPr>
        <p:txBody>
          <a:bodyPr/>
          <a:lstStyle/>
          <a:p>
            <a:endParaRPr lang="en-US"/>
          </a:p>
        </p:txBody>
      </p:sp>
      <p:sp>
        <p:nvSpPr>
          <p:cNvPr id="39" name="Text 36"/>
          <p:cNvSpPr/>
          <p:nvPr/>
        </p:nvSpPr>
        <p:spPr>
          <a:xfrm>
            <a:off x="7662672" y="3543300"/>
            <a:ext cx="475488" cy="1371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Display" pitchFamily="34" charset="0"/>
                <a:ea typeface="Aptos Display" pitchFamily="34" charset="-122"/>
                <a:cs typeface="Aptos Display" pitchFamily="34" charset="-120"/>
              </a:rPr>
              <a:t>2</a:t>
            </a:r>
            <a:endParaRPr lang="en-US" sz="1200" dirty="0"/>
          </a:p>
        </p:txBody>
      </p:sp>
      <p:sp>
        <p:nvSpPr>
          <p:cNvPr id="40" name="Text 37"/>
          <p:cNvSpPr/>
          <p:nvPr/>
        </p:nvSpPr>
        <p:spPr>
          <a:xfrm>
            <a:off x="8302752" y="3447288"/>
            <a:ext cx="1417320" cy="219456"/>
          </a:xfrm>
          <a:prstGeom prst="rect">
            <a:avLst/>
          </a:prstGeom>
          <a:noFill/>
          <a:ln/>
        </p:spPr>
        <p:txBody>
          <a:bodyPr wrap="square" lIns="0" tIns="0" rIns="0" bIns="0" rtlCol="0" anchor="ctr"/>
          <a:lstStyle/>
          <a:p>
            <a:pPr marL="0" indent="0">
              <a:buNone/>
            </a:pPr>
            <a:r>
              <a:rPr lang="en-US" sz="1500" b="1" dirty="0">
                <a:solidFill>
                  <a:srgbClr val="0D1117"/>
                </a:solidFill>
                <a:latin typeface="Aptos Display" pitchFamily="34" charset="0"/>
                <a:ea typeface="Aptos Display" pitchFamily="34" charset="-122"/>
                <a:cs typeface="Aptos Display" pitchFamily="34" charset="-120"/>
              </a:rPr>
              <a:t>Analysis</a:t>
            </a:r>
            <a:endParaRPr lang="en-US" sz="1500" dirty="0"/>
          </a:p>
        </p:txBody>
      </p:sp>
      <p:sp>
        <p:nvSpPr>
          <p:cNvPr id="41" name="Text 38"/>
          <p:cNvSpPr/>
          <p:nvPr/>
        </p:nvSpPr>
        <p:spPr>
          <a:xfrm>
            <a:off x="9738360" y="3456432"/>
            <a:ext cx="1691640" cy="201168"/>
          </a:xfrm>
          <a:prstGeom prst="rect">
            <a:avLst/>
          </a:prstGeom>
          <a:noFill/>
          <a:ln/>
        </p:spPr>
        <p:txBody>
          <a:bodyPr wrap="square" lIns="0" tIns="0" rIns="0" bIns="0" rtlCol="0" anchor="ctr"/>
          <a:lstStyle/>
          <a:p>
            <a:pPr marL="0" indent="0">
              <a:buNone/>
            </a:pPr>
            <a:r>
              <a:rPr lang="en-US" sz="1150" dirty="0">
                <a:solidFill>
                  <a:srgbClr val="57606A"/>
                </a:solidFill>
                <a:latin typeface="Aptos" pitchFamily="34" charset="0"/>
                <a:ea typeface="Aptos" pitchFamily="34" charset="-122"/>
                <a:cs typeface="Aptos" pitchFamily="34" charset="-120"/>
              </a:rPr>
              <a:t>How is it implemented?</a:t>
            </a:r>
            <a:endParaRPr lang="en-US" sz="1150" dirty="0"/>
          </a:p>
        </p:txBody>
      </p:sp>
      <p:sp>
        <p:nvSpPr>
          <p:cNvPr id="42" name="Shape 39"/>
          <p:cNvSpPr/>
          <p:nvPr/>
        </p:nvSpPr>
        <p:spPr>
          <a:xfrm>
            <a:off x="7662672" y="4123944"/>
            <a:ext cx="475488" cy="475488"/>
          </a:xfrm>
          <a:prstGeom prst="ellipse">
            <a:avLst/>
          </a:prstGeom>
          <a:solidFill>
            <a:srgbClr val="0969DA"/>
          </a:solidFill>
          <a:ln w="12700">
            <a:solidFill>
              <a:srgbClr val="0969DA">
                <a:alpha val="0"/>
              </a:srgbClr>
            </a:solidFill>
            <a:prstDash val="solid"/>
          </a:ln>
        </p:spPr>
        <p:txBody>
          <a:bodyPr/>
          <a:lstStyle/>
          <a:p>
            <a:endParaRPr lang="en-US"/>
          </a:p>
        </p:txBody>
      </p:sp>
      <p:sp>
        <p:nvSpPr>
          <p:cNvPr id="43" name="Text 40"/>
          <p:cNvSpPr/>
          <p:nvPr/>
        </p:nvSpPr>
        <p:spPr>
          <a:xfrm>
            <a:off x="7662672" y="4256532"/>
            <a:ext cx="475488" cy="1371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Display" pitchFamily="34" charset="0"/>
                <a:ea typeface="Aptos Display" pitchFamily="34" charset="-122"/>
                <a:cs typeface="Aptos Display" pitchFamily="34" charset="-120"/>
              </a:rPr>
              <a:t>3</a:t>
            </a:r>
            <a:endParaRPr lang="en-US" sz="1200" dirty="0"/>
          </a:p>
        </p:txBody>
      </p:sp>
      <p:sp>
        <p:nvSpPr>
          <p:cNvPr id="44" name="Text 41"/>
          <p:cNvSpPr/>
          <p:nvPr/>
        </p:nvSpPr>
        <p:spPr>
          <a:xfrm>
            <a:off x="8302752" y="4160520"/>
            <a:ext cx="1417320" cy="219456"/>
          </a:xfrm>
          <a:prstGeom prst="rect">
            <a:avLst/>
          </a:prstGeom>
          <a:noFill/>
          <a:ln/>
        </p:spPr>
        <p:txBody>
          <a:bodyPr wrap="square" lIns="0" tIns="0" rIns="0" bIns="0" rtlCol="0" anchor="ctr"/>
          <a:lstStyle/>
          <a:p>
            <a:pPr marL="0" indent="0">
              <a:buNone/>
            </a:pPr>
            <a:r>
              <a:rPr lang="en-US" sz="1500" b="1" dirty="0">
                <a:solidFill>
                  <a:srgbClr val="0D1117"/>
                </a:solidFill>
                <a:latin typeface="Aptos Display" pitchFamily="34" charset="0"/>
                <a:ea typeface="Aptos Display" pitchFamily="34" charset="-122"/>
                <a:cs typeface="Aptos Display" pitchFamily="34" charset="-120"/>
              </a:rPr>
              <a:t>Reference</a:t>
            </a:r>
            <a:endParaRPr lang="en-US" sz="1500" dirty="0"/>
          </a:p>
        </p:txBody>
      </p:sp>
      <p:sp>
        <p:nvSpPr>
          <p:cNvPr id="45" name="Text 42"/>
          <p:cNvSpPr/>
          <p:nvPr/>
        </p:nvSpPr>
        <p:spPr>
          <a:xfrm>
            <a:off x="9738360" y="4169664"/>
            <a:ext cx="1691640" cy="201168"/>
          </a:xfrm>
          <a:prstGeom prst="rect">
            <a:avLst/>
          </a:prstGeom>
          <a:noFill/>
          <a:ln/>
        </p:spPr>
        <p:txBody>
          <a:bodyPr wrap="square" lIns="0" tIns="0" rIns="0" bIns="0" rtlCol="0" anchor="ctr"/>
          <a:lstStyle/>
          <a:p>
            <a:pPr marL="0" indent="0">
              <a:buNone/>
            </a:pPr>
            <a:r>
              <a:rPr lang="en-US" sz="1150" dirty="0">
                <a:solidFill>
                  <a:srgbClr val="57606A"/>
                </a:solidFill>
                <a:latin typeface="Aptos" pitchFamily="34" charset="0"/>
                <a:ea typeface="Aptos" pitchFamily="34" charset="-122"/>
                <a:cs typeface="Aptos" pitchFamily="34" charset="-120"/>
              </a:rPr>
              <a:t>Which terms are valid?</a:t>
            </a:r>
            <a:endParaRPr lang="en-US" sz="1150" dirty="0"/>
          </a:p>
        </p:txBody>
      </p:sp>
      <p:sp>
        <p:nvSpPr>
          <p:cNvPr id="46" name="Shape 43"/>
          <p:cNvSpPr/>
          <p:nvPr/>
        </p:nvSpPr>
        <p:spPr>
          <a:xfrm>
            <a:off x="7662672" y="4837176"/>
            <a:ext cx="475488" cy="475488"/>
          </a:xfrm>
          <a:prstGeom prst="ellipse">
            <a:avLst/>
          </a:prstGeom>
          <a:solidFill>
            <a:srgbClr val="1A7F37"/>
          </a:solidFill>
          <a:ln w="12700">
            <a:solidFill>
              <a:srgbClr val="1A7F37">
                <a:alpha val="0"/>
              </a:srgbClr>
            </a:solidFill>
            <a:prstDash val="solid"/>
          </a:ln>
        </p:spPr>
        <p:txBody>
          <a:bodyPr/>
          <a:lstStyle/>
          <a:p>
            <a:endParaRPr lang="en-US"/>
          </a:p>
        </p:txBody>
      </p:sp>
      <p:sp>
        <p:nvSpPr>
          <p:cNvPr id="47" name="Text 44"/>
          <p:cNvSpPr/>
          <p:nvPr/>
        </p:nvSpPr>
        <p:spPr>
          <a:xfrm>
            <a:off x="7662672" y="4969764"/>
            <a:ext cx="475488" cy="1371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Display" pitchFamily="34" charset="0"/>
                <a:ea typeface="Aptos Display" pitchFamily="34" charset="-122"/>
                <a:cs typeface="Aptos Display" pitchFamily="34" charset="-120"/>
              </a:rPr>
              <a:t>4</a:t>
            </a:r>
            <a:endParaRPr lang="en-US" sz="1200" dirty="0"/>
          </a:p>
        </p:txBody>
      </p:sp>
      <p:sp>
        <p:nvSpPr>
          <p:cNvPr id="48" name="Text 45"/>
          <p:cNvSpPr/>
          <p:nvPr/>
        </p:nvSpPr>
        <p:spPr>
          <a:xfrm>
            <a:off x="8302752" y="4873752"/>
            <a:ext cx="1417320" cy="219456"/>
          </a:xfrm>
          <a:prstGeom prst="rect">
            <a:avLst/>
          </a:prstGeom>
          <a:noFill/>
          <a:ln/>
        </p:spPr>
        <p:txBody>
          <a:bodyPr wrap="square" lIns="0" tIns="0" rIns="0" bIns="0" rtlCol="0" anchor="ctr"/>
          <a:lstStyle/>
          <a:p>
            <a:pPr marL="0" indent="0">
              <a:buNone/>
            </a:pPr>
            <a:r>
              <a:rPr lang="en-US" sz="1500" b="1" dirty="0">
                <a:solidFill>
                  <a:srgbClr val="0D1117"/>
                </a:solidFill>
                <a:latin typeface="Aptos Display" pitchFamily="34" charset="0"/>
                <a:ea typeface="Aptos Display" pitchFamily="34" charset="-122"/>
                <a:cs typeface="Aptos Display" pitchFamily="34" charset="-120"/>
              </a:rPr>
              <a:t>Checks</a:t>
            </a:r>
            <a:endParaRPr lang="en-US" sz="1500" dirty="0"/>
          </a:p>
        </p:txBody>
      </p:sp>
      <p:sp>
        <p:nvSpPr>
          <p:cNvPr id="49" name="Text 46"/>
          <p:cNvSpPr/>
          <p:nvPr/>
        </p:nvSpPr>
        <p:spPr>
          <a:xfrm>
            <a:off x="9738360" y="4882896"/>
            <a:ext cx="1691640" cy="201168"/>
          </a:xfrm>
          <a:prstGeom prst="rect">
            <a:avLst/>
          </a:prstGeom>
          <a:noFill/>
          <a:ln/>
        </p:spPr>
        <p:txBody>
          <a:bodyPr wrap="square" lIns="0" tIns="0" rIns="0" bIns="0" rtlCol="0" anchor="ctr"/>
          <a:lstStyle/>
          <a:p>
            <a:pPr marL="0" indent="0">
              <a:buNone/>
            </a:pPr>
            <a:r>
              <a:rPr lang="en-US" sz="1150" dirty="0">
                <a:solidFill>
                  <a:srgbClr val="57606A"/>
                </a:solidFill>
                <a:latin typeface="Aptos" pitchFamily="34" charset="0"/>
                <a:ea typeface="Aptos" pitchFamily="34" charset="-122"/>
                <a:cs typeface="Aptos" pitchFamily="34" charset="-120"/>
              </a:rPr>
              <a:t>What output is expected?</a:t>
            </a:r>
            <a:endParaRPr lang="en-US" sz="1150" dirty="0"/>
          </a:p>
        </p:txBody>
      </p:sp>
      <p:sp>
        <p:nvSpPr>
          <p:cNvPr id="50" name="Text 47"/>
          <p:cNvSpPr/>
          <p:nvPr/>
        </p:nvSpPr>
        <p:spPr>
          <a:xfrm>
            <a:off x="502920" y="6519672"/>
            <a:ext cx="3840480" cy="146304"/>
          </a:xfrm>
          <a:prstGeom prst="rect">
            <a:avLst/>
          </a:prstGeom>
          <a:noFill/>
          <a:ln/>
        </p:spPr>
        <p:txBody>
          <a:bodyPr wrap="square" lIns="0" tIns="0" rIns="0" bIns="0" rtlCol="0" anchor="ctr"/>
          <a:lstStyle/>
          <a:p>
            <a:pPr marL="0" indent="0">
              <a:buNone/>
            </a:pPr>
            <a:r>
              <a:rPr lang="en-US" sz="800" dirty="0">
                <a:solidFill>
                  <a:srgbClr val="8C959F"/>
                </a:solidFill>
                <a:latin typeface="Aptos" pitchFamily="34" charset="0"/>
                <a:ea typeface="Aptos" pitchFamily="34" charset="-122"/>
                <a:cs typeface="Aptos" pitchFamily="34" charset="-120"/>
              </a:rPr>
              <a:t>GitHub Foundations | Gilead DSS</a:t>
            </a:r>
            <a:endParaRPr lang="en-US" sz="800" dirty="0"/>
          </a:p>
        </p:txBody>
      </p:sp>
      <p:sp>
        <p:nvSpPr>
          <p:cNvPr id="51" name="Text 48">
            <a:hlinkClick r:id="rId4"/>
          </p:cNvPr>
          <p:cNvSpPr/>
          <p:nvPr/>
        </p:nvSpPr>
        <p:spPr>
          <a:xfrm>
            <a:off x="5623560" y="6519672"/>
            <a:ext cx="5897880" cy="146304"/>
          </a:xfrm>
          <a:prstGeom prst="rect">
            <a:avLst/>
          </a:prstGeom>
          <a:noFill/>
          <a:ln/>
        </p:spPr>
        <p:txBody>
          <a:bodyPr wrap="square" lIns="0" tIns="0" rIns="0" bIns="0" rtlCol="0" anchor="ctr"/>
          <a:lstStyle/>
          <a:p>
            <a:pPr marL="0" indent="0" algn="r">
              <a:buNone/>
            </a:pPr>
            <a:r>
              <a:rPr lang="en-US" sz="800" u="sng" dirty="0">
                <a:solidFill>
                  <a:srgbClr val="8C959F"/>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github.com/johnsont1693/scientific-workflow-workshop</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6F8FA"/>
        </a:solidFill>
        <a:effectLst/>
      </p:bgPr>
    </p:bg>
    <p:spTree>
      <p:nvGrpSpPr>
        <p:cNvPr id="1" name=""/>
        <p:cNvGrpSpPr/>
        <p:nvPr/>
      </p:nvGrpSpPr>
      <p:grpSpPr>
        <a:xfrm>
          <a:off x="0" y="0"/>
          <a:ext cx="0" cy="0"/>
          <a:chOff x="0" y="0"/>
          <a:chExt cx="0" cy="0"/>
        </a:xfrm>
      </p:grpSpPr>
      <p:sp>
        <p:nvSpPr>
          <p:cNvPr id="2" name="Shape 0"/>
          <p:cNvSpPr/>
          <p:nvPr/>
        </p:nvSpPr>
        <p:spPr>
          <a:xfrm>
            <a:off x="475488" y="347472"/>
            <a:ext cx="347472" cy="347472"/>
          </a:xfrm>
          <a:prstGeom prst="ellipse">
            <a:avLst/>
          </a:prstGeom>
          <a:solidFill>
            <a:srgbClr val="0D1117"/>
          </a:solidFill>
          <a:ln w="12700">
            <a:solidFill>
              <a:srgbClr val="0D1117">
                <a:alpha val="0"/>
              </a:srgbClr>
            </a:solidFill>
            <a:prstDash val="solid"/>
          </a:ln>
        </p:spPr>
        <p:txBody>
          <a:bodyPr/>
          <a:lstStyle/>
          <a:p>
            <a:endParaRPr lang="en-US"/>
          </a:p>
        </p:txBody>
      </p:sp>
      <p:pic>
        <p:nvPicPr>
          <p:cNvPr id="3" name="Image 0" descr="/Users/alysiabrown/sandbox/copilot-worktrees/acb-workbench/abrown152-turbo-winner/generated-assets/gilead-sciences-inc/dss-2026/assets/github-mark.png"/>
          <p:cNvPicPr>
            <a:picLocks noChangeAspect="1"/>
          </p:cNvPicPr>
          <p:nvPr/>
        </p:nvPicPr>
        <p:blipFill>
          <a:blip r:embed="rId3"/>
          <a:stretch>
            <a:fillRect/>
          </a:stretch>
        </p:blipFill>
        <p:spPr>
          <a:xfrm>
            <a:off x="525780" y="397764"/>
            <a:ext cx="246888" cy="246888"/>
          </a:xfrm>
          <a:prstGeom prst="rect">
            <a:avLst/>
          </a:prstGeom>
        </p:spPr>
      </p:pic>
      <p:sp>
        <p:nvSpPr>
          <p:cNvPr id="4" name="Text 1"/>
          <p:cNvSpPr/>
          <p:nvPr/>
        </p:nvSpPr>
        <p:spPr>
          <a:xfrm>
            <a:off x="896112" y="356616"/>
            <a:ext cx="960120" cy="256032"/>
          </a:xfrm>
          <a:prstGeom prst="rect">
            <a:avLst/>
          </a:prstGeom>
          <a:noFill/>
          <a:ln/>
        </p:spPr>
        <p:txBody>
          <a:bodyPr wrap="square" lIns="0" tIns="0" rIns="0" bIns="0" rtlCol="0" anchor="ctr"/>
          <a:lstStyle/>
          <a:p>
            <a:pPr marL="0" indent="0">
              <a:buNone/>
            </a:pPr>
            <a:r>
              <a:rPr lang="en-US" sz="1700" b="1" dirty="0">
                <a:solidFill>
                  <a:srgbClr val="0D1117"/>
                </a:solidFill>
                <a:latin typeface="Aptos Display" pitchFamily="34" charset="0"/>
                <a:ea typeface="Aptos Display" pitchFamily="34" charset="-122"/>
                <a:cs typeface="Aptos Display" pitchFamily="34" charset="-120"/>
              </a:rPr>
              <a:t>GitHub</a:t>
            </a:r>
            <a:endParaRPr lang="en-US" sz="1700" dirty="0"/>
          </a:p>
        </p:txBody>
      </p:sp>
      <p:sp>
        <p:nvSpPr>
          <p:cNvPr id="5" name="Text 2"/>
          <p:cNvSpPr/>
          <p:nvPr/>
        </p:nvSpPr>
        <p:spPr>
          <a:xfrm>
            <a:off x="512064" y="932688"/>
            <a:ext cx="4114800" cy="182880"/>
          </a:xfrm>
          <a:prstGeom prst="rect">
            <a:avLst/>
          </a:prstGeom>
          <a:noFill/>
          <a:ln/>
        </p:spPr>
        <p:txBody>
          <a:bodyPr wrap="square" lIns="0" tIns="0" rIns="0" bIns="0" rtlCol="0" anchor="ctr"/>
          <a:lstStyle/>
          <a:p>
            <a:pPr marL="0" indent="0">
              <a:buNone/>
            </a:pPr>
            <a:r>
              <a:rPr lang="en-US" sz="950" b="1" kern="0" spc="140" dirty="0">
                <a:solidFill>
                  <a:srgbClr val="0969DA"/>
                </a:solidFill>
                <a:latin typeface="Aptos" pitchFamily="34" charset="0"/>
                <a:ea typeface="Aptos" pitchFamily="34" charset="-122"/>
                <a:cs typeface="Aptos" pitchFamily="34" charset="-120"/>
              </a:rPr>
              <a:t>FROM EDIT TO EVIDENCE</a:t>
            </a:r>
            <a:endParaRPr lang="en-US" sz="950" dirty="0"/>
          </a:p>
        </p:txBody>
      </p:sp>
      <p:sp>
        <p:nvSpPr>
          <p:cNvPr id="6" name="Text 3"/>
          <p:cNvSpPr/>
          <p:nvPr/>
        </p:nvSpPr>
        <p:spPr>
          <a:xfrm>
            <a:off x="512064" y="1179576"/>
            <a:ext cx="10972800" cy="530352"/>
          </a:xfrm>
          <a:prstGeom prst="rect">
            <a:avLst/>
          </a:prstGeom>
          <a:noFill/>
          <a:ln/>
        </p:spPr>
        <p:txBody>
          <a:bodyPr wrap="square" lIns="0" tIns="0" rIns="0" bIns="0" rtlCol="0" anchor="ctr"/>
          <a:lstStyle/>
          <a:p>
            <a:pPr marL="0" indent="0">
              <a:buNone/>
            </a:pPr>
            <a:r>
              <a:rPr lang="en-US" sz="3100" b="1" dirty="0">
                <a:solidFill>
                  <a:srgbClr val="0D1117"/>
                </a:solidFill>
                <a:latin typeface="Aptos Display" pitchFamily="34" charset="0"/>
                <a:ea typeface="Aptos Display" pitchFamily="34" charset="-122"/>
                <a:cs typeface="Aptos Display" pitchFamily="34" charset="-120"/>
              </a:rPr>
              <a:t>A commit captures a reasoned checkpoint</a:t>
            </a:r>
            <a:endParaRPr lang="en-US" sz="3100" dirty="0"/>
          </a:p>
        </p:txBody>
      </p:sp>
      <p:sp>
        <p:nvSpPr>
          <p:cNvPr id="7" name="Shape 4"/>
          <p:cNvSpPr/>
          <p:nvPr/>
        </p:nvSpPr>
        <p:spPr>
          <a:xfrm>
            <a:off x="640080" y="1920240"/>
            <a:ext cx="5806440" cy="3383280"/>
          </a:xfrm>
          <a:prstGeom prst="roundRect">
            <a:avLst>
              <a:gd name="adj" fmla="val 1892"/>
            </a:avLst>
          </a:prstGeom>
          <a:solidFill>
            <a:srgbClr val="0D1117"/>
          </a:solidFill>
          <a:ln w="12700">
            <a:solidFill>
              <a:srgbClr val="21262D"/>
            </a:solidFill>
            <a:prstDash val="solid"/>
          </a:ln>
        </p:spPr>
        <p:txBody>
          <a:bodyPr/>
          <a:lstStyle/>
          <a:p>
            <a:endParaRPr lang="en-US"/>
          </a:p>
        </p:txBody>
      </p:sp>
      <p:sp>
        <p:nvSpPr>
          <p:cNvPr id="8" name="Shape 5"/>
          <p:cNvSpPr/>
          <p:nvPr/>
        </p:nvSpPr>
        <p:spPr>
          <a:xfrm>
            <a:off x="640080" y="1920240"/>
            <a:ext cx="5806440" cy="438912"/>
          </a:xfrm>
          <a:prstGeom prst="rect">
            <a:avLst/>
          </a:prstGeom>
          <a:solidFill>
            <a:srgbClr val="161B22"/>
          </a:solidFill>
          <a:ln w="10160">
            <a:solidFill>
              <a:srgbClr val="21262D"/>
            </a:solidFill>
            <a:prstDash val="solid"/>
          </a:ln>
        </p:spPr>
        <p:txBody>
          <a:bodyPr/>
          <a:lstStyle/>
          <a:p>
            <a:endParaRPr lang="en-US"/>
          </a:p>
        </p:txBody>
      </p:sp>
      <p:sp>
        <p:nvSpPr>
          <p:cNvPr id="9" name="Text 6"/>
          <p:cNvSpPr/>
          <p:nvPr/>
        </p:nvSpPr>
        <p:spPr>
          <a:xfrm>
            <a:off x="841248" y="2075688"/>
            <a:ext cx="5404104" cy="109728"/>
          </a:xfrm>
          <a:prstGeom prst="rect">
            <a:avLst/>
          </a:prstGeom>
          <a:noFill/>
          <a:ln/>
        </p:spPr>
        <p:txBody>
          <a:bodyPr wrap="square" lIns="0" tIns="0" rIns="0" bIns="0" rtlCol="0" anchor="ctr"/>
          <a:lstStyle/>
          <a:p>
            <a:pPr marL="0" indent="0">
              <a:buNone/>
            </a:pPr>
            <a:r>
              <a:rPr lang="en-US" sz="1050" dirty="0">
                <a:solidFill>
                  <a:srgbClr val="B1BAC4"/>
                </a:solidFill>
                <a:latin typeface="Courier New" pitchFamily="34" charset="0"/>
                <a:ea typeface="Courier New" pitchFamily="34" charset="-122"/>
                <a:cs typeface="Courier New" pitchFamily="34" charset="-120"/>
              </a:rPr>
              <a:t>checks/expected-output.md</a:t>
            </a:r>
            <a:endParaRPr lang="en-US" sz="1050" dirty="0"/>
          </a:p>
        </p:txBody>
      </p:sp>
      <p:sp>
        <p:nvSpPr>
          <p:cNvPr id="10" name="Shape 7"/>
          <p:cNvSpPr/>
          <p:nvPr/>
        </p:nvSpPr>
        <p:spPr>
          <a:xfrm>
            <a:off x="786384" y="2542032"/>
            <a:ext cx="5513832" cy="457200"/>
          </a:xfrm>
          <a:prstGeom prst="rect">
            <a:avLst/>
          </a:prstGeom>
          <a:solidFill>
            <a:srgbClr val="3D161B"/>
          </a:solidFill>
          <a:ln w="5080">
            <a:solidFill>
              <a:srgbClr val="7D222A"/>
            </a:solidFill>
            <a:prstDash val="solid"/>
          </a:ln>
        </p:spPr>
        <p:txBody>
          <a:bodyPr/>
          <a:lstStyle/>
          <a:p>
            <a:endParaRPr lang="en-US"/>
          </a:p>
        </p:txBody>
      </p:sp>
      <p:sp>
        <p:nvSpPr>
          <p:cNvPr id="11" name="Text 8"/>
          <p:cNvSpPr/>
          <p:nvPr/>
        </p:nvSpPr>
        <p:spPr>
          <a:xfrm>
            <a:off x="896112" y="2660904"/>
            <a:ext cx="228600" cy="164592"/>
          </a:xfrm>
          <a:prstGeom prst="rect">
            <a:avLst/>
          </a:prstGeom>
          <a:noFill/>
          <a:ln/>
        </p:spPr>
        <p:txBody>
          <a:bodyPr wrap="square" lIns="0" tIns="0" rIns="0" bIns="0" rtlCol="0" anchor="ctr"/>
          <a:lstStyle/>
          <a:p>
            <a:pPr marL="0" indent="0">
              <a:buNone/>
            </a:pPr>
            <a:r>
              <a:rPr lang="en-US" sz="1300" b="1" dirty="0">
                <a:solidFill>
                  <a:srgbClr val="FF7B72"/>
                </a:solidFill>
                <a:latin typeface="Courier New" pitchFamily="34" charset="0"/>
                <a:ea typeface="Courier New" pitchFamily="34" charset="-122"/>
                <a:cs typeface="Courier New" pitchFamily="34" charset="-120"/>
              </a:rPr>
              <a:t>-</a:t>
            </a:r>
            <a:endParaRPr lang="en-US" sz="1300" dirty="0"/>
          </a:p>
        </p:txBody>
      </p:sp>
      <p:sp>
        <p:nvSpPr>
          <p:cNvPr id="12" name="Text 9"/>
          <p:cNvSpPr/>
          <p:nvPr/>
        </p:nvSpPr>
        <p:spPr>
          <a:xfrm>
            <a:off x="1207008" y="2660904"/>
            <a:ext cx="4937760" cy="182880"/>
          </a:xfrm>
          <a:prstGeom prst="rect">
            <a:avLst/>
          </a:prstGeom>
          <a:noFill/>
          <a:ln/>
        </p:spPr>
        <p:txBody>
          <a:bodyPr wrap="square" lIns="0" tIns="0" rIns="0" bIns="0" rtlCol="0" anchor="ctr"/>
          <a:lstStyle/>
          <a:p>
            <a:pPr marL="0" indent="0">
              <a:buNone/>
            </a:pPr>
            <a:r>
              <a:rPr lang="en-US" sz="1240" dirty="0">
                <a:solidFill>
                  <a:srgbClr val="F0F6FC"/>
                </a:solidFill>
                <a:latin typeface="Courier New" pitchFamily="34" charset="0"/>
                <a:ea typeface="Courier New" pitchFamily="34" charset="-122"/>
                <a:cs typeface="Courier New" pitchFamily="34" charset="-120"/>
              </a:rPr>
              <a:t>Expected record count: 2</a:t>
            </a:r>
            <a:endParaRPr lang="en-US" sz="1240" dirty="0"/>
          </a:p>
        </p:txBody>
      </p:sp>
      <p:sp>
        <p:nvSpPr>
          <p:cNvPr id="13" name="Shape 10"/>
          <p:cNvSpPr/>
          <p:nvPr/>
        </p:nvSpPr>
        <p:spPr>
          <a:xfrm>
            <a:off x="786384" y="3145536"/>
            <a:ext cx="5513832" cy="457200"/>
          </a:xfrm>
          <a:prstGeom prst="rect">
            <a:avLst/>
          </a:prstGeom>
          <a:solidFill>
            <a:srgbClr val="13301C"/>
          </a:solidFill>
          <a:ln w="5080">
            <a:solidFill>
              <a:srgbClr val="1F6F3D"/>
            </a:solidFill>
            <a:prstDash val="solid"/>
          </a:ln>
        </p:spPr>
        <p:txBody>
          <a:bodyPr/>
          <a:lstStyle/>
          <a:p>
            <a:endParaRPr lang="en-US"/>
          </a:p>
        </p:txBody>
      </p:sp>
      <p:sp>
        <p:nvSpPr>
          <p:cNvPr id="14" name="Text 11"/>
          <p:cNvSpPr/>
          <p:nvPr/>
        </p:nvSpPr>
        <p:spPr>
          <a:xfrm>
            <a:off x="896112" y="3264408"/>
            <a:ext cx="228600" cy="164592"/>
          </a:xfrm>
          <a:prstGeom prst="rect">
            <a:avLst/>
          </a:prstGeom>
          <a:noFill/>
          <a:ln/>
        </p:spPr>
        <p:txBody>
          <a:bodyPr wrap="square" lIns="0" tIns="0" rIns="0" bIns="0" rtlCol="0" anchor="ctr"/>
          <a:lstStyle/>
          <a:p>
            <a:pPr marL="0" indent="0">
              <a:buNone/>
            </a:pPr>
            <a:r>
              <a:rPr lang="en-US" sz="1300" b="1" dirty="0">
                <a:solidFill>
                  <a:srgbClr val="7EE787"/>
                </a:solidFill>
                <a:latin typeface="Courier New" pitchFamily="34" charset="0"/>
                <a:ea typeface="Courier New" pitchFamily="34" charset="-122"/>
                <a:cs typeface="Courier New" pitchFamily="34" charset="-120"/>
              </a:rPr>
              <a:t>+</a:t>
            </a:r>
            <a:endParaRPr lang="en-US" sz="1300" dirty="0"/>
          </a:p>
        </p:txBody>
      </p:sp>
      <p:sp>
        <p:nvSpPr>
          <p:cNvPr id="15" name="Text 12"/>
          <p:cNvSpPr/>
          <p:nvPr/>
        </p:nvSpPr>
        <p:spPr>
          <a:xfrm>
            <a:off x="1207008" y="3264408"/>
            <a:ext cx="4937760" cy="182880"/>
          </a:xfrm>
          <a:prstGeom prst="rect">
            <a:avLst/>
          </a:prstGeom>
          <a:noFill/>
          <a:ln/>
        </p:spPr>
        <p:txBody>
          <a:bodyPr wrap="square" lIns="0" tIns="0" rIns="0" bIns="0" rtlCol="0" anchor="ctr"/>
          <a:lstStyle/>
          <a:p>
            <a:pPr marL="0" indent="0">
              <a:buNone/>
            </a:pPr>
            <a:r>
              <a:rPr lang="en-US" sz="1240" dirty="0">
                <a:solidFill>
                  <a:srgbClr val="F0F6FC"/>
                </a:solidFill>
                <a:latin typeface="Courier New" pitchFamily="34" charset="0"/>
                <a:ea typeface="Courier New" pitchFamily="34" charset="-122"/>
                <a:cs typeface="Courier New" pitchFamily="34" charset="-120"/>
              </a:rPr>
              <a:t>Expected record count: 2</a:t>
            </a:r>
            <a:endParaRPr lang="en-US" sz="1240" dirty="0"/>
          </a:p>
        </p:txBody>
      </p:sp>
      <p:sp>
        <p:nvSpPr>
          <p:cNvPr id="16" name="Shape 13"/>
          <p:cNvSpPr/>
          <p:nvPr/>
        </p:nvSpPr>
        <p:spPr>
          <a:xfrm>
            <a:off x="786384" y="3749040"/>
            <a:ext cx="5513832" cy="457200"/>
          </a:xfrm>
          <a:prstGeom prst="rect">
            <a:avLst/>
          </a:prstGeom>
          <a:solidFill>
            <a:srgbClr val="13301C"/>
          </a:solidFill>
          <a:ln w="5080">
            <a:solidFill>
              <a:srgbClr val="1F6F3D"/>
            </a:solidFill>
            <a:prstDash val="solid"/>
          </a:ln>
        </p:spPr>
        <p:txBody>
          <a:bodyPr/>
          <a:lstStyle/>
          <a:p>
            <a:endParaRPr lang="en-US"/>
          </a:p>
        </p:txBody>
      </p:sp>
      <p:sp>
        <p:nvSpPr>
          <p:cNvPr id="17" name="Text 14"/>
          <p:cNvSpPr/>
          <p:nvPr/>
        </p:nvSpPr>
        <p:spPr>
          <a:xfrm>
            <a:off x="896112" y="3867912"/>
            <a:ext cx="228600" cy="164592"/>
          </a:xfrm>
          <a:prstGeom prst="rect">
            <a:avLst/>
          </a:prstGeom>
          <a:noFill/>
          <a:ln/>
        </p:spPr>
        <p:txBody>
          <a:bodyPr wrap="square" lIns="0" tIns="0" rIns="0" bIns="0" rtlCol="0" anchor="ctr"/>
          <a:lstStyle/>
          <a:p>
            <a:pPr marL="0" indent="0">
              <a:buNone/>
            </a:pPr>
            <a:r>
              <a:rPr lang="en-US" sz="1300" b="1" dirty="0">
                <a:solidFill>
                  <a:srgbClr val="7EE787"/>
                </a:solidFill>
                <a:latin typeface="Courier New" pitchFamily="34" charset="0"/>
                <a:ea typeface="Courier New" pitchFamily="34" charset="-122"/>
                <a:cs typeface="Courier New" pitchFamily="34" charset="-120"/>
              </a:rPr>
              <a:t>+</a:t>
            </a:r>
            <a:endParaRPr lang="en-US" sz="1300" dirty="0"/>
          </a:p>
        </p:txBody>
      </p:sp>
      <p:sp>
        <p:nvSpPr>
          <p:cNvPr id="18" name="Text 15"/>
          <p:cNvSpPr/>
          <p:nvPr/>
        </p:nvSpPr>
        <p:spPr>
          <a:xfrm>
            <a:off x="1207008" y="3698811"/>
            <a:ext cx="4937760" cy="508000"/>
          </a:xfrm>
          <a:prstGeom prst="rect">
            <a:avLst/>
          </a:prstGeom>
          <a:noFill/>
          <a:ln/>
        </p:spPr>
        <p:txBody>
          <a:bodyPr wrap="square" lIns="0" tIns="0" rIns="0" bIns="0" rtlCol="0" anchor="ctr">
            <a:noAutofit/>
          </a:bodyPr>
          <a:lstStyle/>
          <a:p>
            <a:pPr marL="0" indent="0">
              <a:buNone/>
            </a:pPr>
            <a:r>
              <a:rPr lang="en-US" sz="1240" dirty="0">
                <a:solidFill>
                  <a:srgbClr val="F0F6FC"/>
                </a:solidFill>
                <a:latin typeface="Courier New" pitchFamily="34" charset="0"/>
                <a:ea typeface="Courier New" pitchFamily="34" charset="-122"/>
                <a:cs typeface="Courier New" pitchFamily="34" charset="-120"/>
              </a:rPr>
              <a:t>Reviewers should confirm the count against the approved requirement before accepting a change.</a:t>
            </a:r>
            <a:endParaRPr lang="en-US" sz="1240" dirty="0"/>
          </a:p>
        </p:txBody>
      </p:sp>
      <p:sp>
        <p:nvSpPr>
          <p:cNvPr id="19" name="Shape 16"/>
          <p:cNvSpPr/>
          <p:nvPr/>
        </p:nvSpPr>
        <p:spPr>
          <a:xfrm>
            <a:off x="6903720" y="1965960"/>
            <a:ext cx="4617720" cy="1389888"/>
          </a:xfrm>
          <a:prstGeom prst="roundRect">
            <a:avLst>
              <a:gd name="adj" fmla="val 4605"/>
            </a:avLst>
          </a:prstGeom>
          <a:solidFill>
            <a:srgbClr val="FFFFFF"/>
          </a:solidFill>
          <a:ln w="12700">
            <a:solidFill>
              <a:srgbClr val="0969DA"/>
            </a:solidFill>
            <a:prstDash val="solid"/>
          </a:ln>
        </p:spPr>
        <p:txBody>
          <a:bodyPr/>
          <a:lstStyle/>
          <a:p>
            <a:endParaRPr lang="en-US"/>
          </a:p>
        </p:txBody>
      </p:sp>
      <p:sp>
        <p:nvSpPr>
          <p:cNvPr id="20" name="Text 17"/>
          <p:cNvSpPr/>
          <p:nvPr/>
        </p:nvSpPr>
        <p:spPr>
          <a:xfrm>
            <a:off x="7159752" y="2176272"/>
            <a:ext cx="4105656" cy="274320"/>
          </a:xfrm>
          <a:prstGeom prst="rect">
            <a:avLst/>
          </a:prstGeom>
          <a:noFill/>
          <a:ln/>
        </p:spPr>
        <p:txBody>
          <a:bodyPr wrap="square" lIns="0" tIns="0" rIns="0" bIns="0" rtlCol="0" anchor="ctr"/>
          <a:lstStyle/>
          <a:p>
            <a:pPr marL="0" indent="0">
              <a:buNone/>
            </a:pPr>
            <a:r>
              <a:rPr lang="en-US" sz="1800" b="1" dirty="0">
                <a:solidFill>
                  <a:srgbClr val="0D1117"/>
                </a:solidFill>
                <a:latin typeface="Aptos Display" pitchFamily="34" charset="0"/>
                <a:ea typeface="Aptos Display" pitchFamily="34" charset="-122"/>
                <a:cs typeface="Aptos Display" pitchFamily="34" charset="-120"/>
              </a:rPr>
              <a:t>What changed</a:t>
            </a:r>
            <a:endParaRPr lang="en-US" sz="1800" dirty="0"/>
          </a:p>
        </p:txBody>
      </p:sp>
      <p:sp>
        <p:nvSpPr>
          <p:cNvPr id="21" name="Text 18"/>
          <p:cNvSpPr/>
          <p:nvPr/>
        </p:nvSpPr>
        <p:spPr>
          <a:xfrm>
            <a:off x="7159752" y="2606040"/>
            <a:ext cx="4105656" cy="539496"/>
          </a:xfrm>
          <a:prstGeom prst="rect">
            <a:avLst/>
          </a:prstGeom>
          <a:noFill/>
          <a:ln/>
        </p:spPr>
        <p:txBody>
          <a:bodyPr wrap="square" lIns="0" tIns="0" rIns="0" bIns="0" rtlCol="0" anchor="t"/>
          <a:lstStyle/>
          <a:p>
            <a:pPr marL="0" indent="0">
              <a:buNone/>
            </a:pPr>
            <a:r>
              <a:rPr lang="en-US" sz="1300" dirty="0">
                <a:solidFill>
                  <a:srgbClr val="57606A"/>
                </a:solidFill>
                <a:latin typeface="Aptos" pitchFamily="34" charset="0"/>
                <a:ea typeface="Aptos" pitchFamily="34" charset="-122"/>
                <a:cs typeface="Aptos" pitchFamily="34" charset="-120"/>
              </a:rPr>
              <a:t>One focused review note was added to the expected-output document.</a:t>
            </a:r>
            <a:endParaRPr lang="en-US" sz="1300" dirty="0"/>
          </a:p>
        </p:txBody>
      </p:sp>
      <p:sp>
        <p:nvSpPr>
          <p:cNvPr id="22" name="Shape 19"/>
          <p:cNvSpPr/>
          <p:nvPr/>
        </p:nvSpPr>
        <p:spPr>
          <a:xfrm>
            <a:off x="6903720" y="3639312"/>
            <a:ext cx="4617720" cy="1572768"/>
          </a:xfrm>
          <a:prstGeom prst="roundRect">
            <a:avLst>
              <a:gd name="adj" fmla="val 4070"/>
            </a:avLst>
          </a:prstGeom>
          <a:solidFill>
            <a:srgbClr val="DAFBE1"/>
          </a:solidFill>
          <a:ln w="12700">
            <a:solidFill>
              <a:srgbClr val="1A7F37"/>
            </a:solidFill>
            <a:prstDash val="solid"/>
          </a:ln>
        </p:spPr>
        <p:txBody>
          <a:bodyPr/>
          <a:lstStyle/>
          <a:p>
            <a:endParaRPr lang="en-US"/>
          </a:p>
        </p:txBody>
      </p:sp>
      <p:sp>
        <p:nvSpPr>
          <p:cNvPr id="23" name="Text 20"/>
          <p:cNvSpPr/>
          <p:nvPr/>
        </p:nvSpPr>
        <p:spPr>
          <a:xfrm>
            <a:off x="7159752" y="3849624"/>
            <a:ext cx="4105656" cy="274320"/>
          </a:xfrm>
          <a:prstGeom prst="rect">
            <a:avLst/>
          </a:prstGeom>
          <a:noFill/>
          <a:ln/>
        </p:spPr>
        <p:txBody>
          <a:bodyPr wrap="square" lIns="0" tIns="0" rIns="0" bIns="0" rtlCol="0" anchor="ctr"/>
          <a:lstStyle/>
          <a:p>
            <a:pPr marL="0" indent="0">
              <a:buNone/>
            </a:pPr>
            <a:r>
              <a:rPr lang="en-US" sz="1800" b="1" dirty="0">
                <a:solidFill>
                  <a:srgbClr val="0D1117"/>
                </a:solidFill>
                <a:latin typeface="Aptos Display" pitchFamily="34" charset="0"/>
                <a:ea typeface="Aptos Display" pitchFamily="34" charset="-122"/>
                <a:cs typeface="Aptos Display" pitchFamily="34" charset="-120"/>
              </a:rPr>
              <a:t>Why it changed</a:t>
            </a:r>
            <a:endParaRPr lang="en-US" sz="1800" dirty="0"/>
          </a:p>
        </p:txBody>
      </p:sp>
      <p:sp>
        <p:nvSpPr>
          <p:cNvPr id="24" name="Text 21"/>
          <p:cNvSpPr/>
          <p:nvPr/>
        </p:nvSpPr>
        <p:spPr>
          <a:xfrm>
            <a:off x="7159752" y="4279392"/>
            <a:ext cx="4105656" cy="722376"/>
          </a:xfrm>
          <a:prstGeom prst="rect">
            <a:avLst/>
          </a:prstGeom>
          <a:noFill/>
          <a:ln/>
        </p:spPr>
        <p:txBody>
          <a:bodyPr wrap="square" lIns="0" tIns="0" rIns="0" bIns="0" rtlCol="0" anchor="t"/>
          <a:lstStyle/>
          <a:p>
            <a:pPr marL="0" indent="0">
              <a:buNone/>
            </a:pPr>
            <a:r>
              <a:rPr lang="en-US" sz="1300" dirty="0">
                <a:solidFill>
                  <a:srgbClr val="57606A"/>
                </a:solidFill>
                <a:latin typeface="Aptos" pitchFamily="34" charset="0"/>
                <a:ea typeface="Aptos" pitchFamily="34" charset="-122"/>
                <a:cs typeface="Aptos" pitchFamily="34" charset="-120"/>
              </a:rPr>
              <a:t>Commit message: Document the human count-verification step</a:t>
            </a:r>
            <a:endParaRPr lang="en-US" sz="1300" dirty="0"/>
          </a:p>
        </p:txBody>
      </p:sp>
      <p:sp>
        <p:nvSpPr>
          <p:cNvPr id="25" name="Text 22"/>
          <p:cNvSpPr/>
          <p:nvPr/>
        </p:nvSpPr>
        <p:spPr>
          <a:xfrm>
            <a:off x="1005840" y="5650992"/>
            <a:ext cx="5303520" cy="320040"/>
          </a:xfrm>
          <a:prstGeom prst="rect">
            <a:avLst/>
          </a:prstGeom>
          <a:noFill/>
          <a:ln/>
        </p:spPr>
        <p:txBody>
          <a:bodyPr wrap="square" lIns="0" tIns="0" rIns="0" bIns="0" rtlCol="0" anchor="ctr"/>
          <a:lstStyle/>
          <a:p>
            <a:pPr marL="0" indent="0">
              <a:buNone/>
            </a:pPr>
            <a:r>
              <a:rPr lang="en-US" sz="2000" b="1" dirty="0">
                <a:solidFill>
                  <a:srgbClr val="0D1117"/>
                </a:solidFill>
                <a:latin typeface="Aptos Display" pitchFamily="34" charset="0"/>
                <a:ea typeface="Aptos Display" pitchFamily="34" charset="-122"/>
                <a:cs typeface="Aptos Display" pitchFamily="34" charset="-120"/>
              </a:rPr>
              <a:t>A commit is more than Save.</a:t>
            </a:r>
            <a:endParaRPr lang="en-US" sz="2000" dirty="0"/>
          </a:p>
        </p:txBody>
      </p:sp>
      <p:sp>
        <p:nvSpPr>
          <p:cNvPr id="26" name="Text 23"/>
          <p:cNvSpPr/>
          <p:nvPr/>
        </p:nvSpPr>
        <p:spPr>
          <a:xfrm>
            <a:off x="6903720" y="5669280"/>
            <a:ext cx="4572000" cy="274320"/>
          </a:xfrm>
          <a:prstGeom prst="rect">
            <a:avLst/>
          </a:prstGeom>
          <a:noFill/>
          <a:ln/>
        </p:spPr>
        <p:txBody>
          <a:bodyPr wrap="square" lIns="0" tIns="0" rIns="0" bIns="0" rtlCol="0" anchor="ctr"/>
          <a:lstStyle/>
          <a:p>
            <a:pPr marL="0" indent="0">
              <a:buNone/>
            </a:pPr>
            <a:r>
              <a:rPr lang="en-US" sz="1500" dirty="0">
                <a:solidFill>
                  <a:srgbClr val="57606A"/>
                </a:solidFill>
                <a:latin typeface="Aptos" pitchFamily="34" charset="0"/>
                <a:ea typeface="Aptos" pitchFamily="34" charset="-122"/>
                <a:cs typeface="Aptos" pitchFamily="34" charset="-120"/>
              </a:rPr>
              <a:t>It connects the difference to an explanation.</a:t>
            </a:r>
            <a:endParaRPr lang="en-US" sz="1500" dirty="0"/>
          </a:p>
        </p:txBody>
      </p:sp>
      <p:sp>
        <p:nvSpPr>
          <p:cNvPr id="27" name="Text 24"/>
          <p:cNvSpPr/>
          <p:nvPr/>
        </p:nvSpPr>
        <p:spPr>
          <a:xfrm>
            <a:off x="502920" y="6519672"/>
            <a:ext cx="3840480" cy="146304"/>
          </a:xfrm>
          <a:prstGeom prst="rect">
            <a:avLst/>
          </a:prstGeom>
          <a:noFill/>
          <a:ln/>
        </p:spPr>
        <p:txBody>
          <a:bodyPr wrap="square" lIns="0" tIns="0" rIns="0" bIns="0" rtlCol="0" anchor="ctr"/>
          <a:lstStyle/>
          <a:p>
            <a:pPr marL="0" indent="0">
              <a:buNone/>
            </a:pPr>
            <a:r>
              <a:rPr lang="en-US" sz="800" dirty="0">
                <a:solidFill>
                  <a:srgbClr val="8C959F"/>
                </a:solidFill>
                <a:latin typeface="Aptos" pitchFamily="34" charset="0"/>
                <a:ea typeface="Aptos" pitchFamily="34" charset="-122"/>
                <a:cs typeface="Aptos" pitchFamily="34" charset="-120"/>
              </a:rPr>
              <a:t>GitHub Foundations | Gilead DSS</a:t>
            </a:r>
            <a:endParaRPr lang="en-US" sz="800" dirty="0"/>
          </a:p>
        </p:txBody>
      </p:sp>
      <p:sp>
        <p:nvSpPr>
          <p:cNvPr id="28" name="Text 25">
            <a:hlinkClick r:id="rId4"/>
          </p:cNvPr>
          <p:cNvSpPr/>
          <p:nvPr/>
        </p:nvSpPr>
        <p:spPr>
          <a:xfrm>
            <a:off x="5623560" y="6519672"/>
            <a:ext cx="5897880" cy="146304"/>
          </a:xfrm>
          <a:prstGeom prst="rect">
            <a:avLst/>
          </a:prstGeom>
          <a:noFill/>
          <a:ln/>
        </p:spPr>
        <p:txBody>
          <a:bodyPr wrap="square" lIns="0" tIns="0" rIns="0" bIns="0" rtlCol="0" anchor="ctr"/>
          <a:lstStyle/>
          <a:p>
            <a:pPr marL="0" indent="0" algn="r">
              <a:buNone/>
            </a:pPr>
            <a:r>
              <a:rPr lang="en-US" sz="800" u="sng" dirty="0">
                <a:solidFill>
                  <a:srgbClr val="8C959F"/>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github.com/johnsont1693/scientific-workflow-workshop</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550AE"/>
        </a:solidFill>
        <a:effectLst/>
      </p:bgPr>
    </p:bg>
    <p:spTree>
      <p:nvGrpSpPr>
        <p:cNvPr id="1" name=""/>
        <p:cNvGrpSpPr/>
        <p:nvPr/>
      </p:nvGrpSpPr>
      <p:grpSpPr>
        <a:xfrm>
          <a:off x="0" y="0"/>
          <a:ext cx="0" cy="0"/>
          <a:chOff x="0" y="0"/>
          <a:chExt cx="0" cy="0"/>
        </a:xfrm>
      </p:grpSpPr>
      <p:sp>
        <p:nvSpPr>
          <p:cNvPr id="3" name="Text 40">
            <a:hlinkClick r:id="rId3"/>
            <a:extLst>
              <a:ext uri="{FF2B5EF4-FFF2-40B4-BE49-F238E27FC236}">
                <a16:creationId xmlns:a16="http://schemas.microsoft.com/office/drawing/2014/main" id="{A0B6E46D-5F24-B5CC-8342-94FA6E40D1A7}"/>
              </a:ext>
            </a:extLst>
          </p:cNvPr>
          <p:cNvSpPr/>
          <p:nvPr/>
        </p:nvSpPr>
        <p:spPr>
          <a:xfrm>
            <a:off x="533400" y="2603500"/>
            <a:ext cx="11125200" cy="2476500"/>
          </a:xfrm>
          <a:prstGeom prst="rect">
            <a:avLst/>
          </a:prstGeom>
          <a:noFill/>
          <a:ln/>
        </p:spPr>
        <p:txBody>
          <a:bodyPr wrap="square" lIns="0" tIns="0" rIns="0" bIns="0" rtlCol="0" anchor="ctr">
            <a:noAutofit/>
          </a:bodyPr>
          <a:lstStyle/>
          <a:p>
            <a:pPr marL="0" indent="0">
              <a:buNone/>
            </a:pPr>
            <a:r>
              <a:rPr lang="en-US" sz="2800" b="1">
                <a:solidFill>
                  <a:schemeClr val="bg1"/>
                </a:solidFill>
                <a:latin typeface="Courier New" pitchFamily="34" charset="0"/>
                <a:ea typeface="Courier New" pitchFamily="34" charset="-122"/>
                <a:cs typeface="Courier New" pitchFamily="34" charset="-120"/>
              </a:rPr>
              <a:t>1. Navigate to github.com/johnsont1693</a:t>
            </a:r>
          </a:p>
          <a:p>
            <a:pPr marL="0" indent="0">
              <a:buNone/>
            </a:pPr>
            <a:r>
              <a:rPr lang="en-US" sz="2800" b="1">
                <a:solidFill>
                  <a:schemeClr val="bg1"/>
                </a:solidFill>
                <a:latin typeface="Courier New" pitchFamily="34" charset="0"/>
                <a:ea typeface="Courier New" pitchFamily="34" charset="-122"/>
                <a:cs typeface="Courier New" pitchFamily="34" charset="-120"/>
              </a:rPr>
              <a:t>2. Click Repositories</a:t>
            </a:r>
          </a:p>
          <a:p>
            <a:pPr marL="0" indent="0">
              <a:buNone/>
            </a:pPr>
            <a:r>
              <a:rPr lang="en-US" sz="2800" b="1">
                <a:solidFill>
                  <a:schemeClr val="bg1"/>
                </a:solidFill>
                <a:latin typeface="Courier New" pitchFamily="34" charset="0"/>
                <a:ea typeface="Courier New" pitchFamily="34" charset="-122"/>
                <a:cs typeface="Courier New" pitchFamily="34" charset="-120"/>
              </a:rPr>
              <a:t>3. Click scientific-workflow-workshop</a:t>
            </a:r>
            <a:endParaRPr lang="en-US" sz="2800" b="1" dirty="0">
              <a:solidFill>
                <a:schemeClr val="bg1"/>
              </a:solidFill>
            </a:endParaRPr>
          </a:p>
        </p:txBody>
      </p:sp>
      <p:sp>
        <p:nvSpPr>
          <p:cNvPr id="5" name="Shape 0">
            <a:extLst>
              <a:ext uri="{FF2B5EF4-FFF2-40B4-BE49-F238E27FC236}">
                <a16:creationId xmlns:a16="http://schemas.microsoft.com/office/drawing/2014/main" id="{5FFCC375-88C2-6F1E-2830-24133E93A2B6}"/>
              </a:ext>
            </a:extLst>
          </p:cNvPr>
          <p:cNvSpPr/>
          <p:nvPr/>
        </p:nvSpPr>
        <p:spPr>
          <a:xfrm>
            <a:off x="475488" y="347472"/>
            <a:ext cx="347472" cy="347472"/>
          </a:xfrm>
          <a:prstGeom prst="ellipse">
            <a:avLst/>
          </a:prstGeom>
          <a:solidFill>
            <a:srgbClr val="FFFFFF"/>
          </a:solidFill>
          <a:ln w="12700">
            <a:solidFill>
              <a:srgbClr val="FFFFFF">
                <a:alpha val="0"/>
              </a:srgbClr>
            </a:solidFill>
            <a:prstDash val="solid"/>
          </a:ln>
        </p:spPr>
        <p:txBody>
          <a:bodyPr/>
          <a:lstStyle/>
          <a:p>
            <a:endParaRPr lang="en-US"/>
          </a:p>
        </p:txBody>
      </p:sp>
      <p:pic>
        <p:nvPicPr>
          <p:cNvPr id="7" name="Image 0" descr="/Users/alysiabrown/sandbox/copilot-worktrees/acb-workbench/abrown152-turbo-winner/generated-assets/gilead-sciences-inc/dss-2026/assets/github-mark.png">
            <a:extLst>
              <a:ext uri="{FF2B5EF4-FFF2-40B4-BE49-F238E27FC236}">
                <a16:creationId xmlns:a16="http://schemas.microsoft.com/office/drawing/2014/main" id="{B0D7D1C1-0CDF-04C5-5229-A75B741AB5DB}"/>
              </a:ext>
            </a:extLst>
          </p:cNvPr>
          <p:cNvPicPr>
            <a:picLocks noChangeAspect="1"/>
          </p:cNvPicPr>
          <p:nvPr/>
        </p:nvPicPr>
        <p:blipFill>
          <a:blip r:embed="rId4"/>
          <a:stretch>
            <a:fillRect/>
          </a:stretch>
        </p:blipFill>
        <p:spPr>
          <a:xfrm>
            <a:off x="525780" y="397764"/>
            <a:ext cx="246888" cy="246888"/>
          </a:xfrm>
          <a:prstGeom prst="rect">
            <a:avLst/>
          </a:prstGeom>
        </p:spPr>
      </p:pic>
      <p:sp>
        <p:nvSpPr>
          <p:cNvPr id="9" name="Text 1">
            <a:extLst>
              <a:ext uri="{FF2B5EF4-FFF2-40B4-BE49-F238E27FC236}">
                <a16:creationId xmlns:a16="http://schemas.microsoft.com/office/drawing/2014/main" id="{5A2BFE3F-A3BA-953E-05DA-55507AFE852E}"/>
              </a:ext>
            </a:extLst>
          </p:cNvPr>
          <p:cNvSpPr/>
          <p:nvPr/>
        </p:nvSpPr>
        <p:spPr>
          <a:xfrm>
            <a:off x="896112" y="356616"/>
            <a:ext cx="960120" cy="256032"/>
          </a:xfrm>
          <a:prstGeom prst="rect">
            <a:avLst/>
          </a:prstGeom>
          <a:noFill/>
          <a:ln/>
        </p:spPr>
        <p:txBody>
          <a:bodyPr wrap="square" lIns="0" tIns="0" rIns="0" bIns="0" rtlCol="0" anchor="ctr"/>
          <a:lstStyle/>
          <a:p>
            <a:pPr marL="0" indent="0">
              <a:buNone/>
            </a:pPr>
            <a:r>
              <a:rPr lang="en-US" sz="1700" b="1" dirty="0">
                <a:solidFill>
                  <a:srgbClr val="FFFFFF"/>
                </a:solidFill>
                <a:latin typeface="Aptos Display" pitchFamily="34" charset="0"/>
                <a:ea typeface="Aptos Display" pitchFamily="34" charset="-122"/>
                <a:cs typeface="Aptos Display" pitchFamily="34" charset="-120"/>
              </a:rPr>
              <a:t>GitHub</a:t>
            </a:r>
            <a:endParaRPr lang="en-US" sz="1700" dirty="0"/>
          </a:p>
        </p:txBody>
      </p:sp>
      <p:sp>
        <p:nvSpPr>
          <p:cNvPr id="11" name="Shape 2">
            <a:extLst>
              <a:ext uri="{FF2B5EF4-FFF2-40B4-BE49-F238E27FC236}">
                <a16:creationId xmlns:a16="http://schemas.microsoft.com/office/drawing/2014/main" id="{E5919B4D-A65D-9CC3-3761-FCC639F8B0F1}"/>
              </a:ext>
            </a:extLst>
          </p:cNvPr>
          <p:cNvSpPr/>
          <p:nvPr/>
        </p:nvSpPr>
        <p:spPr>
          <a:xfrm>
            <a:off x="566928" y="1051560"/>
            <a:ext cx="2542032" cy="310896"/>
          </a:xfrm>
          <a:prstGeom prst="roundRect">
            <a:avLst>
              <a:gd name="adj" fmla="val 23529"/>
            </a:avLst>
          </a:prstGeom>
          <a:solidFill>
            <a:srgbClr val="FFFFFF"/>
          </a:solidFill>
          <a:ln w="8890">
            <a:solidFill>
              <a:srgbClr val="FFFFFF"/>
            </a:solidFill>
            <a:prstDash val="solid"/>
          </a:ln>
        </p:spPr>
        <p:txBody>
          <a:bodyPr/>
          <a:lstStyle/>
          <a:p>
            <a:endParaRPr lang="en-US"/>
          </a:p>
        </p:txBody>
      </p:sp>
      <p:sp>
        <p:nvSpPr>
          <p:cNvPr id="13" name="Text 3">
            <a:extLst>
              <a:ext uri="{FF2B5EF4-FFF2-40B4-BE49-F238E27FC236}">
                <a16:creationId xmlns:a16="http://schemas.microsoft.com/office/drawing/2014/main" id="{4B960AB4-FFFC-ED35-0647-47756C13400F}"/>
              </a:ext>
            </a:extLst>
          </p:cNvPr>
          <p:cNvSpPr/>
          <p:nvPr/>
        </p:nvSpPr>
        <p:spPr>
          <a:xfrm>
            <a:off x="658368" y="1147572"/>
            <a:ext cx="2359152" cy="109728"/>
          </a:xfrm>
          <a:prstGeom prst="rect">
            <a:avLst/>
          </a:prstGeom>
          <a:noFill/>
          <a:ln/>
        </p:spPr>
        <p:txBody>
          <a:bodyPr wrap="square" lIns="0" tIns="0" rIns="0" bIns="0" rtlCol="0" anchor="ctr"/>
          <a:lstStyle/>
          <a:p>
            <a:pPr marL="0" indent="0" algn="ctr">
              <a:buNone/>
            </a:pPr>
            <a:r>
              <a:rPr lang="en-US" sz="850" b="1" kern="0" spc="70" dirty="0">
                <a:solidFill>
                  <a:srgbClr val="0550AE"/>
                </a:solidFill>
                <a:latin typeface="Aptos" pitchFamily="34" charset="0"/>
                <a:ea typeface="Aptos" pitchFamily="34" charset="-122"/>
                <a:cs typeface="Aptos" pitchFamily="34" charset="-120"/>
              </a:rPr>
              <a:t>BROWSER LAB 1 | 12 MINUTES</a:t>
            </a:r>
            <a:endParaRPr lang="en-US" sz="850" dirty="0"/>
          </a:p>
        </p:txBody>
      </p:sp>
    </p:spTree>
    <p:extLst>
      <p:ext uri="{BB962C8B-B14F-4D97-AF65-F5344CB8AC3E}">
        <p14:creationId xmlns:p14="http://schemas.microsoft.com/office/powerpoint/2010/main" val="3244192803"/>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0550AE"/>
        </a:solidFill>
        <a:effectLst/>
      </p:bgPr>
    </p:bg>
    <p:spTree>
      <p:nvGrpSpPr>
        <p:cNvPr id="1" name=""/>
        <p:cNvGrpSpPr/>
        <p:nvPr/>
      </p:nvGrpSpPr>
      <p:grpSpPr>
        <a:xfrm>
          <a:off x="0" y="0"/>
          <a:ext cx="0" cy="0"/>
          <a:chOff x="0" y="0"/>
          <a:chExt cx="0" cy="0"/>
        </a:xfrm>
      </p:grpSpPr>
      <p:sp>
        <p:nvSpPr>
          <p:cNvPr id="2" name="Shape 0"/>
          <p:cNvSpPr/>
          <p:nvPr/>
        </p:nvSpPr>
        <p:spPr>
          <a:xfrm>
            <a:off x="475488" y="347472"/>
            <a:ext cx="347472" cy="347472"/>
          </a:xfrm>
          <a:prstGeom prst="ellipse">
            <a:avLst/>
          </a:prstGeom>
          <a:solidFill>
            <a:srgbClr val="FFFFFF"/>
          </a:solidFill>
          <a:ln w="12700">
            <a:solidFill>
              <a:srgbClr val="FFFFFF">
                <a:alpha val="0"/>
              </a:srgbClr>
            </a:solidFill>
            <a:prstDash val="solid"/>
          </a:ln>
        </p:spPr>
        <p:txBody>
          <a:bodyPr/>
          <a:lstStyle/>
          <a:p>
            <a:endParaRPr lang="en-US"/>
          </a:p>
        </p:txBody>
      </p:sp>
      <p:pic>
        <p:nvPicPr>
          <p:cNvPr id="3" name="Image 0" descr="/Users/alysiabrown/sandbox/copilot-worktrees/acb-workbench/abrown152-turbo-winner/generated-assets/gilead-sciences-inc/dss-2026/assets/github-mark.png"/>
          <p:cNvPicPr>
            <a:picLocks noChangeAspect="1"/>
          </p:cNvPicPr>
          <p:nvPr/>
        </p:nvPicPr>
        <p:blipFill>
          <a:blip r:embed="rId3"/>
          <a:stretch>
            <a:fillRect/>
          </a:stretch>
        </p:blipFill>
        <p:spPr>
          <a:xfrm>
            <a:off x="525780" y="397764"/>
            <a:ext cx="246888" cy="246888"/>
          </a:xfrm>
          <a:prstGeom prst="rect">
            <a:avLst/>
          </a:prstGeom>
        </p:spPr>
      </p:pic>
      <p:sp>
        <p:nvSpPr>
          <p:cNvPr id="4" name="Text 1"/>
          <p:cNvSpPr/>
          <p:nvPr/>
        </p:nvSpPr>
        <p:spPr>
          <a:xfrm>
            <a:off x="896112" y="356616"/>
            <a:ext cx="960120" cy="256032"/>
          </a:xfrm>
          <a:prstGeom prst="rect">
            <a:avLst/>
          </a:prstGeom>
          <a:noFill/>
          <a:ln/>
        </p:spPr>
        <p:txBody>
          <a:bodyPr wrap="square" lIns="0" tIns="0" rIns="0" bIns="0" rtlCol="0" anchor="ctr"/>
          <a:lstStyle/>
          <a:p>
            <a:pPr marL="0" indent="0">
              <a:buNone/>
            </a:pPr>
            <a:r>
              <a:rPr lang="en-US" sz="1700" b="1" dirty="0">
                <a:solidFill>
                  <a:srgbClr val="FFFFFF"/>
                </a:solidFill>
                <a:latin typeface="Aptos Display" pitchFamily="34" charset="0"/>
                <a:ea typeface="Aptos Display" pitchFamily="34" charset="-122"/>
                <a:cs typeface="Aptos Display" pitchFamily="34" charset="-120"/>
              </a:rPr>
              <a:t>GitHub</a:t>
            </a:r>
            <a:endParaRPr lang="en-US" sz="1700" dirty="0"/>
          </a:p>
        </p:txBody>
      </p:sp>
      <p:sp>
        <p:nvSpPr>
          <p:cNvPr id="5" name="Shape 2"/>
          <p:cNvSpPr/>
          <p:nvPr/>
        </p:nvSpPr>
        <p:spPr>
          <a:xfrm>
            <a:off x="566928" y="1051560"/>
            <a:ext cx="2542032" cy="310896"/>
          </a:xfrm>
          <a:prstGeom prst="roundRect">
            <a:avLst>
              <a:gd name="adj" fmla="val 23529"/>
            </a:avLst>
          </a:prstGeom>
          <a:solidFill>
            <a:srgbClr val="FFFFFF"/>
          </a:solidFill>
          <a:ln w="8890">
            <a:solidFill>
              <a:srgbClr val="FFFFFF"/>
            </a:solidFill>
            <a:prstDash val="solid"/>
          </a:ln>
        </p:spPr>
        <p:txBody>
          <a:bodyPr/>
          <a:lstStyle/>
          <a:p>
            <a:endParaRPr lang="en-US"/>
          </a:p>
        </p:txBody>
      </p:sp>
      <p:sp>
        <p:nvSpPr>
          <p:cNvPr id="6" name="Text 3"/>
          <p:cNvSpPr/>
          <p:nvPr/>
        </p:nvSpPr>
        <p:spPr>
          <a:xfrm>
            <a:off x="658368" y="1147572"/>
            <a:ext cx="2359152" cy="109728"/>
          </a:xfrm>
          <a:prstGeom prst="rect">
            <a:avLst/>
          </a:prstGeom>
          <a:noFill/>
          <a:ln/>
        </p:spPr>
        <p:txBody>
          <a:bodyPr wrap="square" lIns="0" tIns="0" rIns="0" bIns="0" rtlCol="0" anchor="ctr"/>
          <a:lstStyle/>
          <a:p>
            <a:pPr marL="0" indent="0" algn="ctr">
              <a:buNone/>
            </a:pPr>
            <a:r>
              <a:rPr lang="en-US" sz="850" b="1" kern="0" spc="70" dirty="0">
                <a:solidFill>
                  <a:srgbClr val="0550AE"/>
                </a:solidFill>
                <a:latin typeface="Aptos" pitchFamily="34" charset="0"/>
                <a:ea typeface="Aptos" pitchFamily="34" charset="-122"/>
                <a:cs typeface="Aptos" pitchFamily="34" charset="-120"/>
              </a:rPr>
              <a:t>BROWSER LAB 1 | 12 MINUTES</a:t>
            </a:r>
            <a:endParaRPr lang="en-US" sz="850" dirty="0"/>
          </a:p>
        </p:txBody>
      </p:sp>
      <p:sp>
        <p:nvSpPr>
          <p:cNvPr id="7" name="Text 4"/>
          <p:cNvSpPr/>
          <p:nvPr/>
        </p:nvSpPr>
        <p:spPr>
          <a:xfrm>
            <a:off x="566928" y="1664208"/>
            <a:ext cx="5943600" cy="585216"/>
          </a:xfrm>
          <a:prstGeom prst="rect">
            <a:avLst/>
          </a:prstGeom>
          <a:noFill/>
          <a:ln/>
        </p:spPr>
        <p:txBody>
          <a:bodyPr wrap="square" lIns="0" tIns="0" rIns="0" bIns="0" rtlCol="0" anchor="ctr"/>
          <a:lstStyle/>
          <a:p>
            <a:pPr marL="0" indent="0">
              <a:buNone/>
            </a:pPr>
            <a:r>
              <a:rPr lang="en-US" sz="3800" b="1" dirty="0">
                <a:solidFill>
                  <a:srgbClr val="FFFFFF"/>
                </a:solidFill>
                <a:latin typeface="Aptos Display" pitchFamily="34" charset="0"/>
                <a:ea typeface="Aptos Display" pitchFamily="34" charset="-122"/>
                <a:cs typeface="Aptos Display" pitchFamily="34" charset="-120"/>
              </a:rPr>
              <a:t>Make one focused change</a:t>
            </a:r>
            <a:endParaRPr lang="en-US" sz="3800" dirty="0"/>
          </a:p>
        </p:txBody>
      </p:sp>
      <p:sp>
        <p:nvSpPr>
          <p:cNvPr id="8" name="Shape 5"/>
          <p:cNvSpPr/>
          <p:nvPr/>
        </p:nvSpPr>
        <p:spPr>
          <a:xfrm>
            <a:off x="685800" y="2670048"/>
            <a:ext cx="475488" cy="475488"/>
          </a:xfrm>
          <a:prstGeom prst="ellipse">
            <a:avLst/>
          </a:prstGeom>
          <a:solidFill>
            <a:srgbClr val="FFFFFF"/>
          </a:solidFill>
          <a:ln w="12700">
            <a:solidFill>
              <a:srgbClr val="FFFFFF">
                <a:alpha val="0"/>
              </a:srgbClr>
            </a:solidFill>
            <a:prstDash val="solid"/>
          </a:ln>
        </p:spPr>
        <p:txBody>
          <a:bodyPr/>
          <a:lstStyle/>
          <a:p>
            <a:endParaRPr lang="en-US"/>
          </a:p>
        </p:txBody>
      </p:sp>
      <p:sp>
        <p:nvSpPr>
          <p:cNvPr id="9" name="Text 6"/>
          <p:cNvSpPr/>
          <p:nvPr/>
        </p:nvSpPr>
        <p:spPr>
          <a:xfrm>
            <a:off x="685800" y="2802636"/>
            <a:ext cx="475488" cy="137160"/>
          </a:xfrm>
          <a:prstGeom prst="rect">
            <a:avLst/>
          </a:prstGeom>
          <a:noFill/>
          <a:ln/>
        </p:spPr>
        <p:txBody>
          <a:bodyPr wrap="square" lIns="0" tIns="0" rIns="0" bIns="0" rtlCol="0" anchor="ctr"/>
          <a:lstStyle/>
          <a:p>
            <a:pPr marL="0" indent="0" algn="ctr">
              <a:buNone/>
            </a:pPr>
            <a:r>
              <a:rPr lang="en-US" sz="1200" b="1" dirty="0">
                <a:solidFill>
                  <a:srgbClr val="0D1117"/>
                </a:solidFill>
                <a:latin typeface="Aptos Display" pitchFamily="34" charset="0"/>
                <a:ea typeface="Aptos Display" pitchFamily="34" charset="-122"/>
                <a:cs typeface="Aptos Display" pitchFamily="34" charset="-120"/>
              </a:rPr>
              <a:t>1</a:t>
            </a:r>
            <a:endParaRPr lang="en-US" sz="1200" dirty="0"/>
          </a:p>
        </p:txBody>
      </p:sp>
      <p:sp>
        <p:nvSpPr>
          <p:cNvPr id="10" name="Text 7"/>
          <p:cNvSpPr/>
          <p:nvPr/>
        </p:nvSpPr>
        <p:spPr>
          <a:xfrm>
            <a:off x="1371600" y="2779776"/>
            <a:ext cx="5349240" cy="274320"/>
          </a:xfrm>
          <a:prstGeom prst="rect">
            <a:avLst/>
          </a:prstGeom>
          <a:noFill/>
          <a:ln/>
        </p:spPr>
        <p:txBody>
          <a:bodyPr wrap="square" lIns="0" tIns="0" rIns="0" bIns="0" rtlCol="0" anchor="ctr"/>
          <a:lstStyle/>
          <a:p>
            <a:pPr marL="0" indent="0">
              <a:buNone/>
            </a:pPr>
            <a:r>
              <a:rPr lang="en-US" sz="1600" dirty="0">
                <a:solidFill>
                  <a:srgbClr val="FFFFFF"/>
                </a:solidFill>
                <a:latin typeface="Aptos" pitchFamily="34" charset="0"/>
                <a:ea typeface="Aptos" pitchFamily="34" charset="-122"/>
                <a:cs typeface="Aptos" pitchFamily="34" charset="-120"/>
              </a:rPr>
              <a:t>Open workshop/01-foundations-browser-lab.md</a:t>
            </a:r>
            <a:endParaRPr lang="en-US" sz="1600" dirty="0"/>
          </a:p>
        </p:txBody>
      </p:sp>
      <p:sp>
        <p:nvSpPr>
          <p:cNvPr id="11" name="Shape 8"/>
          <p:cNvSpPr/>
          <p:nvPr/>
        </p:nvSpPr>
        <p:spPr>
          <a:xfrm>
            <a:off x="685800" y="3328416"/>
            <a:ext cx="475488" cy="475488"/>
          </a:xfrm>
          <a:prstGeom prst="ellipse">
            <a:avLst/>
          </a:prstGeom>
          <a:solidFill>
            <a:srgbClr val="FFFFFF"/>
          </a:solidFill>
          <a:ln w="12700">
            <a:solidFill>
              <a:srgbClr val="FFFFFF">
                <a:alpha val="0"/>
              </a:srgbClr>
            </a:solidFill>
            <a:prstDash val="solid"/>
          </a:ln>
        </p:spPr>
        <p:txBody>
          <a:bodyPr/>
          <a:lstStyle/>
          <a:p>
            <a:endParaRPr lang="en-US"/>
          </a:p>
        </p:txBody>
      </p:sp>
      <p:sp>
        <p:nvSpPr>
          <p:cNvPr id="12" name="Text 9"/>
          <p:cNvSpPr/>
          <p:nvPr/>
        </p:nvSpPr>
        <p:spPr>
          <a:xfrm>
            <a:off x="685800" y="3461004"/>
            <a:ext cx="475488" cy="137160"/>
          </a:xfrm>
          <a:prstGeom prst="rect">
            <a:avLst/>
          </a:prstGeom>
          <a:noFill/>
          <a:ln/>
        </p:spPr>
        <p:txBody>
          <a:bodyPr wrap="square" lIns="0" tIns="0" rIns="0" bIns="0" rtlCol="0" anchor="ctr"/>
          <a:lstStyle/>
          <a:p>
            <a:pPr marL="0" indent="0" algn="ctr">
              <a:buNone/>
            </a:pPr>
            <a:r>
              <a:rPr lang="en-US" sz="1200" b="1" dirty="0">
                <a:solidFill>
                  <a:srgbClr val="0D1117"/>
                </a:solidFill>
                <a:latin typeface="Aptos Display" pitchFamily="34" charset="0"/>
                <a:ea typeface="Aptos Display" pitchFamily="34" charset="-122"/>
                <a:cs typeface="Aptos Display" pitchFamily="34" charset="-120"/>
              </a:rPr>
              <a:t>2</a:t>
            </a:r>
            <a:endParaRPr lang="en-US" sz="1200" dirty="0"/>
          </a:p>
        </p:txBody>
      </p:sp>
      <p:sp>
        <p:nvSpPr>
          <p:cNvPr id="13" name="Text 10"/>
          <p:cNvSpPr/>
          <p:nvPr/>
        </p:nvSpPr>
        <p:spPr>
          <a:xfrm>
            <a:off x="1371600" y="3438144"/>
            <a:ext cx="5349240" cy="274320"/>
          </a:xfrm>
          <a:prstGeom prst="rect">
            <a:avLst/>
          </a:prstGeom>
          <a:noFill/>
          <a:ln/>
        </p:spPr>
        <p:txBody>
          <a:bodyPr wrap="square" lIns="0" tIns="0" rIns="0" bIns="0" rtlCol="0" anchor="ctr"/>
          <a:lstStyle/>
          <a:p>
            <a:pPr marL="0" indent="0">
              <a:buNone/>
            </a:pPr>
            <a:r>
              <a:rPr lang="en-US" sz="1600" dirty="0">
                <a:solidFill>
                  <a:srgbClr val="FFFFFF"/>
                </a:solidFill>
                <a:latin typeface="Aptos" pitchFamily="34" charset="0"/>
                <a:ea typeface="Aptos" pitchFamily="34" charset="-122"/>
                <a:cs typeface="Aptos" pitchFamily="34" charset="-120"/>
              </a:rPr>
              <a:t>Edit checks/expected-output.md</a:t>
            </a:r>
            <a:endParaRPr lang="en-US" sz="1600" dirty="0"/>
          </a:p>
        </p:txBody>
      </p:sp>
      <p:sp>
        <p:nvSpPr>
          <p:cNvPr id="14" name="Shape 11"/>
          <p:cNvSpPr/>
          <p:nvPr/>
        </p:nvSpPr>
        <p:spPr>
          <a:xfrm>
            <a:off x="685800" y="3986784"/>
            <a:ext cx="475488" cy="475488"/>
          </a:xfrm>
          <a:prstGeom prst="ellipse">
            <a:avLst/>
          </a:prstGeom>
          <a:solidFill>
            <a:srgbClr val="FFFFFF"/>
          </a:solidFill>
          <a:ln w="12700">
            <a:solidFill>
              <a:srgbClr val="FFFFFF">
                <a:alpha val="0"/>
              </a:srgbClr>
            </a:solidFill>
            <a:prstDash val="solid"/>
          </a:ln>
        </p:spPr>
        <p:txBody>
          <a:bodyPr/>
          <a:lstStyle/>
          <a:p>
            <a:endParaRPr lang="en-US"/>
          </a:p>
        </p:txBody>
      </p:sp>
      <p:sp>
        <p:nvSpPr>
          <p:cNvPr id="15" name="Text 12"/>
          <p:cNvSpPr/>
          <p:nvPr/>
        </p:nvSpPr>
        <p:spPr>
          <a:xfrm>
            <a:off x="685800" y="4119372"/>
            <a:ext cx="475488" cy="137160"/>
          </a:xfrm>
          <a:prstGeom prst="rect">
            <a:avLst/>
          </a:prstGeom>
          <a:noFill/>
          <a:ln/>
        </p:spPr>
        <p:txBody>
          <a:bodyPr wrap="square" lIns="0" tIns="0" rIns="0" bIns="0" rtlCol="0" anchor="ctr"/>
          <a:lstStyle/>
          <a:p>
            <a:pPr marL="0" indent="0" algn="ctr">
              <a:buNone/>
            </a:pPr>
            <a:r>
              <a:rPr lang="en-US" sz="1200" b="1" dirty="0">
                <a:solidFill>
                  <a:srgbClr val="0D1117"/>
                </a:solidFill>
                <a:latin typeface="Aptos Display" pitchFamily="34" charset="0"/>
                <a:ea typeface="Aptos Display" pitchFamily="34" charset="-122"/>
                <a:cs typeface="Aptos Display" pitchFamily="34" charset="-120"/>
              </a:rPr>
              <a:t>3</a:t>
            </a:r>
            <a:endParaRPr lang="en-US" sz="1200" dirty="0"/>
          </a:p>
        </p:txBody>
      </p:sp>
      <p:sp>
        <p:nvSpPr>
          <p:cNvPr id="16" name="Text 13"/>
          <p:cNvSpPr/>
          <p:nvPr/>
        </p:nvSpPr>
        <p:spPr>
          <a:xfrm>
            <a:off x="1371600" y="4096512"/>
            <a:ext cx="5349240" cy="274320"/>
          </a:xfrm>
          <a:prstGeom prst="rect">
            <a:avLst/>
          </a:prstGeom>
          <a:noFill/>
          <a:ln/>
        </p:spPr>
        <p:txBody>
          <a:bodyPr wrap="square" lIns="0" tIns="0" rIns="0" bIns="0" rtlCol="0" anchor="ctr"/>
          <a:lstStyle/>
          <a:p>
            <a:pPr marL="0" indent="0">
              <a:buNone/>
            </a:pPr>
            <a:r>
              <a:rPr lang="en-US" sz="1600" dirty="0">
                <a:solidFill>
                  <a:srgbClr val="FFFFFF"/>
                </a:solidFill>
                <a:latin typeface="Aptos" pitchFamily="34" charset="0"/>
                <a:ea typeface="Aptos" pitchFamily="34" charset="-122"/>
                <a:cs typeface="Aptos" pitchFamily="34" charset="-120"/>
              </a:rPr>
              <a:t>Create foundations/&lt;pair-id&gt;-review-note</a:t>
            </a:r>
            <a:endParaRPr lang="en-US" sz="1600" dirty="0"/>
          </a:p>
        </p:txBody>
      </p:sp>
      <p:sp>
        <p:nvSpPr>
          <p:cNvPr id="17" name="Shape 14"/>
          <p:cNvSpPr/>
          <p:nvPr/>
        </p:nvSpPr>
        <p:spPr>
          <a:xfrm>
            <a:off x="685800" y="4645152"/>
            <a:ext cx="475488" cy="475488"/>
          </a:xfrm>
          <a:prstGeom prst="ellipse">
            <a:avLst/>
          </a:prstGeom>
          <a:solidFill>
            <a:srgbClr val="FFFFFF"/>
          </a:solidFill>
          <a:ln w="12700">
            <a:solidFill>
              <a:srgbClr val="FFFFFF">
                <a:alpha val="0"/>
              </a:srgbClr>
            </a:solidFill>
            <a:prstDash val="solid"/>
          </a:ln>
        </p:spPr>
        <p:txBody>
          <a:bodyPr/>
          <a:lstStyle/>
          <a:p>
            <a:endParaRPr lang="en-US"/>
          </a:p>
        </p:txBody>
      </p:sp>
      <p:sp>
        <p:nvSpPr>
          <p:cNvPr id="18" name="Text 15"/>
          <p:cNvSpPr/>
          <p:nvPr/>
        </p:nvSpPr>
        <p:spPr>
          <a:xfrm>
            <a:off x="685800" y="4777740"/>
            <a:ext cx="475488" cy="137160"/>
          </a:xfrm>
          <a:prstGeom prst="rect">
            <a:avLst/>
          </a:prstGeom>
          <a:noFill/>
          <a:ln/>
        </p:spPr>
        <p:txBody>
          <a:bodyPr wrap="square" lIns="0" tIns="0" rIns="0" bIns="0" rtlCol="0" anchor="ctr"/>
          <a:lstStyle/>
          <a:p>
            <a:pPr marL="0" indent="0" algn="ctr">
              <a:buNone/>
            </a:pPr>
            <a:r>
              <a:rPr lang="en-US" sz="1200" b="1" dirty="0">
                <a:solidFill>
                  <a:srgbClr val="0D1117"/>
                </a:solidFill>
                <a:latin typeface="Aptos Display" pitchFamily="34" charset="0"/>
                <a:ea typeface="Aptos Display" pitchFamily="34" charset="-122"/>
                <a:cs typeface="Aptos Display" pitchFamily="34" charset="-120"/>
              </a:rPr>
              <a:t>4</a:t>
            </a:r>
            <a:endParaRPr lang="en-US" sz="1200" dirty="0"/>
          </a:p>
        </p:txBody>
      </p:sp>
      <p:sp>
        <p:nvSpPr>
          <p:cNvPr id="19" name="Text 16"/>
          <p:cNvSpPr/>
          <p:nvPr/>
        </p:nvSpPr>
        <p:spPr>
          <a:xfrm>
            <a:off x="1371600" y="4754880"/>
            <a:ext cx="5349240" cy="274320"/>
          </a:xfrm>
          <a:prstGeom prst="rect">
            <a:avLst/>
          </a:prstGeom>
          <a:noFill/>
          <a:ln/>
        </p:spPr>
        <p:txBody>
          <a:bodyPr wrap="square" lIns="0" tIns="0" rIns="0" bIns="0" rtlCol="0" anchor="ctr"/>
          <a:lstStyle/>
          <a:p>
            <a:pPr marL="0" indent="0">
              <a:buNone/>
            </a:pPr>
            <a:r>
              <a:rPr lang="en-US" sz="1600" dirty="0">
                <a:solidFill>
                  <a:srgbClr val="FFFFFF"/>
                </a:solidFill>
                <a:latin typeface="Aptos" pitchFamily="34" charset="0"/>
                <a:ea typeface="Aptos" pitchFamily="34" charset="-122"/>
                <a:cs typeface="Aptos" pitchFamily="34" charset="-120"/>
              </a:rPr>
              <a:t>Commit with an intent-focused message</a:t>
            </a:r>
            <a:endParaRPr lang="en-US" sz="1600" dirty="0"/>
          </a:p>
        </p:txBody>
      </p:sp>
      <p:sp>
        <p:nvSpPr>
          <p:cNvPr id="20" name="Shape 17"/>
          <p:cNvSpPr/>
          <p:nvPr/>
        </p:nvSpPr>
        <p:spPr>
          <a:xfrm>
            <a:off x="7059168" y="1298448"/>
            <a:ext cx="4526280" cy="4498848"/>
          </a:xfrm>
          <a:prstGeom prst="roundRect">
            <a:avLst>
              <a:gd name="adj" fmla="val 1626"/>
            </a:avLst>
          </a:prstGeom>
          <a:solidFill>
            <a:srgbClr val="FFFFFF"/>
          </a:solidFill>
          <a:ln w="11430">
            <a:solidFill>
              <a:srgbClr val="D0D7DE"/>
            </a:solidFill>
            <a:prstDash val="solid"/>
          </a:ln>
          <a:effectLst>
            <a:outerShdw blurRad="38100" dist="12700" dir="2700000" algn="bl" rotWithShape="0">
              <a:srgbClr val="000000">
                <a:alpha val="14000"/>
              </a:srgbClr>
            </a:outerShdw>
          </a:effectLst>
        </p:spPr>
        <p:txBody>
          <a:bodyPr/>
          <a:lstStyle/>
          <a:p>
            <a:endParaRPr lang="en-US"/>
          </a:p>
        </p:txBody>
      </p:sp>
      <p:sp>
        <p:nvSpPr>
          <p:cNvPr id="21" name="Shape 18"/>
          <p:cNvSpPr/>
          <p:nvPr/>
        </p:nvSpPr>
        <p:spPr>
          <a:xfrm>
            <a:off x="7059168" y="1298448"/>
            <a:ext cx="4526280" cy="457200"/>
          </a:xfrm>
          <a:prstGeom prst="rect">
            <a:avLst/>
          </a:prstGeom>
          <a:solidFill>
            <a:srgbClr val="F6F8FA"/>
          </a:solidFill>
          <a:ln w="8890">
            <a:solidFill>
              <a:srgbClr val="D0D7DE"/>
            </a:solidFill>
            <a:prstDash val="solid"/>
          </a:ln>
        </p:spPr>
        <p:txBody>
          <a:bodyPr/>
          <a:lstStyle/>
          <a:p>
            <a:endParaRPr lang="en-US"/>
          </a:p>
        </p:txBody>
      </p:sp>
      <p:sp>
        <p:nvSpPr>
          <p:cNvPr id="22" name="Shape 19"/>
          <p:cNvSpPr/>
          <p:nvPr/>
        </p:nvSpPr>
        <p:spPr>
          <a:xfrm>
            <a:off x="7223760" y="1463040"/>
            <a:ext cx="100584" cy="100584"/>
          </a:xfrm>
          <a:prstGeom prst="ellipse">
            <a:avLst/>
          </a:prstGeom>
          <a:solidFill>
            <a:srgbClr val="CF222E"/>
          </a:solidFill>
          <a:ln w="12700">
            <a:solidFill>
              <a:srgbClr val="CF222E">
                <a:alpha val="0"/>
              </a:srgbClr>
            </a:solidFill>
            <a:prstDash val="solid"/>
          </a:ln>
        </p:spPr>
        <p:txBody>
          <a:bodyPr/>
          <a:lstStyle/>
          <a:p>
            <a:endParaRPr lang="en-US"/>
          </a:p>
        </p:txBody>
      </p:sp>
      <p:sp>
        <p:nvSpPr>
          <p:cNvPr id="23" name="Shape 20"/>
          <p:cNvSpPr/>
          <p:nvPr/>
        </p:nvSpPr>
        <p:spPr>
          <a:xfrm>
            <a:off x="7424928" y="1463040"/>
            <a:ext cx="100584" cy="100584"/>
          </a:xfrm>
          <a:prstGeom prst="ellipse">
            <a:avLst/>
          </a:prstGeom>
          <a:solidFill>
            <a:srgbClr val="BF8700"/>
          </a:solidFill>
          <a:ln w="12700">
            <a:solidFill>
              <a:srgbClr val="BF8700">
                <a:alpha val="0"/>
              </a:srgbClr>
            </a:solidFill>
            <a:prstDash val="solid"/>
          </a:ln>
        </p:spPr>
        <p:txBody>
          <a:bodyPr/>
          <a:lstStyle/>
          <a:p>
            <a:endParaRPr lang="en-US"/>
          </a:p>
        </p:txBody>
      </p:sp>
      <p:sp>
        <p:nvSpPr>
          <p:cNvPr id="24" name="Shape 21"/>
          <p:cNvSpPr/>
          <p:nvPr/>
        </p:nvSpPr>
        <p:spPr>
          <a:xfrm>
            <a:off x="7626096" y="1463040"/>
            <a:ext cx="100584" cy="100584"/>
          </a:xfrm>
          <a:prstGeom prst="ellipse">
            <a:avLst/>
          </a:prstGeom>
          <a:solidFill>
            <a:srgbClr val="1A7F37"/>
          </a:solidFill>
          <a:ln w="12700">
            <a:solidFill>
              <a:srgbClr val="1A7F37">
                <a:alpha val="0"/>
              </a:srgbClr>
            </a:solidFill>
            <a:prstDash val="solid"/>
          </a:ln>
        </p:spPr>
        <p:txBody>
          <a:bodyPr/>
          <a:lstStyle/>
          <a:p>
            <a:endParaRPr lang="en-US"/>
          </a:p>
        </p:txBody>
      </p:sp>
      <p:sp>
        <p:nvSpPr>
          <p:cNvPr id="25" name="Shape 22"/>
          <p:cNvSpPr/>
          <p:nvPr/>
        </p:nvSpPr>
        <p:spPr>
          <a:xfrm>
            <a:off x="7900416" y="1399032"/>
            <a:ext cx="3465576" cy="256032"/>
          </a:xfrm>
          <a:prstGeom prst="roundRect">
            <a:avLst>
              <a:gd name="adj" fmla="val 14286"/>
            </a:avLst>
          </a:prstGeom>
          <a:solidFill>
            <a:srgbClr val="FFFFFF"/>
          </a:solidFill>
          <a:ln w="6350">
            <a:solidFill>
              <a:srgbClr val="D0D7DE"/>
            </a:solidFill>
            <a:prstDash val="solid"/>
          </a:ln>
        </p:spPr>
        <p:txBody>
          <a:bodyPr/>
          <a:lstStyle/>
          <a:p>
            <a:endParaRPr lang="en-US"/>
          </a:p>
        </p:txBody>
      </p:sp>
      <p:sp>
        <p:nvSpPr>
          <p:cNvPr id="26" name="Text 23"/>
          <p:cNvSpPr/>
          <p:nvPr/>
        </p:nvSpPr>
        <p:spPr>
          <a:xfrm>
            <a:off x="8046720" y="1472184"/>
            <a:ext cx="3172968" cy="91440"/>
          </a:xfrm>
          <a:prstGeom prst="rect">
            <a:avLst/>
          </a:prstGeom>
          <a:noFill/>
          <a:ln/>
        </p:spPr>
        <p:txBody>
          <a:bodyPr wrap="square" lIns="0" tIns="0" rIns="0" bIns="0" rtlCol="0" anchor="ctr"/>
          <a:lstStyle/>
          <a:p>
            <a:pPr marL="0" indent="0">
              <a:buNone/>
            </a:pPr>
            <a:r>
              <a:rPr lang="en-US" sz="720" dirty="0">
                <a:solidFill>
                  <a:srgbClr val="57606A"/>
                </a:solidFill>
                <a:latin typeface="Courier New" pitchFamily="34" charset="0"/>
                <a:ea typeface="Courier New" pitchFamily="34" charset="-122"/>
                <a:cs typeface="Courier New" pitchFamily="34" charset="-120"/>
              </a:rPr>
              <a:t>Approved working repo / checks/expected-output.md</a:t>
            </a:r>
            <a:endParaRPr lang="en-US" sz="720" dirty="0"/>
          </a:p>
        </p:txBody>
      </p:sp>
      <p:sp>
        <p:nvSpPr>
          <p:cNvPr id="27" name="Text 24"/>
          <p:cNvSpPr/>
          <p:nvPr/>
        </p:nvSpPr>
        <p:spPr>
          <a:xfrm>
            <a:off x="7379208" y="2103120"/>
            <a:ext cx="2377440" cy="256032"/>
          </a:xfrm>
          <a:prstGeom prst="rect">
            <a:avLst/>
          </a:prstGeom>
          <a:noFill/>
          <a:ln/>
        </p:spPr>
        <p:txBody>
          <a:bodyPr wrap="square" lIns="0" tIns="0" rIns="0" bIns="0" rtlCol="0" anchor="ctr"/>
          <a:lstStyle/>
          <a:p>
            <a:pPr marL="0" indent="0">
              <a:buNone/>
            </a:pPr>
            <a:r>
              <a:rPr lang="en-US" sz="1700" b="1" dirty="0">
                <a:solidFill>
                  <a:srgbClr val="0D1117"/>
                </a:solidFill>
                <a:latin typeface="Aptos Display" pitchFamily="34" charset="0"/>
                <a:ea typeface="Aptos Display" pitchFamily="34" charset="-122"/>
                <a:cs typeface="Aptos Display" pitchFamily="34" charset="-120"/>
              </a:rPr>
              <a:t>Commit changes</a:t>
            </a:r>
            <a:endParaRPr lang="en-US" sz="1700" dirty="0"/>
          </a:p>
        </p:txBody>
      </p:sp>
      <p:sp>
        <p:nvSpPr>
          <p:cNvPr id="28" name="Text 25"/>
          <p:cNvSpPr/>
          <p:nvPr/>
        </p:nvSpPr>
        <p:spPr>
          <a:xfrm>
            <a:off x="7379208" y="2715768"/>
            <a:ext cx="1645920" cy="182880"/>
          </a:xfrm>
          <a:prstGeom prst="rect">
            <a:avLst/>
          </a:prstGeom>
          <a:noFill/>
          <a:ln/>
        </p:spPr>
        <p:txBody>
          <a:bodyPr wrap="square" lIns="0" tIns="0" rIns="0" bIns="0" rtlCol="0" anchor="ctr"/>
          <a:lstStyle/>
          <a:p>
            <a:pPr marL="0" indent="0">
              <a:buNone/>
            </a:pPr>
            <a:r>
              <a:rPr lang="en-US" sz="1000" b="1" dirty="0">
                <a:solidFill>
                  <a:srgbClr val="57606A"/>
                </a:solidFill>
                <a:latin typeface="Aptos" pitchFamily="34" charset="0"/>
                <a:ea typeface="Aptos" pitchFamily="34" charset="-122"/>
                <a:cs typeface="Aptos" pitchFamily="34" charset="-120"/>
              </a:rPr>
              <a:t>Commit message</a:t>
            </a:r>
            <a:endParaRPr lang="en-US" sz="1000" dirty="0"/>
          </a:p>
        </p:txBody>
      </p:sp>
      <p:sp>
        <p:nvSpPr>
          <p:cNvPr id="29" name="Shape 26"/>
          <p:cNvSpPr/>
          <p:nvPr/>
        </p:nvSpPr>
        <p:spPr>
          <a:xfrm>
            <a:off x="7379208" y="3017520"/>
            <a:ext cx="3886200" cy="530352"/>
          </a:xfrm>
          <a:prstGeom prst="roundRect">
            <a:avLst>
              <a:gd name="adj" fmla="val 6897"/>
            </a:avLst>
          </a:prstGeom>
          <a:solidFill>
            <a:srgbClr val="F6F8FA"/>
          </a:solidFill>
          <a:ln w="8890">
            <a:solidFill>
              <a:srgbClr val="D0D7DE"/>
            </a:solidFill>
            <a:prstDash val="solid"/>
          </a:ln>
        </p:spPr>
        <p:txBody>
          <a:bodyPr/>
          <a:lstStyle/>
          <a:p>
            <a:endParaRPr lang="en-US"/>
          </a:p>
        </p:txBody>
      </p:sp>
      <p:sp>
        <p:nvSpPr>
          <p:cNvPr id="30" name="Text 27"/>
          <p:cNvSpPr/>
          <p:nvPr/>
        </p:nvSpPr>
        <p:spPr>
          <a:xfrm>
            <a:off x="7562088" y="3200400"/>
            <a:ext cx="3520440" cy="128016"/>
          </a:xfrm>
          <a:prstGeom prst="rect">
            <a:avLst/>
          </a:prstGeom>
          <a:noFill/>
          <a:ln/>
        </p:spPr>
        <p:txBody>
          <a:bodyPr wrap="square" lIns="0" tIns="0" rIns="0" bIns="0" rtlCol="0" anchor="ctr"/>
          <a:lstStyle/>
          <a:p>
            <a:pPr marL="0" indent="0">
              <a:buNone/>
            </a:pPr>
            <a:r>
              <a:rPr lang="en-US" sz="880" dirty="0">
                <a:solidFill>
                  <a:srgbClr val="0D1117"/>
                </a:solidFill>
                <a:latin typeface="Courier New" pitchFamily="34" charset="0"/>
                <a:ea typeface="Courier New" pitchFamily="34" charset="-122"/>
                <a:cs typeface="Courier New" pitchFamily="34" charset="-120"/>
              </a:rPr>
              <a:t>Document the human count-verification step</a:t>
            </a:r>
            <a:endParaRPr lang="en-US" sz="880" dirty="0"/>
          </a:p>
        </p:txBody>
      </p:sp>
      <p:sp>
        <p:nvSpPr>
          <p:cNvPr id="31" name="Shape 28"/>
          <p:cNvSpPr/>
          <p:nvPr/>
        </p:nvSpPr>
        <p:spPr>
          <a:xfrm>
            <a:off x="7379208" y="3968496"/>
            <a:ext cx="2103120" cy="310896"/>
          </a:xfrm>
          <a:prstGeom prst="roundRect">
            <a:avLst>
              <a:gd name="adj" fmla="val 23529"/>
            </a:avLst>
          </a:prstGeom>
          <a:solidFill>
            <a:srgbClr val="0969DA"/>
          </a:solidFill>
          <a:ln w="8890">
            <a:solidFill>
              <a:srgbClr val="0969DA"/>
            </a:solidFill>
            <a:prstDash val="solid"/>
          </a:ln>
        </p:spPr>
        <p:txBody>
          <a:bodyPr/>
          <a:lstStyle/>
          <a:p>
            <a:endParaRPr lang="en-US"/>
          </a:p>
        </p:txBody>
      </p:sp>
      <p:sp>
        <p:nvSpPr>
          <p:cNvPr id="32" name="Text 29"/>
          <p:cNvSpPr/>
          <p:nvPr/>
        </p:nvSpPr>
        <p:spPr>
          <a:xfrm>
            <a:off x="7470648" y="4064508"/>
            <a:ext cx="1920240" cy="109728"/>
          </a:xfrm>
          <a:prstGeom prst="rect">
            <a:avLst/>
          </a:prstGeom>
          <a:noFill/>
          <a:ln/>
        </p:spPr>
        <p:txBody>
          <a:bodyPr wrap="square" lIns="0" tIns="0" rIns="0" bIns="0" rtlCol="0" anchor="ctr"/>
          <a:lstStyle/>
          <a:p>
            <a:pPr marL="0" indent="0" algn="ctr">
              <a:buNone/>
            </a:pPr>
            <a:r>
              <a:rPr lang="en-US" sz="850" b="1" kern="0" spc="70" dirty="0">
                <a:solidFill>
                  <a:srgbClr val="FFFFFF"/>
                </a:solidFill>
                <a:latin typeface="Aptos" pitchFamily="34" charset="0"/>
                <a:ea typeface="Aptos" pitchFamily="34" charset="-122"/>
                <a:cs typeface="Aptos" pitchFamily="34" charset="-120"/>
              </a:rPr>
              <a:t>CREATE A NEW BRANCH</a:t>
            </a:r>
            <a:endParaRPr lang="en-US" sz="850" dirty="0"/>
          </a:p>
        </p:txBody>
      </p:sp>
      <p:sp>
        <p:nvSpPr>
          <p:cNvPr id="33" name="Shape 30"/>
          <p:cNvSpPr/>
          <p:nvPr/>
        </p:nvSpPr>
        <p:spPr>
          <a:xfrm>
            <a:off x="7406640" y="4498848"/>
            <a:ext cx="237744" cy="237744"/>
          </a:xfrm>
          <a:prstGeom prst="ellipse">
            <a:avLst/>
          </a:prstGeom>
          <a:solidFill>
            <a:srgbClr val="1A7F37"/>
          </a:solidFill>
          <a:ln w="12700">
            <a:solidFill>
              <a:srgbClr val="1A7F37">
                <a:alpha val="0"/>
              </a:srgbClr>
            </a:solidFill>
            <a:prstDash val="solid"/>
          </a:ln>
        </p:spPr>
        <p:txBody>
          <a:bodyPr/>
          <a:lstStyle/>
          <a:p>
            <a:endParaRPr lang="en-US"/>
          </a:p>
        </p:txBody>
      </p:sp>
      <p:sp>
        <p:nvSpPr>
          <p:cNvPr id="34" name="Text 31"/>
          <p:cNvSpPr/>
          <p:nvPr/>
        </p:nvSpPr>
        <p:spPr>
          <a:xfrm>
            <a:off x="7406640" y="4576572"/>
            <a:ext cx="237744" cy="64008"/>
          </a:xfrm>
          <a:prstGeom prst="rect">
            <a:avLst/>
          </a:prstGeom>
          <a:noFill/>
          <a:ln/>
        </p:spPr>
        <p:txBody>
          <a:bodyPr wrap="square" lIns="0" tIns="0" rIns="0" bIns="0" rtlCol="0" anchor="ctr"/>
          <a:lstStyle/>
          <a:p>
            <a:pPr marL="0" indent="0" algn="ctr">
              <a:buNone/>
            </a:pPr>
            <a:r>
              <a:rPr lang="en-US" sz="460" b="1" dirty="0">
                <a:solidFill>
                  <a:srgbClr val="FFFFFF"/>
                </a:solidFill>
                <a:latin typeface="Aptos" pitchFamily="34" charset="0"/>
                <a:ea typeface="Aptos" pitchFamily="34" charset="-122"/>
                <a:cs typeface="Aptos" pitchFamily="34" charset="-120"/>
              </a:rPr>
              <a:t>OK</a:t>
            </a:r>
            <a:endParaRPr lang="en-US" sz="460" dirty="0"/>
          </a:p>
        </p:txBody>
      </p:sp>
      <p:sp>
        <p:nvSpPr>
          <p:cNvPr id="35" name="Text 32"/>
          <p:cNvSpPr/>
          <p:nvPr/>
        </p:nvSpPr>
        <p:spPr>
          <a:xfrm>
            <a:off x="7790688" y="4489704"/>
            <a:ext cx="1280160" cy="274320"/>
          </a:xfrm>
          <a:prstGeom prst="rect">
            <a:avLst/>
          </a:prstGeom>
          <a:noFill/>
          <a:ln/>
        </p:spPr>
        <p:txBody>
          <a:bodyPr wrap="square" lIns="0" tIns="0" rIns="0" bIns="0" rtlCol="0" anchor="ctr"/>
          <a:lstStyle/>
          <a:p>
            <a:pPr marL="0" indent="0">
              <a:buNone/>
            </a:pPr>
            <a:r>
              <a:rPr lang="en-US" sz="1400" dirty="0">
                <a:solidFill>
                  <a:srgbClr val="0D1117"/>
                </a:solidFill>
                <a:latin typeface="Aptos" pitchFamily="34" charset="0"/>
                <a:ea typeface="Aptos" pitchFamily="34" charset="-122"/>
                <a:cs typeface="Aptos" pitchFamily="34" charset="-120"/>
              </a:rPr>
              <a:t>One change</a:t>
            </a:r>
            <a:endParaRPr lang="en-US" sz="1400" dirty="0"/>
          </a:p>
        </p:txBody>
      </p:sp>
      <p:sp>
        <p:nvSpPr>
          <p:cNvPr id="36" name="Shape 33"/>
          <p:cNvSpPr/>
          <p:nvPr/>
        </p:nvSpPr>
        <p:spPr>
          <a:xfrm>
            <a:off x="7406640" y="4892040"/>
            <a:ext cx="237744" cy="237744"/>
          </a:xfrm>
          <a:prstGeom prst="ellipse">
            <a:avLst/>
          </a:prstGeom>
          <a:solidFill>
            <a:srgbClr val="1A7F37"/>
          </a:solidFill>
          <a:ln w="12700">
            <a:solidFill>
              <a:srgbClr val="1A7F37">
                <a:alpha val="0"/>
              </a:srgbClr>
            </a:solidFill>
            <a:prstDash val="solid"/>
          </a:ln>
        </p:spPr>
        <p:txBody>
          <a:bodyPr/>
          <a:lstStyle/>
          <a:p>
            <a:endParaRPr lang="en-US"/>
          </a:p>
        </p:txBody>
      </p:sp>
      <p:sp>
        <p:nvSpPr>
          <p:cNvPr id="37" name="Text 34"/>
          <p:cNvSpPr/>
          <p:nvPr/>
        </p:nvSpPr>
        <p:spPr>
          <a:xfrm>
            <a:off x="7406640" y="4969764"/>
            <a:ext cx="237744" cy="64008"/>
          </a:xfrm>
          <a:prstGeom prst="rect">
            <a:avLst/>
          </a:prstGeom>
          <a:noFill/>
          <a:ln/>
        </p:spPr>
        <p:txBody>
          <a:bodyPr wrap="square" lIns="0" tIns="0" rIns="0" bIns="0" rtlCol="0" anchor="ctr"/>
          <a:lstStyle/>
          <a:p>
            <a:pPr marL="0" indent="0" algn="ctr">
              <a:buNone/>
            </a:pPr>
            <a:r>
              <a:rPr lang="en-US" sz="460" b="1" dirty="0">
                <a:solidFill>
                  <a:srgbClr val="FFFFFF"/>
                </a:solidFill>
                <a:latin typeface="Aptos" pitchFamily="34" charset="0"/>
                <a:ea typeface="Aptos" pitchFamily="34" charset="-122"/>
                <a:cs typeface="Aptos" pitchFamily="34" charset="-120"/>
              </a:rPr>
              <a:t>OK</a:t>
            </a:r>
            <a:endParaRPr lang="en-US" sz="460" dirty="0"/>
          </a:p>
        </p:txBody>
      </p:sp>
      <p:sp>
        <p:nvSpPr>
          <p:cNvPr id="38" name="Text 35"/>
          <p:cNvSpPr/>
          <p:nvPr/>
        </p:nvSpPr>
        <p:spPr>
          <a:xfrm>
            <a:off x="7790688" y="4882896"/>
            <a:ext cx="1645920" cy="274320"/>
          </a:xfrm>
          <a:prstGeom prst="rect">
            <a:avLst/>
          </a:prstGeom>
          <a:noFill/>
          <a:ln/>
        </p:spPr>
        <p:txBody>
          <a:bodyPr wrap="square" lIns="0" tIns="0" rIns="0" bIns="0" rtlCol="0" anchor="ctr"/>
          <a:lstStyle/>
          <a:p>
            <a:pPr marL="0" indent="0">
              <a:buNone/>
            </a:pPr>
            <a:r>
              <a:rPr lang="en-US" sz="1400" dirty="0">
                <a:solidFill>
                  <a:srgbClr val="0D1117"/>
                </a:solidFill>
                <a:latin typeface="Aptos" pitchFamily="34" charset="0"/>
                <a:ea typeface="Aptos" pitchFamily="34" charset="-122"/>
                <a:cs typeface="Aptos" pitchFamily="34" charset="-120"/>
              </a:rPr>
              <a:t>Unique branch</a:t>
            </a:r>
            <a:endParaRPr lang="en-US" sz="1400" dirty="0"/>
          </a:p>
        </p:txBody>
      </p:sp>
      <p:sp>
        <p:nvSpPr>
          <p:cNvPr id="39" name="Shape 36"/>
          <p:cNvSpPr/>
          <p:nvPr/>
        </p:nvSpPr>
        <p:spPr>
          <a:xfrm>
            <a:off x="7406640" y="5285232"/>
            <a:ext cx="237744" cy="237744"/>
          </a:xfrm>
          <a:prstGeom prst="ellipse">
            <a:avLst/>
          </a:prstGeom>
          <a:solidFill>
            <a:srgbClr val="1A7F37"/>
          </a:solidFill>
          <a:ln w="12700">
            <a:solidFill>
              <a:srgbClr val="1A7F37">
                <a:alpha val="0"/>
              </a:srgbClr>
            </a:solidFill>
            <a:prstDash val="solid"/>
          </a:ln>
        </p:spPr>
        <p:txBody>
          <a:bodyPr/>
          <a:lstStyle/>
          <a:p>
            <a:endParaRPr lang="en-US"/>
          </a:p>
        </p:txBody>
      </p:sp>
      <p:sp>
        <p:nvSpPr>
          <p:cNvPr id="40" name="Text 37"/>
          <p:cNvSpPr/>
          <p:nvPr/>
        </p:nvSpPr>
        <p:spPr>
          <a:xfrm>
            <a:off x="7406640" y="5362956"/>
            <a:ext cx="237744" cy="64008"/>
          </a:xfrm>
          <a:prstGeom prst="rect">
            <a:avLst/>
          </a:prstGeom>
          <a:noFill/>
          <a:ln/>
        </p:spPr>
        <p:txBody>
          <a:bodyPr wrap="square" lIns="0" tIns="0" rIns="0" bIns="0" rtlCol="0" anchor="ctr"/>
          <a:lstStyle/>
          <a:p>
            <a:pPr marL="0" indent="0" algn="ctr">
              <a:buNone/>
            </a:pPr>
            <a:r>
              <a:rPr lang="en-US" sz="460" b="1" dirty="0">
                <a:solidFill>
                  <a:srgbClr val="FFFFFF"/>
                </a:solidFill>
                <a:latin typeface="Aptos" pitchFamily="34" charset="0"/>
                <a:ea typeface="Aptos" pitchFamily="34" charset="-122"/>
                <a:cs typeface="Aptos" pitchFamily="34" charset="-120"/>
              </a:rPr>
              <a:t>OK</a:t>
            </a:r>
            <a:endParaRPr lang="en-US" sz="460" dirty="0"/>
          </a:p>
        </p:txBody>
      </p:sp>
      <p:sp>
        <p:nvSpPr>
          <p:cNvPr id="41" name="Text 38"/>
          <p:cNvSpPr/>
          <p:nvPr/>
        </p:nvSpPr>
        <p:spPr>
          <a:xfrm>
            <a:off x="7790688" y="5276088"/>
            <a:ext cx="2560320" cy="274320"/>
          </a:xfrm>
          <a:prstGeom prst="rect">
            <a:avLst/>
          </a:prstGeom>
          <a:noFill/>
          <a:ln/>
        </p:spPr>
        <p:txBody>
          <a:bodyPr wrap="square" lIns="0" tIns="0" rIns="0" bIns="0" rtlCol="0" anchor="ctr"/>
          <a:lstStyle/>
          <a:p>
            <a:pPr marL="0" indent="0">
              <a:buNone/>
            </a:pPr>
            <a:r>
              <a:rPr lang="en-US" sz="1400" dirty="0">
                <a:solidFill>
                  <a:srgbClr val="0D1117"/>
                </a:solidFill>
                <a:latin typeface="Aptos" pitchFamily="34" charset="0"/>
                <a:ea typeface="Aptos" pitchFamily="34" charset="-122"/>
                <a:cs typeface="Aptos" pitchFamily="34" charset="-120"/>
              </a:rPr>
              <a:t>Intent in the message</a:t>
            </a:r>
            <a:endParaRPr lang="en-US" sz="1400" dirty="0"/>
          </a:p>
        </p:txBody>
      </p:sp>
      <p:sp>
        <p:nvSpPr>
          <p:cNvPr id="42" name="Text 39"/>
          <p:cNvSpPr/>
          <p:nvPr/>
        </p:nvSpPr>
        <p:spPr>
          <a:xfrm>
            <a:off x="502920" y="6519672"/>
            <a:ext cx="3840480" cy="146304"/>
          </a:xfrm>
          <a:prstGeom prst="rect">
            <a:avLst/>
          </a:prstGeom>
          <a:noFill/>
          <a:ln/>
        </p:spPr>
        <p:txBody>
          <a:bodyPr wrap="square" lIns="0" tIns="0" rIns="0" bIns="0" rtlCol="0" anchor="ctr"/>
          <a:lstStyle/>
          <a:p>
            <a:pPr marL="0" indent="0">
              <a:buNone/>
            </a:pPr>
            <a:r>
              <a:rPr lang="en-US" sz="800" dirty="0">
                <a:solidFill>
                  <a:srgbClr val="B1BAC4"/>
                </a:solidFill>
                <a:latin typeface="Aptos" pitchFamily="34" charset="0"/>
                <a:ea typeface="Aptos" pitchFamily="34" charset="-122"/>
                <a:cs typeface="Aptos" pitchFamily="34" charset="-120"/>
              </a:rPr>
              <a:t>GitHub Foundations | Gilead DSS</a:t>
            </a:r>
            <a:endParaRPr lang="en-US" sz="800" dirty="0"/>
          </a:p>
        </p:txBody>
      </p:sp>
      <p:sp>
        <p:nvSpPr>
          <p:cNvPr id="43" name="Text 40">
            <a:hlinkClick r:id="rId4"/>
          </p:cNvPr>
          <p:cNvSpPr/>
          <p:nvPr/>
        </p:nvSpPr>
        <p:spPr>
          <a:xfrm>
            <a:off x="5623560" y="6519672"/>
            <a:ext cx="5897880" cy="146304"/>
          </a:xfrm>
          <a:prstGeom prst="rect">
            <a:avLst/>
          </a:prstGeom>
          <a:noFill/>
          <a:ln/>
        </p:spPr>
        <p:txBody>
          <a:bodyPr wrap="square" lIns="0" tIns="0" rIns="0" bIns="0" rtlCol="0" anchor="ctr"/>
          <a:lstStyle/>
          <a:p>
            <a:pPr marL="0" indent="0" algn="r">
              <a:buNone/>
            </a:pPr>
            <a:r>
              <a:rPr lang="en-US" sz="800" u="sng" dirty="0">
                <a:solidFill>
                  <a:srgbClr val="B1BAC4"/>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github.com/johnsont1693/scientific-workflow-workshop</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6F8FA"/>
        </a:solidFill>
        <a:effectLst/>
      </p:bgPr>
    </p:bg>
    <p:spTree>
      <p:nvGrpSpPr>
        <p:cNvPr id="1" name=""/>
        <p:cNvGrpSpPr/>
        <p:nvPr/>
      </p:nvGrpSpPr>
      <p:grpSpPr>
        <a:xfrm>
          <a:off x="0" y="0"/>
          <a:ext cx="0" cy="0"/>
          <a:chOff x="0" y="0"/>
          <a:chExt cx="0" cy="0"/>
        </a:xfrm>
      </p:grpSpPr>
      <p:sp>
        <p:nvSpPr>
          <p:cNvPr id="2" name="Shape 0"/>
          <p:cNvSpPr/>
          <p:nvPr/>
        </p:nvSpPr>
        <p:spPr>
          <a:xfrm>
            <a:off x="475488" y="347472"/>
            <a:ext cx="347472" cy="347472"/>
          </a:xfrm>
          <a:prstGeom prst="ellipse">
            <a:avLst/>
          </a:prstGeom>
          <a:solidFill>
            <a:srgbClr val="0D1117"/>
          </a:solidFill>
          <a:ln w="12700">
            <a:solidFill>
              <a:srgbClr val="0D1117">
                <a:alpha val="0"/>
              </a:srgbClr>
            </a:solidFill>
            <a:prstDash val="solid"/>
          </a:ln>
        </p:spPr>
        <p:txBody>
          <a:bodyPr/>
          <a:lstStyle/>
          <a:p>
            <a:endParaRPr lang="en-US"/>
          </a:p>
        </p:txBody>
      </p:sp>
      <p:pic>
        <p:nvPicPr>
          <p:cNvPr id="3" name="Image 0" descr="/Users/alysiabrown/sandbox/copilot-worktrees/acb-workbench/abrown152-turbo-winner/generated-assets/gilead-sciences-inc/dss-2026/assets/github-mark.png"/>
          <p:cNvPicPr>
            <a:picLocks noChangeAspect="1"/>
          </p:cNvPicPr>
          <p:nvPr/>
        </p:nvPicPr>
        <p:blipFill>
          <a:blip r:embed="rId3"/>
          <a:stretch>
            <a:fillRect/>
          </a:stretch>
        </p:blipFill>
        <p:spPr>
          <a:xfrm>
            <a:off x="525780" y="397764"/>
            <a:ext cx="246888" cy="246888"/>
          </a:xfrm>
          <a:prstGeom prst="rect">
            <a:avLst/>
          </a:prstGeom>
        </p:spPr>
      </p:pic>
      <p:sp>
        <p:nvSpPr>
          <p:cNvPr id="4" name="Text 1"/>
          <p:cNvSpPr/>
          <p:nvPr/>
        </p:nvSpPr>
        <p:spPr>
          <a:xfrm>
            <a:off x="896112" y="356616"/>
            <a:ext cx="960120" cy="256032"/>
          </a:xfrm>
          <a:prstGeom prst="rect">
            <a:avLst/>
          </a:prstGeom>
          <a:noFill/>
          <a:ln/>
        </p:spPr>
        <p:txBody>
          <a:bodyPr wrap="square" lIns="0" tIns="0" rIns="0" bIns="0" rtlCol="0" anchor="ctr"/>
          <a:lstStyle/>
          <a:p>
            <a:pPr marL="0" indent="0">
              <a:buNone/>
            </a:pPr>
            <a:r>
              <a:rPr lang="en-US" sz="1700" b="1" dirty="0">
                <a:solidFill>
                  <a:srgbClr val="0D1117"/>
                </a:solidFill>
                <a:latin typeface="Aptos Display" pitchFamily="34" charset="0"/>
                <a:ea typeface="Aptos Display" pitchFamily="34" charset="-122"/>
                <a:cs typeface="Aptos Display" pitchFamily="34" charset="-120"/>
              </a:rPr>
              <a:t>GitHub</a:t>
            </a:r>
            <a:endParaRPr lang="en-US" sz="1700" dirty="0"/>
          </a:p>
        </p:txBody>
      </p:sp>
      <p:sp>
        <p:nvSpPr>
          <p:cNvPr id="5" name="Text 2"/>
          <p:cNvSpPr/>
          <p:nvPr/>
        </p:nvSpPr>
        <p:spPr>
          <a:xfrm>
            <a:off x="512064" y="932688"/>
            <a:ext cx="4114800" cy="182880"/>
          </a:xfrm>
          <a:prstGeom prst="rect">
            <a:avLst/>
          </a:prstGeom>
          <a:noFill/>
          <a:ln/>
        </p:spPr>
        <p:txBody>
          <a:bodyPr wrap="square" lIns="0" tIns="0" rIns="0" bIns="0" rtlCol="0" anchor="ctr"/>
          <a:lstStyle/>
          <a:p>
            <a:pPr marL="0" indent="0">
              <a:buNone/>
            </a:pPr>
            <a:r>
              <a:rPr lang="en-US" sz="950" b="1" kern="0" spc="140" dirty="0">
                <a:solidFill>
                  <a:srgbClr val="0969DA"/>
                </a:solidFill>
                <a:latin typeface="Aptos" pitchFamily="34" charset="0"/>
                <a:ea typeface="Aptos" pitchFamily="34" charset="-122"/>
                <a:cs typeface="Aptos" pitchFamily="34" charset="-120"/>
              </a:rPr>
              <a:t>PROTECT THE REVIEWED BASELINE</a:t>
            </a:r>
            <a:endParaRPr lang="en-US" sz="950" dirty="0"/>
          </a:p>
        </p:txBody>
      </p:sp>
      <p:sp>
        <p:nvSpPr>
          <p:cNvPr id="6" name="Text 3"/>
          <p:cNvSpPr/>
          <p:nvPr/>
        </p:nvSpPr>
        <p:spPr>
          <a:xfrm>
            <a:off x="512064" y="1179576"/>
            <a:ext cx="10972800" cy="530352"/>
          </a:xfrm>
          <a:prstGeom prst="rect">
            <a:avLst/>
          </a:prstGeom>
          <a:noFill/>
          <a:ln/>
        </p:spPr>
        <p:txBody>
          <a:bodyPr wrap="square" lIns="0" tIns="0" rIns="0" bIns="0" rtlCol="0" anchor="ctr"/>
          <a:lstStyle/>
          <a:p>
            <a:pPr marL="0" indent="0">
              <a:buNone/>
            </a:pPr>
            <a:r>
              <a:rPr lang="en-US" sz="3100" b="1" dirty="0">
                <a:solidFill>
                  <a:srgbClr val="0D1117"/>
                </a:solidFill>
                <a:latin typeface="Aptos Display" pitchFamily="34" charset="0"/>
                <a:ea typeface="Aptos Display" pitchFamily="34" charset="-122"/>
                <a:cs typeface="Aptos Display" pitchFamily="34" charset="-120"/>
              </a:rPr>
              <a:t>A branch is a safe proposed path</a:t>
            </a:r>
            <a:endParaRPr lang="en-US" sz="3100" dirty="0"/>
          </a:p>
        </p:txBody>
      </p:sp>
      <p:sp>
        <p:nvSpPr>
          <p:cNvPr id="7" name="Text 4"/>
          <p:cNvSpPr/>
          <p:nvPr/>
        </p:nvSpPr>
        <p:spPr>
          <a:xfrm>
            <a:off x="731520" y="3337560"/>
            <a:ext cx="914400" cy="274320"/>
          </a:xfrm>
          <a:prstGeom prst="rect">
            <a:avLst/>
          </a:prstGeom>
          <a:noFill/>
          <a:ln/>
        </p:spPr>
        <p:txBody>
          <a:bodyPr wrap="square" lIns="0" tIns="0" rIns="0" bIns="0" rtlCol="0" anchor="ctr"/>
          <a:lstStyle/>
          <a:p>
            <a:pPr marL="0" indent="0">
              <a:buNone/>
            </a:pPr>
            <a:r>
              <a:rPr lang="en-US" sz="1600" b="1" dirty="0">
                <a:solidFill>
                  <a:srgbClr val="0D1117"/>
                </a:solidFill>
                <a:latin typeface="Courier New" pitchFamily="34" charset="0"/>
                <a:ea typeface="Courier New" pitchFamily="34" charset="-122"/>
                <a:cs typeface="Courier New" pitchFamily="34" charset="-120"/>
              </a:rPr>
              <a:t>main</a:t>
            </a:r>
            <a:endParaRPr lang="en-US" sz="1600" dirty="0"/>
          </a:p>
        </p:txBody>
      </p:sp>
      <p:sp>
        <p:nvSpPr>
          <p:cNvPr id="8" name="Shape 5"/>
          <p:cNvSpPr/>
          <p:nvPr/>
        </p:nvSpPr>
        <p:spPr>
          <a:xfrm>
            <a:off x="1554480" y="3493008"/>
            <a:ext cx="9098280" cy="0"/>
          </a:xfrm>
          <a:prstGeom prst="line">
            <a:avLst/>
          </a:prstGeom>
          <a:noFill/>
          <a:ln w="50800">
            <a:solidFill>
              <a:srgbClr val="0D1117"/>
            </a:solidFill>
            <a:prstDash val="solid"/>
          </a:ln>
        </p:spPr>
        <p:txBody>
          <a:bodyPr/>
          <a:lstStyle/>
          <a:p>
            <a:endParaRPr lang="en-US"/>
          </a:p>
        </p:txBody>
      </p:sp>
      <p:sp>
        <p:nvSpPr>
          <p:cNvPr id="9" name="Shape 6"/>
          <p:cNvSpPr/>
          <p:nvPr/>
        </p:nvSpPr>
        <p:spPr>
          <a:xfrm>
            <a:off x="1828800" y="3310128"/>
            <a:ext cx="365760" cy="365760"/>
          </a:xfrm>
          <a:prstGeom prst="ellipse">
            <a:avLst/>
          </a:prstGeom>
          <a:solidFill>
            <a:srgbClr val="0D1117"/>
          </a:solidFill>
          <a:ln w="13970">
            <a:solidFill>
              <a:srgbClr val="FFFFFF"/>
            </a:solidFill>
            <a:prstDash val="solid"/>
          </a:ln>
        </p:spPr>
        <p:txBody>
          <a:bodyPr/>
          <a:lstStyle/>
          <a:p>
            <a:endParaRPr lang="en-US"/>
          </a:p>
        </p:txBody>
      </p:sp>
      <p:sp>
        <p:nvSpPr>
          <p:cNvPr id="10" name="Shape 7"/>
          <p:cNvSpPr/>
          <p:nvPr/>
        </p:nvSpPr>
        <p:spPr>
          <a:xfrm>
            <a:off x="3977640" y="3310128"/>
            <a:ext cx="365760" cy="365760"/>
          </a:xfrm>
          <a:prstGeom prst="ellipse">
            <a:avLst/>
          </a:prstGeom>
          <a:solidFill>
            <a:srgbClr val="0D1117"/>
          </a:solidFill>
          <a:ln w="13970">
            <a:solidFill>
              <a:srgbClr val="FFFFFF"/>
            </a:solidFill>
            <a:prstDash val="solid"/>
          </a:ln>
        </p:spPr>
        <p:txBody>
          <a:bodyPr/>
          <a:lstStyle/>
          <a:p>
            <a:endParaRPr lang="en-US"/>
          </a:p>
        </p:txBody>
      </p:sp>
      <p:sp>
        <p:nvSpPr>
          <p:cNvPr id="11" name="Shape 8"/>
          <p:cNvSpPr/>
          <p:nvPr/>
        </p:nvSpPr>
        <p:spPr>
          <a:xfrm>
            <a:off x="6446520" y="3310128"/>
            <a:ext cx="365760" cy="365760"/>
          </a:xfrm>
          <a:prstGeom prst="ellipse">
            <a:avLst/>
          </a:prstGeom>
          <a:solidFill>
            <a:srgbClr val="0D1117"/>
          </a:solidFill>
          <a:ln w="13970">
            <a:solidFill>
              <a:srgbClr val="FFFFFF"/>
            </a:solidFill>
            <a:prstDash val="solid"/>
          </a:ln>
        </p:spPr>
        <p:txBody>
          <a:bodyPr/>
          <a:lstStyle/>
          <a:p>
            <a:endParaRPr lang="en-US"/>
          </a:p>
        </p:txBody>
      </p:sp>
      <p:sp>
        <p:nvSpPr>
          <p:cNvPr id="12" name="Shape 9"/>
          <p:cNvSpPr/>
          <p:nvPr/>
        </p:nvSpPr>
        <p:spPr>
          <a:xfrm>
            <a:off x="8732520" y="3310128"/>
            <a:ext cx="365760" cy="365760"/>
          </a:xfrm>
          <a:prstGeom prst="ellipse">
            <a:avLst/>
          </a:prstGeom>
          <a:solidFill>
            <a:srgbClr val="0D1117"/>
          </a:solidFill>
          <a:ln w="13970">
            <a:solidFill>
              <a:srgbClr val="FFFFFF"/>
            </a:solidFill>
            <a:prstDash val="solid"/>
          </a:ln>
        </p:spPr>
        <p:txBody>
          <a:bodyPr/>
          <a:lstStyle/>
          <a:p>
            <a:endParaRPr lang="en-US"/>
          </a:p>
        </p:txBody>
      </p:sp>
      <p:sp>
        <p:nvSpPr>
          <p:cNvPr id="13" name="Shape 10"/>
          <p:cNvSpPr/>
          <p:nvPr/>
        </p:nvSpPr>
        <p:spPr>
          <a:xfrm>
            <a:off x="10378440" y="3310128"/>
            <a:ext cx="365760" cy="365760"/>
          </a:xfrm>
          <a:prstGeom prst="ellipse">
            <a:avLst/>
          </a:prstGeom>
          <a:solidFill>
            <a:srgbClr val="0D1117"/>
          </a:solidFill>
          <a:ln w="13970">
            <a:solidFill>
              <a:srgbClr val="FFFFFF"/>
            </a:solidFill>
            <a:prstDash val="solid"/>
          </a:ln>
        </p:spPr>
        <p:txBody>
          <a:bodyPr/>
          <a:lstStyle/>
          <a:p>
            <a:endParaRPr lang="en-US"/>
          </a:p>
        </p:txBody>
      </p:sp>
      <p:sp>
        <p:nvSpPr>
          <p:cNvPr id="14" name="Shape 11"/>
          <p:cNvSpPr/>
          <p:nvPr/>
        </p:nvSpPr>
        <p:spPr>
          <a:xfrm>
            <a:off x="4069080" y="1828800"/>
            <a:ext cx="4434840" cy="1828800"/>
          </a:xfrm>
          <a:prstGeom prst="arc">
            <a:avLst/>
          </a:prstGeom>
          <a:solidFill>
            <a:srgbClr val="F6F8FA">
              <a:alpha val="0"/>
            </a:srgbClr>
          </a:solidFill>
          <a:ln w="50800">
            <a:solidFill>
              <a:srgbClr val="0969DA"/>
            </a:solidFill>
            <a:prstDash val="solid"/>
          </a:ln>
        </p:spPr>
        <p:txBody>
          <a:bodyPr/>
          <a:lstStyle/>
          <a:p>
            <a:endParaRPr lang="en-US"/>
          </a:p>
        </p:txBody>
      </p:sp>
      <p:sp>
        <p:nvSpPr>
          <p:cNvPr id="15" name="Shape 12"/>
          <p:cNvSpPr/>
          <p:nvPr/>
        </p:nvSpPr>
        <p:spPr>
          <a:xfrm>
            <a:off x="4343400" y="2331720"/>
            <a:ext cx="365760" cy="365760"/>
          </a:xfrm>
          <a:prstGeom prst="ellipse">
            <a:avLst/>
          </a:prstGeom>
          <a:solidFill>
            <a:srgbClr val="0969DA"/>
          </a:solidFill>
          <a:ln w="13970">
            <a:solidFill>
              <a:srgbClr val="FFFFFF"/>
            </a:solidFill>
            <a:prstDash val="solid"/>
          </a:ln>
        </p:spPr>
        <p:txBody>
          <a:bodyPr/>
          <a:lstStyle/>
          <a:p>
            <a:endParaRPr lang="en-US"/>
          </a:p>
        </p:txBody>
      </p:sp>
      <p:sp>
        <p:nvSpPr>
          <p:cNvPr id="16" name="Shape 13"/>
          <p:cNvSpPr/>
          <p:nvPr/>
        </p:nvSpPr>
        <p:spPr>
          <a:xfrm>
            <a:off x="6263640" y="2331720"/>
            <a:ext cx="365760" cy="365760"/>
          </a:xfrm>
          <a:prstGeom prst="ellipse">
            <a:avLst/>
          </a:prstGeom>
          <a:solidFill>
            <a:srgbClr val="0969DA"/>
          </a:solidFill>
          <a:ln w="13970">
            <a:solidFill>
              <a:srgbClr val="FFFFFF"/>
            </a:solidFill>
            <a:prstDash val="solid"/>
          </a:ln>
        </p:spPr>
        <p:txBody>
          <a:bodyPr/>
          <a:lstStyle/>
          <a:p>
            <a:endParaRPr lang="en-US"/>
          </a:p>
        </p:txBody>
      </p:sp>
      <p:sp>
        <p:nvSpPr>
          <p:cNvPr id="17" name="Shape 14"/>
          <p:cNvSpPr/>
          <p:nvPr/>
        </p:nvSpPr>
        <p:spPr>
          <a:xfrm>
            <a:off x="8229600" y="2331720"/>
            <a:ext cx="365760" cy="365760"/>
          </a:xfrm>
          <a:prstGeom prst="ellipse">
            <a:avLst/>
          </a:prstGeom>
          <a:solidFill>
            <a:srgbClr val="0969DA"/>
          </a:solidFill>
          <a:ln w="13970">
            <a:solidFill>
              <a:srgbClr val="FFFFFF"/>
            </a:solidFill>
            <a:prstDash val="solid"/>
          </a:ln>
        </p:spPr>
        <p:txBody>
          <a:bodyPr/>
          <a:lstStyle/>
          <a:p>
            <a:endParaRPr lang="en-US"/>
          </a:p>
        </p:txBody>
      </p:sp>
      <p:sp>
        <p:nvSpPr>
          <p:cNvPr id="18" name="Shape 15"/>
          <p:cNvSpPr/>
          <p:nvPr/>
        </p:nvSpPr>
        <p:spPr>
          <a:xfrm>
            <a:off x="1600200" y="4069080"/>
            <a:ext cx="2011680" cy="310896"/>
          </a:xfrm>
          <a:prstGeom prst="roundRect">
            <a:avLst>
              <a:gd name="adj" fmla="val 23529"/>
            </a:avLst>
          </a:prstGeom>
          <a:solidFill>
            <a:srgbClr val="0D1117"/>
          </a:solidFill>
          <a:ln w="8890">
            <a:solidFill>
              <a:srgbClr val="0D1117"/>
            </a:solidFill>
            <a:prstDash val="solid"/>
          </a:ln>
        </p:spPr>
        <p:txBody>
          <a:bodyPr/>
          <a:lstStyle/>
          <a:p>
            <a:endParaRPr lang="en-US"/>
          </a:p>
        </p:txBody>
      </p:sp>
      <p:sp>
        <p:nvSpPr>
          <p:cNvPr id="19" name="Text 16"/>
          <p:cNvSpPr/>
          <p:nvPr/>
        </p:nvSpPr>
        <p:spPr>
          <a:xfrm>
            <a:off x="1691640" y="4165092"/>
            <a:ext cx="1828800" cy="109728"/>
          </a:xfrm>
          <a:prstGeom prst="rect">
            <a:avLst/>
          </a:prstGeom>
          <a:noFill/>
          <a:ln/>
        </p:spPr>
        <p:txBody>
          <a:bodyPr wrap="square" lIns="0" tIns="0" rIns="0" bIns="0" rtlCol="0" anchor="ctr"/>
          <a:lstStyle/>
          <a:p>
            <a:pPr marL="0" indent="0" algn="ctr">
              <a:buNone/>
            </a:pPr>
            <a:r>
              <a:rPr lang="en-US" sz="850" b="1" kern="0" spc="70" dirty="0">
                <a:solidFill>
                  <a:srgbClr val="FFFFFF"/>
                </a:solidFill>
                <a:latin typeface="Aptos" pitchFamily="34" charset="0"/>
                <a:ea typeface="Aptos" pitchFamily="34" charset="-122"/>
                <a:cs typeface="Aptos" pitchFamily="34" charset="-120"/>
              </a:rPr>
              <a:t>REVIEWED BASELINE</a:t>
            </a:r>
            <a:endParaRPr lang="en-US" sz="850" dirty="0"/>
          </a:p>
        </p:txBody>
      </p:sp>
      <p:sp>
        <p:nvSpPr>
          <p:cNvPr id="20" name="Shape 17"/>
          <p:cNvSpPr/>
          <p:nvPr/>
        </p:nvSpPr>
        <p:spPr>
          <a:xfrm>
            <a:off x="4846320" y="1691640"/>
            <a:ext cx="2606040" cy="310896"/>
          </a:xfrm>
          <a:prstGeom prst="roundRect">
            <a:avLst>
              <a:gd name="adj" fmla="val 23529"/>
            </a:avLst>
          </a:prstGeom>
          <a:solidFill>
            <a:srgbClr val="DDF4FF"/>
          </a:solidFill>
          <a:ln w="8890">
            <a:solidFill>
              <a:srgbClr val="0969DA"/>
            </a:solidFill>
            <a:prstDash val="solid"/>
          </a:ln>
        </p:spPr>
        <p:txBody>
          <a:bodyPr/>
          <a:lstStyle/>
          <a:p>
            <a:endParaRPr lang="en-US"/>
          </a:p>
        </p:txBody>
      </p:sp>
      <p:sp>
        <p:nvSpPr>
          <p:cNvPr id="21" name="Text 18"/>
          <p:cNvSpPr/>
          <p:nvPr/>
        </p:nvSpPr>
        <p:spPr>
          <a:xfrm>
            <a:off x="4937760" y="1787652"/>
            <a:ext cx="2423160" cy="109728"/>
          </a:xfrm>
          <a:prstGeom prst="rect">
            <a:avLst/>
          </a:prstGeom>
          <a:noFill/>
          <a:ln/>
        </p:spPr>
        <p:txBody>
          <a:bodyPr wrap="square" lIns="0" tIns="0" rIns="0" bIns="0" rtlCol="0" anchor="ctr"/>
          <a:lstStyle/>
          <a:p>
            <a:pPr marL="0" indent="0" algn="ctr">
              <a:buNone/>
            </a:pPr>
            <a:r>
              <a:rPr lang="en-US" sz="850" b="1" kern="0" spc="70" dirty="0">
                <a:solidFill>
                  <a:srgbClr val="0969DA"/>
                </a:solidFill>
                <a:latin typeface="Aptos" pitchFamily="34" charset="0"/>
                <a:ea typeface="Aptos" pitchFamily="34" charset="-122"/>
                <a:cs typeface="Aptos" pitchFamily="34" charset="-120"/>
              </a:rPr>
              <a:t>YOUR PROPOSED CHANGE</a:t>
            </a:r>
            <a:endParaRPr lang="en-US" sz="850" dirty="0"/>
          </a:p>
        </p:txBody>
      </p:sp>
      <p:sp>
        <p:nvSpPr>
          <p:cNvPr id="22" name="Text 19"/>
          <p:cNvSpPr/>
          <p:nvPr/>
        </p:nvSpPr>
        <p:spPr>
          <a:xfrm>
            <a:off x="2788920" y="4892040"/>
            <a:ext cx="6858000" cy="438912"/>
          </a:xfrm>
          <a:prstGeom prst="rect">
            <a:avLst/>
          </a:prstGeom>
          <a:noFill/>
          <a:ln/>
        </p:spPr>
        <p:txBody>
          <a:bodyPr wrap="square" lIns="0" tIns="0" rIns="0" bIns="0" rtlCol="0" anchor="ctr"/>
          <a:lstStyle/>
          <a:p>
            <a:pPr marL="0" indent="0" algn="ctr">
              <a:buNone/>
            </a:pPr>
            <a:r>
              <a:rPr lang="en-US" sz="2500" b="1" dirty="0">
                <a:solidFill>
                  <a:srgbClr val="0D1117"/>
                </a:solidFill>
                <a:latin typeface="Aptos Display" pitchFamily="34" charset="0"/>
                <a:ea typeface="Aptos Display" pitchFamily="34" charset="-122"/>
                <a:cs typeface="Aptos Display" pitchFamily="34" charset="-120"/>
              </a:rPr>
              <a:t>Your branch can change without changing main.</a:t>
            </a:r>
            <a:endParaRPr lang="en-US" sz="2500" dirty="0"/>
          </a:p>
        </p:txBody>
      </p:sp>
      <p:sp>
        <p:nvSpPr>
          <p:cNvPr id="23" name="Text 20"/>
          <p:cNvSpPr/>
          <p:nvPr/>
        </p:nvSpPr>
        <p:spPr>
          <a:xfrm>
            <a:off x="3108960" y="5504688"/>
            <a:ext cx="6217920" cy="329184"/>
          </a:xfrm>
          <a:prstGeom prst="rect">
            <a:avLst/>
          </a:prstGeom>
          <a:noFill/>
          <a:ln/>
        </p:spPr>
        <p:txBody>
          <a:bodyPr wrap="square" lIns="0" tIns="0" rIns="0" bIns="0" rtlCol="0" anchor="ctr"/>
          <a:lstStyle/>
          <a:p>
            <a:pPr marL="0" indent="0" algn="ctr">
              <a:buNone/>
            </a:pPr>
            <a:r>
              <a:rPr lang="en-US" sz="1500" dirty="0">
                <a:solidFill>
                  <a:srgbClr val="57606A"/>
                </a:solidFill>
                <a:latin typeface="Aptos" pitchFamily="34" charset="0"/>
                <a:ea typeface="Aptos" pitchFamily="34" charset="-122"/>
                <a:cs typeface="Aptos" pitchFamily="34" charset="-120"/>
              </a:rPr>
              <a:t>Review happens before the proposal becomes accepted history.</a:t>
            </a:r>
            <a:endParaRPr lang="en-US" sz="1500" dirty="0"/>
          </a:p>
        </p:txBody>
      </p:sp>
      <p:sp>
        <p:nvSpPr>
          <p:cNvPr id="24" name="Text 21"/>
          <p:cNvSpPr/>
          <p:nvPr/>
        </p:nvSpPr>
        <p:spPr>
          <a:xfrm>
            <a:off x="502920" y="6519672"/>
            <a:ext cx="3840480" cy="146304"/>
          </a:xfrm>
          <a:prstGeom prst="rect">
            <a:avLst/>
          </a:prstGeom>
          <a:noFill/>
          <a:ln/>
        </p:spPr>
        <p:txBody>
          <a:bodyPr wrap="square" lIns="0" tIns="0" rIns="0" bIns="0" rtlCol="0" anchor="ctr"/>
          <a:lstStyle/>
          <a:p>
            <a:pPr marL="0" indent="0">
              <a:buNone/>
            </a:pPr>
            <a:r>
              <a:rPr lang="en-US" sz="800" dirty="0">
                <a:solidFill>
                  <a:srgbClr val="8C959F"/>
                </a:solidFill>
                <a:latin typeface="Aptos" pitchFamily="34" charset="0"/>
                <a:ea typeface="Aptos" pitchFamily="34" charset="-122"/>
                <a:cs typeface="Aptos" pitchFamily="34" charset="-120"/>
              </a:rPr>
              <a:t>GitHub Foundations | Gilead DSS</a:t>
            </a:r>
            <a:endParaRPr lang="en-US" sz="800" dirty="0"/>
          </a:p>
        </p:txBody>
      </p:sp>
      <p:sp>
        <p:nvSpPr>
          <p:cNvPr id="25" name="Text 22">
            <a:hlinkClick r:id="rId4"/>
          </p:cNvPr>
          <p:cNvSpPr/>
          <p:nvPr/>
        </p:nvSpPr>
        <p:spPr>
          <a:xfrm>
            <a:off x="5623560" y="6519672"/>
            <a:ext cx="5897880" cy="146304"/>
          </a:xfrm>
          <a:prstGeom prst="rect">
            <a:avLst/>
          </a:prstGeom>
          <a:noFill/>
          <a:ln/>
        </p:spPr>
        <p:txBody>
          <a:bodyPr wrap="square" lIns="0" tIns="0" rIns="0" bIns="0" rtlCol="0" anchor="ctr"/>
          <a:lstStyle/>
          <a:p>
            <a:pPr marL="0" indent="0" algn="r">
              <a:buNone/>
            </a:pPr>
            <a:r>
              <a:rPr lang="en-US" sz="800" u="sng" dirty="0">
                <a:solidFill>
                  <a:srgbClr val="8C959F"/>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github.com/johnsont1693/scientific-workflow-workshop</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6F8FA"/>
        </a:solidFill>
        <a:effectLst/>
      </p:bgPr>
    </p:bg>
    <p:spTree>
      <p:nvGrpSpPr>
        <p:cNvPr id="1" name=""/>
        <p:cNvGrpSpPr/>
        <p:nvPr/>
      </p:nvGrpSpPr>
      <p:grpSpPr>
        <a:xfrm>
          <a:off x="0" y="0"/>
          <a:ext cx="0" cy="0"/>
          <a:chOff x="0" y="0"/>
          <a:chExt cx="0" cy="0"/>
        </a:xfrm>
      </p:grpSpPr>
      <p:sp>
        <p:nvSpPr>
          <p:cNvPr id="2" name="Shape 0"/>
          <p:cNvSpPr/>
          <p:nvPr/>
        </p:nvSpPr>
        <p:spPr>
          <a:xfrm>
            <a:off x="475488" y="347472"/>
            <a:ext cx="347472" cy="347472"/>
          </a:xfrm>
          <a:prstGeom prst="ellipse">
            <a:avLst/>
          </a:prstGeom>
          <a:solidFill>
            <a:srgbClr val="0D1117"/>
          </a:solidFill>
          <a:ln w="12700">
            <a:solidFill>
              <a:srgbClr val="0D1117">
                <a:alpha val="0"/>
              </a:srgbClr>
            </a:solidFill>
            <a:prstDash val="solid"/>
          </a:ln>
        </p:spPr>
        <p:txBody>
          <a:bodyPr/>
          <a:lstStyle/>
          <a:p>
            <a:endParaRPr lang="en-US"/>
          </a:p>
        </p:txBody>
      </p:sp>
      <p:pic>
        <p:nvPicPr>
          <p:cNvPr id="3" name="Image 0" descr="/Users/alysiabrown/sandbox/copilot-worktrees/acb-workbench/abrown152-turbo-winner/generated-assets/gilead-sciences-inc/dss-2026/assets/github-mark.png"/>
          <p:cNvPicPr>
            <a:picLocks noChangeAspect="1"/>
          </p:cNvPicPr>
          <p:nvPr/>
        </p:nvPicPr>
        <p:blipFill>
          <a:blip r:embed="rId3"/>
          <a:stretch>
            <a:fillRect/>
          </a:stretch>
        </p:blipFill>
        <p:spPr>
          <a:xfrm>
            <a:off x="525780" y="397764"/>
            <a:ext cx="246888" cy="246888"/>
          </a:xfrm>
          <a:prstGeom prst="rect">
            <a:avLst/>
          </a:prstGeom>
        </p:spPr>
      </p:pic>
      <p:sp>
        <p:nvSpPr>
          <p:cNvPr id="4" name="Text 1"/>
          <p:cNvSpPr/>
          <p:nvPr/>
        </p:nvSpPr>
        <p:spPr>
          <a:xfrm>
            <a:off x="896112" y="356616"/>
            <a:ext cx="960120" cy="256032"/>
          </a:xfrm>
          <a:prstGeom prst="rect">
            <a:avLst/>
          </a:prstGeom>
          <a:noFill/>
          <a:ln/>
        </p:spPr>
        <p:txBody>
          <a:bodyPr wrap="square" lIns="0" tIns="0" rIns="0" bIns="0" rtlCol="0" anchor="ctr"/>
          <a:lstStyle/>
          <a:p>
            <a:pPr marL="0" indent="0">
              <a:buNone/>
            </a:pPr>
            <a:r>
              <a:rPr lang="en-US" sz="1700" b="1" dirty="0">
                <a:solidFill>
                  <a:srgbClr val="0D1117"/>
                </a:solidFill>
                <a:latin typeface="Aptos Display" pitchFamily="34" charset="0"/>
                <a:ea typeface="Aptos Display" pitchFamily="34" charset="-122"/>
                <a:cs typeface="Aptos Display" pitchFamily="34" charset="-120"/>
              </a:rPr>
              <a:t>GitHub</a:t>
            </a:r>
            <a:endParaRPr lang="en-US" sz="1700" dirty="0"/>
          </a:p>
        </p:txBody>
      </p:sp>
      <p:sp>
        <p:nvSpPr>
          <p:cNvPr id="5" name="Text 2"/>
          <p:cNvSpPr/>
          <p:nvPr/>
        </p:nvSpPr>
        <p:spPr>
          <a:xfrm>
            <a:off x="512064" y="932688"/>
            <a:ext cx="4114800" cy="182880"/>
          </a:xfrm>
          <a:prstGeom prst="rect">
            <a:avLst/>
          </a:prstGeom>
          <a:noFill/>
          <a:ln/>
        </p:spPr>
        <p:txBody>
          <a:bodyPr wrap="square" lIns="0" tIns="0" rIns="0" bIns="0" rtlCol="0" anchor="ctr"/>
          <a:lstStyle/>
          <a:p>
            <a:pPr marL="0" indent="0">
              <a:buNone/>
            </a:pPr>
            <a:r>
              <a:rPr lang="en-US" sz="950" b="1" kern="0" spc="140" dirty="0">
                <a:solidFill>
                  <a:srgbClr val="0969DA"/>
                </a:solidFill>
                <a:latin typeface="Aptos" pitchFamily="34" charset="0"/>
                <a:ea typeface="Aptos" pitchFamily="34" charset="-122"/>
                <a:cs typeface="Aptos" pitchFamily="34" charset="-120"/>
              </a:rPr>
              <a:t>PROPOSAL + EVIDENCE + DISCUSSION</a:t>
            </a:r>
            <a:endParaRPr lang="en-US" sz="950" dirty="0"/>
          </a:p>
        </p:txBody>
      </p:sp>
      <p:sp>
        <p:nvSpPr>
          <p:cNvPr id="6" name="Text 3"/>
          <p:cNvSpPr/>
          <p:nvPr/>
        </p:nvSpPr>
        <p:spPr>
          <a:xfrm>
            <a:off x="512064" y="1179576"/>
            <a:ext cx="10972800" cy="530352"/>
          </a:xfrm>
          <a:prstGeom prst="rect">
            <a:avLst/>
          </a:prstGeom>
          <a:noFill/>
          <a:ln/>
        </p:spPr>
        <p:txBody>
          <a:bodyPr wrap="square" lIns="0" tIns="0" rIns="0" bIns="0" rtlCol="0" anchor="ctr"/>
          <a:lstStyle/>
          <a:p>
            <a:pPr marL="0" indent="0">
              <a:buNone/>
            </a:pPr>
            <a:r>
              <a:rPr lang="en-US" sz="3100" b="1" dirty="0">
                <a:solidFill>
                  <a:srgbClr val="0D1117"/>
                </a:solidFill>
                <a:latin typeface="Aptos Display" pitchFamily="34" charset="0"/>
                <a:ea typeface="Aptos Display" pitchFamily="34" charset="-122"/>
                <a:cs typeface="Aptos Display" pitchFamily="34" charset="-120"/>
              </a:rPr>
              <a:t>The pull request is the human checkpoint</a:t>
            </a:r>
            <a:endParaRPr lang="en-US" sz="3100" dirty="0"/>
          </a:p>
        </p:txBody>
      </p:sp>
      <p:sp>
        <p:nvSpPr>
          <p:cNvPr id="7" name="Shape 4"/>
          <p:cNvSpPr/>
          <p:nvPr/>
        </p:nvSpPr>
        <p:spPr>
          <a:xfrm>
            <a:off x="566928" y="1847088"/>
            <a:ext cx="7406640" cy="4069080"/>
          </a:xfrm>
          <a:prstGeom prst="roundRect">
            <a:avLst>
              <a:gd name="adj" fmla="val 1798"/>
            </a:avLst>
          </a:prstGeom>
          <a:solidFill>
            <a:srgbClr val="FFFFFF"/>
          </a:solidFill>
          <a:ln w="11430">
            <a:solidFill>
              <a:srgbClr val="D0D7DE"/>
            </a:solidFill>
            <a:prstDash val="solid"/>
          </a:ln>
          <a:effectLst>
            <a:outerShdw blurRad="38100" dist="12700" dir="2700000" algn="bl" rotWithShape="0">
              <a:srgbClr val="000000">
                <a:alpha val="14000"/>
              </a:srgbClr>
            </a:outerShdw>
          </a:effectLst>
        </p:spPr>
        <p:txBody>
          <a:bodyPr/>
          <a:lstStyle/>
          <a:p>
            <a:endParaRPr lang="en-US"/>
          </a:p>
        </p:txBody>
      </p:sp>
      <p:sp>
        <p:nvSpPr>
          <p:cNvPr id="8" name="Shape 5"/>
          <p:cNvSpPr/>
          <p:nvPr/>
        </p:nvSpPr>
        <p:spPr>
          <a:xfrm>
            <a:off x="566928" y="1847088"/>
            <a:ext cx="7406640" cy="457200"/>
          </a:xfrm>
          <a:prstGeom prst="rect">
            <a:avLst/>
          </a:prstGeom>
          <a:solidFill>
            <a:srgbClr val="F6F8FA"/>
          </a:solidFill>
          <a:ln w="8890">
            <a:solidFill>
              <a:srgbClr val="D0D7DE"/>
            </a:solidFill>
            <a:prstDash val="solid"/>
          </a:ln>
        </p:spPr>
        <p:txBody>
          <a:bodyPr/>
          <a:lstStyle/>
          <a:p>
            <a:endParaRPr lang="en-US"/>
          </a:p>
        </p:txBody>
      </p:sp>
      <p:sp>
        <p:nvSpPr>
          <p:cNvPr id="9" name="Shape 6"/>
          <p:cNvSpPr/>
          <p:nvPr/>
        </p:nvSpPr>
        <p:spPr>
          <a:xfrm>
            <a:off x="731520" y="2011680"/>
            <a:ext cx="100584" cy="100584"/>
          </a:xfrm>
          <a:prstGeom prst="ellipse">
            <a:avLst/>
          </a:prstGeom>
          <a:solidFill>
            <a:srgbClr val="CF222E"/>
          </a:solidFill>
          <a:ln w="12700">
            <a:solidFill>
              <a:srgbClr val="CF222E">
                <a:alpha val="0"/>
              </a:srgbClr>
            </a:solidFill>
            <a:prstDash val="solid"/>
          </a:ln>
        </p:spPr>
        <p:txBody>
          <a:bodyPr/>
          <a:lstStyle/>
          <a:p>
            <a:endParaRPr lang="en-US"/>
          </a:p>
        </p:txBody>
      </p:sp>
      <p:sp>
        <p:nvSpPr>
          <p:cNvPr id="10" name="Shape 7"/>
          <p:cNvSpPr/>
          <p:nvPr/>
        </p:nvSpPr>
        <p:spPr>
          <a:xfrm>
            <a:off x="932688" y="2011680"/>
            <a:ext cx="100584" cy="100584"/>
          </a:xfrm>
          <a:prstGeom prst="ellipse">
            <a:avLst/>
          </a:prstGeom>
          <a:solidFill>
            <a:srgbClr val="BF8700"/>
          </a:solidFill>
          <a:ln w="12700">
            <a:solidFill>
              <a:srgbClr val="BF8700">
                <a:alpha val="0"/>
              </a:srgbClr>
            </a:solidFill>
            <a:prstDash val="solid"/>
          </a:ln>
        </p:spPr>
        <p:txBody>
          <a:bodyPr/>
          <a:lstStyle/>
          <a:p>
            <a:endParaRPr lang="en-US"/>
          </a:p>
        </p:txBody>
      </p:sp>
      <p:sp>
        <p:nvSpPr>
          <p:cNvPr id="11" name="Shape 8"/>
          <p:cNvSpPr/>
          <p:nvPr/>
        </p:nvSpPr>
        <p:spPr>
          <a:xfrm>
            <a:off x="1133856" y="2011680"/>
            <a:ext cx="100584" cy="100584"/>
          </a:xfrm>
          <a:prstGeom prst="ellipse">
            <a:avLst/>
          </a:prstGeom>
          <a:solidFill>
            <a:srgbClr val="1A7F37"/>
          </a:solidFill>
          <a:ln w="12700">
            <a:solidFill>
              <a:srgbClr val="1A7F37">
                <a:alpha val="0"/>
              </a:srgbClr>
            </a:solidFill>
            <a:prstDash val="solid"/>
          </a:ln>
        </p:spPr>
        <p:txBody>
          <a:bodyPr/>
          <a:lstStyle/>
          <a:p>
            <a:endParaRPr lang="en-US"/>
          </a:p>
        </p:txBody>
      </p:sp>
      <p:sp>
        <p:nvSpPr>
          <p:cNvPr id="12" name="Shape 9"/>
          <p:cNvSpPr/>
          <p:nvPr/>
        </p:nvSpPr>
        <p:spPr>
          <a:xfrm>
            <a:off x="1408176" y="1947672"/>
            <a:ext cx="6345936" cy="256032"/>
          </a:xfrm>
          <a:prstGeom prst="roundRect">
            <a:avLst>
              <a:gd name="adj" fmla="val 14286"/>
            </a:avLst>
          </a:prstGeom>
          <a:solidFill>
            <a:srgbClr val="FFFFFF"/>
          </a:solidFill>
          <a:ln w="6350">
            <a:solidFill>
              <a:srgbClr val="D0D7DE"/>
            </a:solidFill>
            <a:prstDash val="solid"/>
          </a:ln>
        </p:spPr>
        <p:txBody>
          <a:bodyPr/>
          <a:lstStyle/>
          <a:p>
            <a:endParaRPr lang="en-US"/>
          </a:p>
        </p:txBody>
      </p:sp>
      <p:sp>
        <p:nvSpPr>
          <p:cNvPr id="13" name="Text 10"/>
          <p:cNvSpPr/>
          <p:nvPr/>
        </p:nvSpPr>
        <p:spPr>
          <a:xfrm>
            <a:off x="1554480" y="2020824"/>
            <a:ext cx="6053328" cy="91440"/>
          </a:xfrm>
          <a:prstGeom prst="rect">
            <a:avLst/>
          </a:prstGeom>
          <a:noFill/>
          <a:ln/>
        </p:spPr>
        <p:txBody>
          <a:bodyPr wrap="square" lIns="0" tIns="0" rIns="0" bIns="0" rtlCol="0" anchor="ctr"/>
          <a:lstStyle/>
          <a:p>
            <a:pPr marL="0" indent="0">
              <a:buNone/>
            </a:pPr>
            <a:r>
              <a:rPr lang="en-US" sz="720" dirty="0">
                <a:solidFill>
                  <a:srgbClr val="57606A"/>
                </a:solidFill>
                <a:latin typeface="Courier New" pitchFamily="34" charset="0"/>
                <a:ea typeface="Courier New" pitchFamily="34" charset="-122"/>
                <a:cs typeface="Courier New" pitchFamily="34" charset="-120"/>
              </a:rPr>
              <a:t>Illustrative PR in your approved working repository</a:t>
            </a:r>
            <a:endParaRPr lang="en-US" sz="720" dirty="0"/>
          </a:p>
        </p:txBody>
      </p:sp>
      <p:sp>
        <p:nvSpPr>
          <p:cNvPr id="14" name="Shape 11"/>
          <p:cNvSpPr/>
          <p:nvPr/>
        </p:nvSpPr>
        <p:spPr>
          <a:xfrm>
            <a:off x="886968" y="2624328"/>
            <a:ext cx="713232" cy="310896"/>
          </a:xfrm>
          <a:prstGeom prst="roundRect">
            <a:avLst>
              <a:gd name="adj" fmla="val 23529"/>
            </a:avLst>
          </a:prstGeom>
          <a:solidFill>
            <a:srgbClr val="1A7F37"/>
          </a:solidFill>
          <a:ln w="8890">
            <a:solidFill>
              <a:srgbClr val="1A7F37"/>
            </a:solidFill>
            <a:prstDash val="solid"/>
          </a:ln>
        </p:spPr>
        <p:txBody>
          <a:bodyPr/>
          <a:lstStyle/>
          <a:p>
            <a:endParaRPr lang="en-US"/>
          </a:p>
        </p:txBody>
      </p:sp>
      <p:sp>
        <p:nvSpPr>
          <p:cNvPr id="15" name="Text 12"/>
          <p:cNvSpPr/>
          <p:nvPr/>
        </p:nvSpPr>
        <p:spPr>
          <a:xfrm>
            <a:off x="978408" y="2720340"/>
            <a:ext cx="530352" cy="109728"/>
          </a:xfrm>
          <a:prstGeom prst="rect">
            <a:avLst/>
          </a:prstGeom>
          <a:noFill/>
          <a:ln/>
        </p:spPr>
        <p:txBody>
          <a:bodyPr wrap="square" lIns="0" tIns="0" rIns="0" bIns="0" rtlCol="0" anchor="ctr"/>
          <a:lstStyle/>
          <a:p>
            <a:pPr marL="0" indent="0" algn="ctr">
              <a:buNone/>
            </a:pPr>
            <a:r>
              <a:rPr lang="en-US" sz="850" b="1" kern="0" spc="70" dirty="0">
                <a:solidFill>
                  <a:srgbClr val="FFFFFF"/>
                </a:solidFill>
                <a:latin typeface="Aptos" pitchFamily="34" charset="0"/>
                <a:ea typeface="Aptos" pitchFamily="34" charset="-122"/>
                <a:cs typeface="Aptos" pitchFamily="34" charset="-120"/>
              </a:rPr>
              <a:t>OPEN</a:t>
            </a:r>
            <a:endParaRPr lang="en-US" sz="850" dirty="0"/>
          </a:p>
        </p:txBody>
      </p:sp>
      <p:sp>
        <p:nvSpPr>
          <p:cNvPr id="16" name="Text 13"/>
          <p:cNvSpPr/>
          <p:nvPr/>
        </p:nvSpPr>
        <p:spPr>
          <a:xfrm>
            <a:off x="1801368" y="2606040"/>
            <a:ext cx="5303520" cy="292608"/>
          </a:xfrm>
          <a:prstGeom prst="rect">
            <a:avLst/>
          </a:prstGeom>
          <a:noFill/>
          <a:ln/>
        </p:spPr>
        <p:txBody>
          <a:bodyPr wrap="square" lIns="0" tIns="0" rIns="0" bIns="0" rtlCol="0" anchor="ctr"/>
          <a:lstStyle/>
          <a:p>
            <a:pPr marL="0" indent="0">
              <a:buNone/>
            </a:pPr>
            <a:r>
              <a:rPr lang="en-US" sz="1800" b="1" dirty="0">
                <a:solidFill>
                  <a:srgbClr val="0D1117"/>
                </a:solidFill>
                <a:latin typeface="Aptos Display" pitchFamily="34" charset="0"/>
                <a:ea typeface="Aptos Display" pitchFamily="34" charset="-122"/>
                <a:cs typeface="Aptos Display" pitchFamily="34" charset="-120"/>
              </a:rPr>
              <a:t>Document the human count-verification step</a:t>
            </a:r>
            <a:endParaRPr lang="en-US" sz="1800" dirty="0"/>
          </a:p>
        </p:txBody>
      </p:sp>
      <p:sp>
        <p:nvSpPr>
          <p:cNvPr id="17" name="Text 14"/>
          <p:cNvSpPr/>
          <p:nvPr/>
        </p:nvSpPr>
        <p:spPr>
          <a:xfrm>
            <a:off x="914400" y="3236976"/>
            <a:ext cx="1371600" cy="182880"/>
          </a:xfrm>
          <a:prstGeom prst="rect">
            <a:avLst/>
          </a:prstGeom>
          <a:noFill/>
          <a:ln/>
        </p:spPr>
        <p:txBody>
          <a:bodyPr wrap="square" lIns="0" tIns="0" rIns="0" bIns="0" rtlCol="0" anchor="ctr"/>
          <a:lstStyle/>
          <a:p>
            <a:pPr marL="0" indent="0">
              <a:buNone/>
            </a:pPr>
            <a:r>
              <a:rPr lang="en-US" sz="1000" dirty="0">
                <a:solidFill>
                  <a:srgbClr val="57606A"/>
                </a:solidFill>
                <a:latin typeface="Aptos" pitchFamily="34" charset="0"/>
                <a:ea typeface="Aptos" pitchFamily="34" charset="-122"/>
                <a:cs typeface="Aptos" pitchFamily="34" charset="-120"/>
              </a:rPr>
              <a:t>Conversation</a:t>
            </a:r>
            <a:endParaRPr lang="en-US" sz="1000" dirty="0"/>
          </a:p>
        </p:txBody>
      </p:sp>
      <p:sp>
        <p:nvSpPr>
          <p:cNvPr id="18" name="Text 15"/>
          <p:cNvSpPr/>
          <p:nvPr/>
        </p:nvSpPr>
        <p:spPr>
          <a:xfrm>
            <a:off x="2450592" y="3236976"/>
            <a:ext cx="1371600" cy="182880"/>
          </a:xfrm>
          <a:prstGeom prst="rect">
            <a:avLst/>
          </a:prstGeom>
          <a:noFill/>
          <a:ln/>
        </p:spPr>
        <p:txBody>
          <a:bodyPr wrap="square" lIns="0" tIns="0" rIns="0" bIns="0" rtlCol="0" anchor="ctr"/>
          <a:lstStyle/>
          <a:p>
            <a:pPr marL="0" indent="0">
              <a:buNone/>
            </a:pPr>
            <a:r>
              <a:rPr lang="en-US" sz="1000" dirty="0">
                <a:solidFill>
                  <a:srgbClr val="57606A"/>
                </a:solidFill>
                <a:latin typeface="Aptos" pitchFamily="34" charset="0"/>
                <a:ea typeface="Aptos" pitchFamily="34" charset="-122"/>
                <a:cs typeface="Aptos" pitchFamily="34" charset="-120"/>
              </a:rPr>
              <a:t>Commits 1</a:t>
            </a:r>
            <a:endParaRPr lang="en-US" sz="1000" dirty="0"/>
          </a:p>
        </p:txBody>
      </p:sp>
      <p:sp>
        <p:nvSpPr>
          <p:cNvPr id="19" name="Text 16"/>
          <p:cNvSpPr/>
          <p:nvPr/>
        </p:nvSpPr>
        <p:spPr>
          <a:xfrm>
            <a:off x="3986784" y="3236976"/>
            <a:ext cx="1371600" cy="182880"/>
          </a:xfrm>
          <a:prstGeom prst="rect">
            <a:avLst/>
          </a:prstGeom>
          <a:noFill/>
          <a:ln/>
        </p:spPr>
        <p:txBody>
          <a:bodyPr wrap="square" lIns="0" tIns="0" rIns="0" bIns="0" rtlCol="0" anchor="ctr"/>
          <a:lstStyle/>
          <a:p>
            <a:pPr marL="0" indent="0">
              <a:buNone/>
            </a:pPr>
            <a:r>
              <a:rPr lang="en-US" sz="1000" dirty="0">
                <a:solidFill>
                  <a:srgbClr val="57606A"/>
                </a:solidFill>
                <a:latin typeface="Aptos" pitchFamily="34" charset="0"/>
                <a:ea typeface="Aptos" pitchFamily="34" charset="-122"/>
                <a:cs typeface="Aptos" pitchFamily="34" charset="-120"/>
              </a:rPr>
              <a:t>Checks</a:t>
            </a:r>
            <a:endParaRPr lang="en-US" sz="1000" dirty="0"/>
          </a:p>
        </p:txBody>
      </p:sp>
      <p:sp>
        <p:nvSpPr>
          <p:cNvPr id="20" name="Text 17"/>
          <p:cNvSpPr/>
          <p:nvPr/>
        </p:nvSpPr>
        <p:spPr>
          <a:xfrm>
            <a:off x="5522976" y="3236976"/>
            <a:ext cx="1371600" cy="182880"/>
          </a:xfrm>
          <a:prstGeom prst="rect">
            <a:avLst/>
          </a:prstGeom>
          <a:noFill/>
          <a:ln/>
        </p:spPr>
        <p:txBody>
          <a:bodyPr wrap="square" lIns="0" tIns="0" rIns="0" bIns="0" rtlCol="0" anchor="ctr"/>
          <a:lstStyle/>
          <a:p>
            <a:pPr marL="0" indent="0">
              <a:buNone/>
            </a:pPr>
            <a:r>
              <a:rPr lang="en-US" sz="1000" b="1" dirty="0">
                <a:solidFill>
                  <a:srgbClr val="0D1117"/>
                </a:solidFill>
                <a:latin typeface="Aptos" pitchFamily="34" charset="0"/>
                <a:ea typeface="Aptos" pitchFamily="34" charset="-122"/>
                <a:cs typeface="Aptos" pitchFamily="34" charset="-120"/>
              </a:rPr>
              <a:t>Files changed 1</a:t>
            </a:r>
            <a:endParaRPr lang="en-US" sz="1000" dirty="0"/>
          </a:p>
        </p:txBody>
      </p:sp>
      <p:sp>
        <p:nvSpPr>
          <p:cNvPr id="21" name="Shape 18"/>
          <p:cNvSpPr/>
          <p:nvPr/>
        </p:nvSpPr>
        <p:spPr>
          <a:xfrm>
            <a:off x="822960" y="3538728"/>
            <a:ext cx="6894576" cy="0"/>
          </a:xfrm>
          <a:prstGeom prst="line">
            <a:avLst/>
          </a:prstGeom>
          <a:noFill/>
          <a:ln w="10160">
            <a:solidFill>
              <a:srgbClr val="D0D7DE"/>
            </a:solidFill>
            <a:prstDash val="solid"/>
          </a:ln>
        </p:spPr>
        <p:txBody>
          <a:bodyPr/>
          <a:lstStyle/>
          <a:p>
            <a:endParaRPr lang="en-US"/>
          </a:p>
        </p:txBody>
      </p:sp>
      <p:sp>
        <p:nvSpPr>
          <p:cNvPr id="22" name="Text 19"/>
          <p:cNvSpPr/>
          <p:nvPr/>
        </p:nvSpPr>
        <p:spPr>
          <a:xfrm>
            <a:off x="950976" y="3813048"/>
            <a:ext cx="1508760" cy="219456"/>
          </a:xfrm>
          <a:prstGeom prst="rect">
            <a:avLst/>
          </a:prstGeom>
          <a:noFill/>
          <a:ln/>
        </p:spPr>
        <p:txBody>
          <a:bodyPr wrap="square" lIns="0" tIns="0" rIns="0" bIns="0" rtlCol="0" anchor="ctr"/>
          <a:lstStyle/>
          <a:p>
            <a:pPr marL="0" indent="0">
              <a:buNone/>
            </a:pPr>
            <a:r>
              <a:rPr lang="en-US" sz="1400" b="1" dirty="0">
                <a:solidFill>
                  <a:srgbClr val="0D1117"/>
                </a:solidFill>
                <a:latin typeface="Aptos Display" pitchFamily="34" charset="0"/>
                <a:ea typeface="Aptos Display" pitchFamily="34" charset="-122"/>
                <a:cs typeface="Aptos Display" pitchFamily="34" charset="-120"/>
              </a:rPr>
              <a:t>What changed</a:t>
            </a:r>
            <a:endParaRPr lang="en-US" sz="1400" dirty="0"/>
          </a:p>
        </p:txBody>
      </p:sp>
      <p:sp>
        <p:nvSpPr>
          <p:cNvPr id="23" name="Text 20"/>
          <p:cNvSpPr/>
          <p:nvPr/>
        </p:nvSpPr>
        <p:spPr>
          <a:xfrm>
            <a:off x="2441448" y="3849624"/>
            <a:ext cx="3108960" cy="164592"/>
          </a:xfrm>
          <a:prstGeom prst="rect">
            <a:avLst/>
          </a:prstGeom>
          <a:noFill/>
          <a:ln/>
        </p:spPr>
        <p:txBody>
          <a:bodyPr wrap="square" lIns="0" tIns="0" rIns="0" bIns="0" rtlCol="0" anchor="ctr"/>
          <a:lstStyle/>
          <a:p>
            <a:pPr marL="0" indent="0">
              <a:buNone/>
            </a:pPr>
            <a:r>
              <a:rPr lang="en-US" sz="950" dirty="0">
                <a:solidFill>
                  <a:srgbClr val="1A7F37"/>
                </a:solidFill>
                <a:latin typeface="Courier New" pitchFamily="34" charset="0"/>
                <a:ea typeface="Courier New" pitchFamily="34" charset="-122"/>
                <a:cs typeface="Courier New" pitchFamily="34" charset="-120"/>
              </a:rPr>
              <a:t>+2 lines in checks/expected-output.md</a:t>
            </a:r>
            <a:endParaRPr lang="en-US" sz="950" dirty="0"/>
          </a:p>
        </p:txBody>
      </p:sp>
      <p:sp>
        <p:nvSpPr>
          <p:cNvPr id="24" name="Shape 21"/>
          <p:cNvSpPr/>
          <p:nvPr/>
        </p:nvSpPr>
        <p:spPr>
          <a:xfrm>
            <a:off x="932688" y="4315968"/>
            <a:ext cx="6675120" cy="1024128"/>
          </a:xfrm>
          <a:prstGeom prst="roundRect">
            <a:avLst>
              <a:gd name="adj" fmla="val 4464"/>
            </a:avLst>
          </a:prstGeom>
          <a:solidFill>
            <a:srgbClr val="DAFBE1"/>
          </a:solidFill>
          <a:ln w="10160">
            <a:solidFill>
              <a:srgbClr val="1A7F37"/>
            </a:solidFill>
            <a:prstDash val="solid"/>
          </a:ln>
        </p:spPr>
        <p:txBody>
          <a:bodyPr/>
          <a:lstStyle/>
          <a:p>
            <a:endParaRPr lang="en-US"/>
          </a:p>
        </p:txBody>
      </p:sp>
      <p:sp>
        <p:nvSpPr>
          <p:cNvPr id="25" name="Text 22"/>
          <p:cNvSpPr/>
          <p:nvPr/>
        </p:nvSpPr>
        <p:spPr>
          <a:xfrm>
            <a:off x="1188720" y="4690872"/>
            <a:ext cx="6163056" cy="393700"/>
          </a:xfrm>
          <a:prstGeom prst="rect">
            <a:avLst/>
          </a:prstGeom>
          <a:noFill/>
          <a:ln/>
        </p:spPr>
        <p:txBody>
          <a:bodyPr wrap="square" lIns="0" tIns="0" rIns="0" bIns="0" rtlCol="0" anchor="ctr">
            <a:noAutofit/>
          </a:bodyPr>
          <a:lstStyle/>
          <a:p>
            <a:pPr marL="0" indent="0">
              <a:buNone/>
            </a:pPr>
            <a:r>
              <a:rPr lang="en-US" sz="1000" dirty="0">
                <a:solidFill>
                  <a:srgbClr val="0D1117"/>
                </a:solidFill>
                <a:latin typeface="Courier New" pitchFamily="34" charset="0"/>
                <a:ea typeface="Courier New" pitchFamily="34" charset="-122"/>
                <a:cs typeface="Courier New" pitchFamily="34" charset="-120"/>
              </a:rPr>
              <a:t>+ Reviewers should confirm the count against the approved requirement before accepting a change.</a:t>
            </a:r>
            <a:endParaRPr lang="en-US" sz="1000" dirty="0"/>
          </a:p>
        </p:txBody>
      </p:sp>
      <p:sp>
        <p:nvSpPr>
          <p:cNvPr id="26" name="Shape 23"/>
          <p:cNvSpPr/>
          <p:nvPr/>
        </p:nvSpPr>
        <p:spPr>
          <a:xfrm>
            <a:off x="8366760" y="1993392"/>
            <a:ext cx="3246120" cy="1024128"/>
          </a:xfrm>
          <a:prstGeom prst="roundRect">
            <a:avLst>
              <a:gd name="adj" fmla="val 6250"/>
            </a:avLst>
          </a:prstGeom>
          <a:solidFill>
            <a:srgbClr val="DDF4FF"/>
          </a:solidFill>
          <a:ln w="12700">
            <a:solidFill>
              <a:srgbClr val="0969DA"/>
            </a:solidFill>
            <a:prstDash val="solid"/>
          </a:ln>
        </p:spPr>
        <p:txBody>
          <a:bodyPr/>
          <a:lstStyle/>
          <a:p>
            <a:endParaRPr lang="en-US"/>
          </a:p>
        </p:txBody>
      </p:sp>
      <p:sp>
        <p:nvSpPr>
          <p:cNvPr id="27" name="Text 24"/>
          <p:cNvSpPr/>
          <p:nvPr/>
        </p:nvSpPr>
        <p:spPr>
          <a:xfrm>
            <a:off x="8622792" y="2203704"/>
            <a:ext cx="2734056" cy="274320"/>
          </a:xfrm>
          <a:prstGeom prst="rect">
            <a:avLst/>
          </a:prstGeom>
          <a:noFill/>
          <a:ln/>
        </p:spPr>
        <p:txBody>
          <a:bodyPr wrap="square" lIns="0" tIns="0" rIns="0" bIns="0" rtlCol="0" anchor="ctr"/>
          <a:lstStyle/>
          <a:p>
            <a:pPr marL="0" indent="0">
              <a:buNone/>
            </a:pPr>
            <a:r>
              <a:rPr lang="en-US" sz="1800" b="1" dirty="0">
                <a:solidFill>
                  <a:srgbClr val="0D1117"/>
                </a:solidFill>
                <a:latin typeface="Aptos Display" pitchFamily="34" charset="0"/>
                <a:ea typeface="Aptos Display" pitchFamily="34" charset="-122"/>
                <a:cs typeface="Aptos Display" pitchFamily="34" charset="-120"/>
              </a:rPr>
              <a:t>Intent</a:t>
            </a:r>
            <a:endParaRPr lang="en-US" sz="1800" dirty="0"/>
          </a:p>
        </p:txBody>
      </p:sp>
      <p:sp>
        <p:nvSpPr>
          <p:cNvPr id="28" name="Text 25"/>
          <p:cNvSpPr/>
          <p:nvPr/>
        </p:nvSpPr>
        <p:spPr>
          <a:xfrm>
            <a:off x="8622792" y="2633472"/>
            <a:ext cx="2734056" cy="173736"/>
          </a:xfrm>
          <a:prstGeom prst="rect">
            <a:avLst/>
          </a:prstGeom>
          <a:noFill/>
          <a:ln/>
        </p:spPr>
        <p:txBody>
          <a:bodyPr wrap="square" lIns="0" tIns="0" rIns="0" bIns="0" rtlCol="0" anchor="t"/>
          <a:lstStyle/>
          <a:p>
            <a:pPr marL="0" indent="0">
              <a:buNone/>
            </a:pPr>
            <a:r>
              <a:rPr lang="en-US" sz="1300" dirty="0">
                <a:solidFill>
                  <a:srgbClr val="57606A"/>
                </a:solidFill>
                <a:latin typeface="Aptos" pitchFamily="34" charset="0"/>
                <a:ea typeface="Aptos" pitchFamily="34" charset="-122"/>
                <a:cs typeface="Aptos" pitchFamily="34" charset="-120"/>
              </a:rPr>
              <a:t>Why does this proposal exist?</a:t>
            </a:r>
            <a:endParaRPr lang="en-US" sz="1300" dirty="0"/>
          </a:p>
        </p:txBody>
      </p:sp>
      <p:sp>
        <p:nvSpPr>
          <p:cNvPr id="29" name="Shape 26"/>
          <p:cNvSpPr/>
          <p:nvPr/>
        </p:nvSpPr>
        <p:spPr>
          <a:xfrm>
            <a:off x="8366760" y="3246120"/>
            <a:ext cx="3246120" cy="1024128"/>
          </a:xfrm>
          <a:prstGeom prst="roundRect">
            <a:avLst>
              <a:gd name="adj" fmla="val 6250"/>
            </a:avLst>
          </a:prstGeom>
          <a:solidFill>
            <a:srgbClr val="DAFBE1"/>
          </a:solidFill>
          <a:ln w="12700">
            <a:solidFill>
              <a:srgbClr val="1A7F37"/>
            </a:solidFill>
            <a:prstDash val="solid"/>
          </a:ln>
        </p:spPr>
        <p:txBody>
          <a:bodyPr/>
          <a:lstStyle/>
          <a:p>
            <a:endParaRPr lang="en-US"/>
          </a:p>
        </p:txBody>
      </p:sp>
      <p:sp>
        <p:nvSpPr>
          <p:cNvPr id="30" name="Text 27"/>
          <p:cNvSpPr/>
          <p:nvPr/>
        </p:nvSpPr>
        <p:spPr>
          <a:xfrm>
            <a:off x="8622792" y="3456432"/>
            <a:ext cx="2734056" cy="274320"/>
          </a:xfrm>
          <a:prstGeom prst="rect">
            <a:avLst/>
          </a:prstGeom>
          <a:noFill/>
          <a:ln/>
        </p:spPr>
        <p:txBody>
          <a:bodyPr wrap="square" lIns="0" tIns="0" rIns="0" bIns="0" rtlCol="0" anchor="ctr"/>
          <a:lstStyle/>
          <a:p>
            <a:pPr marL="0" indent="0">
              <a:buNone/>
            </a:pPr>
            <a:r>
              <a:rPr lang="en-US" sz="1800" b="1" dirty="0">
                <a:solidFill>
                  <a:srgbClr val="0D1117"/>
                </a:solidFill>
                <a:latin typeface="Aptos Display" pitchFamily="34" charset="0"/>
                <a:ea typeface="Aptos Display" pitchFamily="34" charset="-122"/>
                <a:cs typeface="Aptos Display" pitchFamily="34" charset="-120"/>
              </a:rPr>
              <a:t>Evidence</a:t>
            </a:r>
            <a:endParaRPr lang="en-US" sz="1800" dirty="0"/>
          </a:p>
        </p:txBody>
      </p:sp>
      <p:sp>
        <p:nvSpPr>
          <p:cNvPr id="31" name="Text 28"/>
          <p:cNvSpPr/>
          <p:nvPr/>
        </p:nvSpPr>
        <p:spPr>
          <a:xfrm>
            <a:off x="8622792" y="3886200"/>
            <a:ext cx="2734056" cy="173736"/>
          </a:xfrm>
          <a:prstGeom prst="rect">
            <a:avLst/>
          </a:prstGeom>
          <a:noFill/>
          <a:ln/>
        </p:spPr>
        <p:txBody>
          <a:bodyPr wrap="square" lIns="0" tIns="0" rIns="0" bIns="0" rtlCol="0" anchor="t"/>
          <a:lstStyle/>
          <a:p>
            <a:pPr marL="0" indent="0">
              <a:buNone/>
            </a:pPr>
            <a:r>
              <a:rPr lang="en-US" sz="1300" dirty="0">
                <a:solidFill>
                  <a:srgbClr val="57606A"/>
                </a:solidFill>
                <a:latin typeface="Aptos" pitchFamily="34" charset="0"/>
                <a:ea typeface="Aptos" pitchFamily="34" charset="-122"/>
                <a:cs typeface="Aptos" pitchFamily="34" charset="-120"/>
              </a:rPr>
              <a:t>What changed and which checks ran?</a:t>
            </a:r>
            <a:endParaRPr lang="en-US" sz="1300" dirty="0"/>
          </a:p>
        </p:txBody>
      </p:sp>
      <p:sp>
        <p:nvSpPr>
          <p:cNvPr id="32" name="Shape 29"/>
          <p:cNvSpPr/>
          <p:nvPr/>
        </p:nvSpPr>
        <p:spPr>
          <a:xfrm>
            <a:off x="8366760" y="4498848"/>
            <a:ext cx="3246120" cy="1024128"/>
          </a:xfrm>
          <a:prstGeom prst="roundRect">
            <a:avLst>
              <a:gd name="adj" fmla="val 6250"/>
            </a:avLst>
          </a:prstGeom>
          <a:solidFill>
            <a:srgbClr val="F6F0FF"/>
          </a:solidFill>
          <a:ln w="12700">
            <a:solidFill>
              <a:srgbClr val="8250DF"/>
            </a:solidFill>
            <a:prstDash val="solid"/>
          </a:ln>
        </p:spPr>
        <p:txBody>
          <a:bodyPr/>
          <a:lstStyle/>
          <a:p>
            <a:endParaRPr lang="en-US"/>
          </a:p>
        </p:txBody>
      </p:sp>
      <p:sp>
        <p:nvSpPr>
          <p:cNvPr id="33" name="Text 30"/>
          <p:cNvSpPr/>
          <p:nvPr/>
        </p:nvSpPr>
        <p:spPr>
          <a:xfrm>
            <a:off x="8622792" y="4709160"/>
            <a:ext cx="2734056" cy="274320"/>
          </a:xfrm>
          <a:prstGeom prst="rect">
            <a:avLst/>
          </a:prstGeom>
          <a:noFill/>
          <a:ln/>
        </p:spPr>
        <p:txBody>
          <a:bodyPr wrap="square" lIns="0" tIns="0" rIns="0" bIns="0" rtlCol="0" anchor="ctr"/>
          <a:lstStyle/>
          <a:p>
            <a:pPr marL="0" indent="0">
              <a:buNone/>
            </a:pPr>
            <a:r>
              <a:rPr lang="en-US" sz="1800" b="1" dirty="0">
                <a:solidFill>
                  <a:srgbClr val="0D1117"/>
                </a:solidFill>
                <a:latin typeface="Aptos Display" pitchFamily="34" charset="0"/>
                <a:ea typeface="Aptos Display" pitchFamily="34" charset="-122"/>
                <a:cs typeface="Aptos Display" pitchFamily="34" charset="-120"/>
              </a:rPr>
              <a:t>Decision</a:t>
            </a:r>
            <a:endParaRPr lang="en-US" sz="1800" dirty="0"/>
          </a:p>
        </p:txBody>
      </p:sp>
      <p:sp>
        <p:nvSpPr>
          <p:cNvPr id="34" name="Text 31"/>
          <p:cNvSpPr/>
          <p:nvPr/>
        </p:nvSpPr>
        <p:spPr>
          <a:xfrm>
            <a:off x="8622792" y="5138928"/>
            <a:ext cx="2734056" cy="173736"/>
          </a:xfrm>
          <a:prstGeom prst="rect">
            <a:avLst/>
          </a:prstGeom>
          <a:noFill/>
          <a:ln/>
        </p:spPr>
        <p:txBody>
          <a:bodyPr wrap="square" lIns="0" tIns="0" rIns="0" bIns="0" rtlCol="0" anchor="t"/>
          <a:lstStyle/>
          <a:p>
            <a:pPr marL="0" indent="0">
              <a:buNone/>
            </a:pPr>
            <a:r>
              <a:rPr lang="en-US" sz="1300" dirty="0">
                <a:solidFill>
                  <a:srgbClr val="57606A"/>
                </a:solidFill>
                <a:latin typeface="Aptos" pitchFamily="34" charset="0"/>
                <a:ea typeface="Aptos" pitchFamily="34" charset="-122"/>
                <a:cs typeface="Aptos" pitchFamily="34" charset="-120"/>
              </a:rPr>
              <a:t>Approve, request changes, or comment?</a:t>
            </a:r>
            <a:endParaRPr lang="en-US" sz="1300" dirty="0"/>
          </a:p>
        </p:txBody>
      </p:sp>
      <p:sp>
        <p:nvSpPr>
          <p:cNvPr id="35" name="Text 32"/>
          <p:cNvSpPr/>
          <p:nvPr/>
        </p:nvSpPr>
        <p:spPr>
          <a:xfrm>
            <a:off x="502920" y="6519672"/>
            <a:ext cx="3840480" cy="146304"/>
          </a:xfrm>
          <a:prstGeom prst="rect">
            <a:avLst/>
          </a:prstGeom>
          <a:noFill/>
          <a:ln/>
        </p:spPr>
        <p:txBody>
          <a:bodyPr wrap="square" lIns="0" tIns="0" rIns="0" bIns="0" rtlCol="0" anchor="ctr"/>
          <a:lstStyle/>
          <a:p>
            <a:pPr marL="0" indent="0">
              <a:buNone/>
            </a:pPr>
            <a:r>
              <a:rPr lang="en-US" sz="800" dirty="0">
                <a:solidFill>
                  <a:srgbClr val="8C959F"/>
                </a:solidFill>
                <a:latin typeface="Aptos" pitchFamily="34" charset="0"/>
                <a:ea typeface="Aptos" pitchFamily="34" charset="-122"/>
                <a:cs typeface="Aptos" pitchFamily="34" charset="-120"/>
              </a:rPr>
              <a:t>GitHub Foundations | Gilead DSS</a:t>
            </a:r>
            <a:endParaRPr lang="en-US" sz="800" dirty="0"/>
          </a:p>
        </p:txBody>
      </p:sp>
      <p:sp>
        <p:nvSpPr>
          <p:cNvPr id="36" name="Text 33">
            <a:hlinkClick r:id="rId4"/>
          </p:cNvPr>
          <p:cNvSpPr/>
          <p:nvPr/>
        </p:nvSpPr>
        <p:spPr>
          <a:xfrm>
            <a:off x="5623560" y="6519672"/>
            <a:ext cx="5897880" cy="146304"/>
          </a:xfrm>
          <a:prstGeom prst="rect">
            <a:avLst/>
          </a:prstGeom>
          <a:noFill/>
          <a:ln/>
        </p:spPr>
        <p:txBody>
          <a:bodyPr wrap="square" lIns="0" tIns="0" rIns="0" bIns="0" rtlCol="0" anchor="ctr"/>
          <a:lstStyle/>
          <a:p>
            <a:pPr marL="0" indent="0" algn="r">
              <a:buNone/>
            </a:pPr>
            <a:r>
              <a:rPr lang="en-US" sz="800" u="sng" dirty="0">
                <a:solidFill>
                  <a:srgbClr val="8C959F"/>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github.com/johnsont1693/scientific-workflow-workshop</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475488" y="347472"/>
            <a:ext cx="347472" cy="347472"/>
          </a:xfrm>
          <a:prstGeom prst="ellipse">
            <a:avLst/>
          </a:prstGeom>
          <a:solidFill>
            <a:srgbClr val="FFFFFF"/>
          </a:solidFill>
          <a:ln w="12700">
            <a:solidFill>
              <a:srgbClr val="FFFFFF">
                <a:alpha val="0"/>
              </a:srgbClr>
            </a:solidFill>
            <a:prstDash val="solid"/>
          </a:ln>
        </p:spPr>
        <p:txBody>
          <a:bodyPr/>
          <a:lstStyle/>
          <a:p>
            <a:endParaRPr lang="en-US"/>
          </a:p>
        </p:txBody>
      </p:sp>
      <p:pic>
        <p:nvPicPr>
          <p:cNvPr id="3" name="Image 0" descr="/Users/alysiabrown/sandbox/copilot-worktrees/acb-workbench/abrown152-turbo-winner/generated-assets/gilead-sciences-inc/dss-2026/assets/github-mark.png"/>
          <p:cNvPicPr>
            <a:picLocks noChangeAspect="1"/>
          </p:cNvPicPr>
          <p:nvPr/>
        </p:nvPicPr>
        <p:blipFill>
          <a:blip r:embed="rId3"/>
          <a:stretch>
            <a:fillRect/>
          </a:stretch>
        </p:blipFill>
        <p:spPr>
          <a:xfrm>
            <a:off x="525780" y="397764"/>
            <a:ext cx="246888" cy="246888"/>
          </a:xfrm>
          <a:prstGeom prst="rect">
            <a:avLst/>
          </a:prstGeom>
        </p:spPr>
      </p:pic>
      <p:sp>
        <p:nvSpPr>
          <p:cNvPr id="4" name="Text 1"/>
          <p:cNvSpPr/>
          <p:nvPr/>
        </p:nvSpPr>
        <p:spPr>
          <a:xfrm>
            <a:off x="896112" y="356616"/>
            <a:ext cx="960120" cy="256032"/>
          </a:xfrm>
          <a:prstGeom prst="rect">
            <a:avLst/>
          </a:prstGeom>
          <a:noFill/>
          <a:ln/>
        </p:spPr>
        <p:txBody>
          <a:bodyPr wrap="square" lIns="0" tIns="0" rIns="0" bIns="0" rtlCol="0" anchor="ctr"/>
          <a:lstStyle/>
          <a:p>
            <a:pPr marL="0" indent="0">
              <a:buNone/>
            </a:pPr>
            <a:r>
              <a:rPr lang="en-US" sz="1700" b="1" dirty="0">
                <a:solidFill>
                  <a:srgbClr val="FFFFFF"/>
                </a:solidFill>
                <a:latin typeface="Aptos Display" pitchFamily="34" charset="0"/>
                <a:ea typeface="Aptos Display" pitchFamily="34" charset="-122"/>
                <a:cs typeface="Aptos Display" pitchFamily="34" charset="-120"/>
              </a:rPr>
              <a:t>GitHub</a:t>
            </a:r>
            <a:endParaRPr lang="en-US" sz="1700" dirty="0"/>
          </a:p>
        </p:txBody>
      </p:sp>
      <p:sp>
        <p:nvSpPr>
          <p:cNvPr id="5" name="Shape 2"/>
          <p:cNvSpPr/>
          <p:nvPr/>
        </p:nvSpPr>
        <p:spPr>
          <a:xfrm>
            <a:off x="566928" y="1051560"/>
            <a:ext cx="2487168" cy="310896"/>
          </a:xfrm>
          <a:prstGeom prst="roundRect">
            <a:avLst>
              <a:gd name="adj" fmla="val 23529"/>
            </a:avLst>
          </a:prstGeom>
          <a:solidFill>
            <a:srgbClr val="1A7F37"/>
          </a:solidFill>
          <a:ln w="8890">
            <a:solidFill>
              <a:srgbClr val="1A7F37"/>
            </a:solidFill>
            <a:prstDash val="solid"/>
          </a:ln>
        </p:spPr>
        <p:txBody>
          <a:bodyPr/>
          <a:lstStyle/>
          <a:p>
            <a:endParaRPr lang="en-US"/>
          </a:p>
        </p:txBody>
      </p:sp>
      <p:sp>
        <p:nvSpPr>
          <p:cNvPr id="6" name="Text 3"/>
          <p:cNvSpPr/>
          <p:nvPr/>
        </p:nvSpPr>
        <p:spPr>
          <a:xfrm>
            <a:off x="658368" y="1147572"/>
            <a:ext cx="2304288" cy="109728"/>
          </a:xfrm>
          <a:prstGeom prst="rect">
            <a:avLst/>
          </a:prstGeom>
          <a:noFill/>
          <a:ln/>
        </p:spPr>
        <p:txBody>
          <a:bodyPr wrap="square" lIns="0" tIns="0" rIns="0" bIns="0" rtlCol="0" anchor="ctr"/>
          <a:lstStyle/>
          <a:p>
            <a:pPr marL="0" indent="0" algn="ctr">
              <a:buNone/>
            </a:pPr>
            <a:r>
              <a:rPr lang="en-US" sz="850" b="1" kern="0" spc="70" dirty="0">
                <a:solidFill>
                  <a:srgbClr val="FFFFFF"/>
                </a:solidFill>
                <a:latin typeface="Aptos" pitchFamily="34" charset="0"/>
                <a:ea typeface="Aptos" pitchFamily="34" charset="-122"/>
                <a:cs typeface="Aptos" pitchFamily="34" charset="-120"/>
              </a:rPr>
              <a:t>BROWSER LAB 2 | 8 MINUTES</a:t>
            </a:r>
            <a:endParaRPr lang="en-US" sz="850" dirty="0"/>
          </a:p>
        </p:txBody>
      </p:sp>
      <p:sp>
        <p:nvSpPr>
          <p:cNvPr id="7" name="Text 4"/>
          <p:cNvSpPr/>
          <p:nvPr/>
        </p:nvSpPr>
        <p:spPr>
          <a:xfrm>
            <a:off x="566928" y="1664208"/>
            <a:ext cx="6400800" cy="594360"/>
          </a:xfrm>
          <a:prstGeom prst="rect">
            <a:avLst/>
          </a:prstGeom>
          <a:noFill/>
          <a:ln/>
        </p:spPr>
        <p:txBody>
          <a:bodyPr wrap="square" lIns="0" tIns="0" rIns="0" bIns="0" rtlCol="0" anchor="ctr"/>
          <a:lstStyle/>
          <a:p>
            <a:pPr marL="0" indent="0">
              <a:buNone/>
            </a:pPr>
            <a:r>
              <a:rPr lang="en-US" sz="3700" b="1" dirty="0">
                <a:solidFill>
                  <a:srgbClr val="FFFFFF"/>
                </a:solidFill>
                <a:latin typeface="Aptos Display" pitchFamily="34" charset="0"/>
                <a:ea typeface="Aptos Display" pitchFamily="34" charset="-122"/>
                <a:cs typeface="Aptos Display" pitchFamily="34" charset="-120"/>
              </a:rPr>
              <a:t>Open the proposal. Review the evidence.</a:t>
            </a:r>
            <a:endParaRPr lang="en-US" sz="3700" dirty="0"/>
          </a:p>
        </p:txBody>
      </p:sp>
      <p:sp>
        <p:nvSpPr>
          <p:cNvPr id="8" name="Shape 5"/>
          <p:cNvSpPr/>
          <p:nvPr/>
        </p:nvSpPr>
        <p:spPr>
          <a:xfrm>
            <a:off x="713232" y="2651760"/>
            <a:ext cx="475488" cy="475488"/>
          </a:xfrm>
          <a:prstGeom prst="ellipse">
            <a:avLst/>
          </a:prstGeom>
          <a:solidFill>
            <a:srgbClr val="0969DA"/>
          </a:solidFill>
          <a:ln w="12700">
            <a:solidFill>
              <a:srgbClr val="0969DA">
                <a:alpha val="0"/>
              </a:srgbClr>
            </a:solidFill>
            <a:prstDash val="solid"/>
          </a:ln>
        </p:spPr>
        <p:txBody>
          <a:bodyPr/>
          <a:lstStyle/>
          <a:p>
            <a:endParaRPr lang="en-US"/>
          </a:p>
        </p:txBody>
      </p:sp>
      <p:sp>
        <p:nvSpPr>
          <p:cNvPr id="9" name="Text 6"/>
          <p:cNvSpPr/>
          <p:nvPr/>
        </p:nvSpPr>
        <p:spPr>
          <a:xfrm>
            <a:off x="713232" y="2784348"/>
            <a:ext cx="475488" cy="1371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Display" pitchFamily="34" charset="0"/>
                <a:ea typeface="Aptos Display" pitchFamily="34" charset="-122"/>
                <a:cs typeface="Aptos Display" pitchFamily="34" charset="-120"/>
              </a:rPr>
              <a:t>1</a:t>
            </a:r>
            <a:endParaRPr lang="en-US" sz="1200" dirty="0"/>
          </a:p>
        </p:txBody>
      </p:sp>
      <p:sp>
        <p:nvSpPr>
          <p:cNvPr id="10" name="Text 7"/>
          <p:cNvSpPr/>
          <p:nvPr/>
        </p:nvSpPr>
        <p:spPr>
          <a:xfrm>
            <a:off x="1371600" y="2724912"/>
            <a:ext cx="1920240" cy="228600"/>
          </a:xfrm>
          <a:prstGeom prst="rect">
            <a:avLst/>
          </a:prstGeom>
          <a:noFill/>
          <a:ln/>
        </p:spPr>
        <p:txBody>
          <a:bodyPr wrap="square" lIns="0" tIns="0" rIns="0" bIns="0"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Open a pull request</a:t>
            </a:r>
            <a:endParaRPr lang="en-US" sz="1600" dirty="0"/>
          </a:p>
        </p:txBody>
      </p:sp>
      <p:sp>
        <p:nvSpPr>
          <p:cNvPr id="11" name="Text 8"/>
          <p:cNvSpPr/>
          <p:nvPr/>
        </p:nvSpPr>
        <p:spPr>
          <a:xfrm>
            <a:off x="3200400" y="2752344"/>
            <a:ext cx="2606040" cy="201168"/>
          </a:xfrm>
          <a:prstGeom prst="rect">
            <a:avLst/>
          </a:prstGeom>
          <a:noFill/>
          <a:ln/>
        </p:spPr>
        <p:txBody>
          <a:bodyPr wrap="square" lIns="0" tIns="0" rIns="0" bIns="0" rtlCol="0" anchor="ctr"/>
          <a:lstStyle/>
          <a:p>
            <a:pPr marL="0" indent="0">
              <a:buNone/>
            </a:pPr>
            <a:r>
              <a:rPr lang="en-US" sz="1200" dirty="0">
                <a:solidFill>
                  <a:srgbClr val="B1BAC4"/>
                </a:solidFill>
                <a:latin typeface="Aptos" pitchFamily="34" charset="0"/>
                <a:ea typeface="Aptos" pitchFamily="34" charset="-122"/>
                <a:cs typeface="Aptos" pitchFamily="34" charset="-120"/>
              </a:rPr>
              <a:t>Complete the template.</a:t>
            </a:r>
            <a:endParaRPr lang="en-US" sz="1200" dirty="0"/>
          </a:p>
        </p:txBody>
      </p:sp>
      <p:sp>
        <p:nvSpPr>
          <p:cNvPr id="12" name="Shape 9"/>
          <p:cNvSpPr/>
          <p:nvPr/>
        </p:nvSpPr>
        <p:spPr>
          <a:xfrm>
            <a:off x="713232" y="3346704"/>
            <a:ext cx="475488" cy="475488"/>
          </a:xfrm>
          <a:prstGeom prst="ellipse">
            <a:avLst/>
          </a:prstGeom>
          <a:solidFill>
            <a:srgbClr val="0969DA"/>
          </a:solidFill>
          <a:ln w="12700">
            <a:solidFill>
              <a:srgbClr val="0969DA">
                <a:alpha val="0"/>
              </a:srgbClr>
            </a:solidFill>
            <a:prstDash val="solid"/>
          </a:ln>
        </p:spPr>
        <p:txBody>
          <a:bodyPr/>
          <a:lstStyle/>
          <a:p>
            <a:endParaRPr lang="en-US"/>
          </a:p>
        </p:txBody>
      </p:sp>
      <p:sp>
        <p:nvSpPr>
          <p:cNvPr id="13" name="Text 10"/>
          <p:cNvSpPr/>
          <p:nvPr/>
        </p:nvSpPr>
        <p:spPr>
          <a:xfrm>
            <a:off x="713232" y="3479292"/>
            <a:ext cx="475488" cy="1371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Display" pitchFamily="34" charset="0"/>
                <a:ea typeface="Aptos Display" pitchFamily="34" charset="-122"/>
                <a:cs typeface="Aptos Display" pitchFamily="34" charset="-120"/>
              </a:rPr>
              <a:t>2</a:t>
            </a:r>
            <a:endParaRPr lang="en-US" sz="1200" dirty="0"/>
          </a:p>
        </p:txBody>
      </p:sp>
      <p:sp>
        <p:nvSpPr>
          <p:cNvPr id="14" name="Text 11"/>
          <p:cNvSpPr/>
          <p:nvPr/>
        </p:nvSpPr>
        <p:spPr>
          <a:xfrm>
            <a:off x="1371600" y="3419856"/>
            <a:ext cx="1920240" cy="228600"/>
          </a:xfrm>
          <a:prstGeom prst="rect">
            <a:avLst/>
          </a:prstGeom>
          <a:noFill/>
          <a:ln/>
        </p:spPr>
        <p:txBody>
          <a:bodyPr wrap="square" lIns="0" tIns="0" rIns="0" bIns="0"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Exchange links</a:t>
            </a:r>
            <a:endParaRPr lang="en-US" sz="1600" dirty="0"/>
          </a:p>
        </p:txBody>
      </p:sp>
      <p:sp>
        <p:nvSpPr>
          <p:cNvPr id="15" name="Text 12"/>
          <p:cNvSpPr/>
          <p:nvPr/>
        </p:nvSpPr>
        <p:spPr>
          <a:xfrm>
            <a:off x="3200400" y="3447288"/>
            <a:ext cx="2606040" cy="201168"/>
          </a:xfrm>
          <a:prstGeom prst="rect">
            <a:avLst/>
          </a:prstGeom>
          <a:noFill/>
          <a:ln/>
        </p:spPr>
        <p:txBody>
          <a:bodyPr wrap="square" lIns="0" tIns="0" rIns="0" bIns="0" rtlCol="0" anchor="ctr"/>
          <a:lstStyle/>
          <a:p>
            <a:pPr marL="0" indent="0">
              <a:buNone/>
            </a:pPr>
            <a:r>
              <a:rPr lang="en-US" sz="1200" dirty="0">
                <a:solidFill>
                  <a:srgbClr val="B1BAC4"/>
                </a:solidFill>
                <a:latin typeface="Aptos" pitchFamily="34" charset="0"/>
                <a:ea typeface="Aptos" pitchFamily="34" charset="-122"/>
                <a:cs typeface="Aptos" pitchFamily="34" charset="-120"/>
              </a:rPr>
              <a:t>Pair with another attendee.</a:t>
            </a:r>
            <a:endParaRPr lang="en-US" sz="1200" dirty="0"/>
          </a:p>
        </p:txBody>
      </p:sp>
      <p:sp>
        <p:nvSpPr>
          <p:cNvPr id="16" name="Shape 13"/>
          <p:cNvSpPr/>
          <p:nvPr/>
        </p:nvSpPr>
        <p:spPr>
          <a:xfrm>
            <a:off x="713232" y="4041648"/>
            <a:ext cx="475488" cy="475488"/>
          </a:xfrm>
          <a:prstGeom prst="ellipse">
            <a:avLst/>
          </a:prstGeom>
          <a:solidFill>
            <a:srgbClr val="0969DA"/>
          </a:solidFill>
          <a:ln w="12700">
            <a:solidFill>
              <a:srgbClr val="0969DA">
                <a:alpha val="0"/>
              </a:srgbClr>
            </a:solidFill>
            <a:prstDash val="solid"/>
          </a:ln>
        </p:spPr>
        <p:txBody>
          <a:bodyPr/>
          <a:lstStyle/>
          <a:p>
            <a:endParaRPr lang="en-US"/>
          </a:p>
        </p:txBody>
      </p:sp>
      <p:sp>
        <p:nvSpPr>
          <p:cNvPr id="17" name="Text 14"/>
          <p:cNvSpPr/>
          <p:nvPr/>
        </p:nvSpPr>
        <p:spPr>
          <a:xfrm>
            <a:off x="713232" y="4174236"/>
            <a:ext cx="475488" cy="1371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Display" pitchFamily="34" charset="0"/>
                <a:ea typeface="Aptos Display" pitchFamily="34" charset="-122"/>
                <a:cs typeface="Aptos Display" pitchFamily="34" charset="-120"/>
              </a:rPr>
              <a:t>3</a:t>
            </a:r>
            <a:endParaRPr lang="en-US" sz="1200" dirty="0"/>
          </a:p>
        </p:txBody>
      </p:sp>
      <p:sp>
        <p:nvSpPr>
          <p:cNvPr id="18" name="Text 15"/>
          <p:cNvSpPr/>
          <p:nvPr/>
        </p:nvSpPr>
        <p:spPr>
          <a:xfrm>
            <a:off x="1371600" y="4114800"/>
            <a:ext cx="1920240" cy="228600"/>
          </a:xfrm>
          <a:prstGeom prst="rect">
            <a:avLst/>
          </a:prstGeom>
          <a:noFill/>
          <a:ln/>
        </p:spPr>
        <p:txBody>
          <a:bodyPr wrap="square" lIns="0" tIns="0" rIns="0" bIns="0"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Inspect the diff</a:t>
            </a:r>
            <a:endParaRPr lang="en-US" sz="1600" dirty="0"/>
          </a:p>
        </p:txBody>
      </p:sp>
      <p:sp>
        <p:nvSpPr>
          <p:cNvPr id="19" name="Text 16"/>
          <p:cNvSpPr/>
          <p:nvPr/>
        </p:nvSpPr>
        <p:spPr>
          <a:xfrm>
            <a:off x="3200400" y="4142232"/>
            <a:ext cx="2606040" cy="201168"/>
          </a:xfrm>
          <a:prstGeom prst="rect">
            <a:avLst/>
          </a:prstGeom>
          <a:noFill/>
          <a:ln/>
        </p:spPr>
        <p:txBody>
          <a:bodyPr wrap="square" lIns="0" tIns="0" rIns="0" bIns="0" rtlCol="0" anchor="ctr"/>
          <a:lstStyle/>
          <a:p>
            <a:pPr marL="0" indent="0">
              <a:buNone/>
            </a:pPr>
            <a:r>
              <a:rPr lang="en-US" sz="1200" dirty="0">
                <a:solidFill>
                  <a:srgbClr val="B1BAC4"/>
                </a:solidFill>
                <a:latin typeface="Aptos" pitchFamily="34" charset="0"/>
                <a:ea typeface="Aptos" pitchFamily="34" charset="-122"/>
                <a:cs typeface="Aptos" pitchFamily="34" charset="-120"/>
              </a:rPr>
              <a:t>Read every changed line.</a:t>
            </a:r>
            <a:endParaRPr lang="en-US" sz="1200" dirty="0"/>
          </a:p>
        </p:txBody>
      </p:sp>
      <p:sp>
        <p:nvSpPr>
          <p:cNvPr id="20" name="Shape 17"/>
          <p:cNvSpPr/>
          <p:nvPr/>
        </p:nvSpPr>
        <p:spPr>
          <a:xfrm>
            <a:off x="713232" y="4736592"/>
            <a:ext cx="475488" cy="475488"/>
          </a:xfrm>
          <a:prstGeom prst="ellipse">
            <a:avLst/>
          </a:prstGeom>
          <a:solidFill>
            <a:srgbClr val="1A7F37"/>
          </a:solidFill>
          <a:ln w="12700">
            <a:solidFill>
              <a:srgbClr val="1A7F37">
                <a:alpha val="0"/>
              </a:srgbClr>
            </a:solidFill>
            <a:prstDash val="solid"/>
          </a:ln>
        </p:spPr>
        <p:txBody>
          <a:bodyPr/>
          <a:lstStyle/>
          <a:p>
            <a:endParaRPr lang="en-US"/>
          </a:p>
        </p:txBody>
      </p:sp>
      <p:sp>
        <p:nvSpPr>
          <p:cNvPr id="21" name="Text 18"/>
          <p:cNvSpPr/>
          <p:nvPr/>
        </p:nvSpPr>
        <p:spPr>
          <a:xfrm>
            <a:off x="713232" y="4869180"/>
            <a:ext cx="475488" cy="1371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Display" pitchFamily="34" charset="0"/>
                <a:ea typeface="Aptos Display" pitchFamily="34" charset="-122"/>
                <a:cs typeface="Aptos Display" pitchFamily="34" charset="-120"/>
              </a:rPr>
              <a:t>4</a:t>
            </a:r>
            <a:endParaRPr lang="en-US" sz="1200" dirty="0"/>
          </a:p>
        </p:txBody>
      </p:sp>
      <p:sp>
        <p:nvSpPr>
          <p:cNvPr id="22" name="Text 19"/>
          <p:cNvSpPr/>
          <p:nvPr/>
        </p:nvSpPr>
        <p:spPr>
          <a:xfrm>
            <a:off x="1371600" y="4809744"/>
            <a:ext cx="1920240" cy="228600"/>
          </a:xfrm>
          <a:prstGeom prst="rect">
            <a:avLst/>
          </a:prstGeom>
          <a:noFill/>
          <a:ln/>
        </p:spPr>
        <p:txBody>
          <a:bodyPr wrap="square" lIns="0" tIns="0" rIns="0" bIns="0"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Leave a comment</a:t>
            </a:r>
            <a:endParaRPr lang="en-US" sz="1600" dirty="0"/>
          </a:p>
        </p:txBody>
      </p:sp>
      <p:sp>
        <p:nvSpPr>
          <p:cNvPr id="23" name="Text 20"/>
          <p:cNvSpPr/>
          <p:nvPr/>
        </p:nvSpPr>
        <p:spPr>
          <a:xfrm>
            <a:off x="3200400" y="4837176"/>
            <a:ext cx="2606040" cy="201168"/>
          </a:xfrm>
          <a:prstGeom prst="rect">
            <a:avLst/>
          </a:prstGeom>
          <a:noFill/>
          <a:ln/>
        </p:spPr>
        <p:txBody>
          <a:bodyPr wrap="square" lIns="0" tIns="0" rIns="0" bIns="0" rtlCol="0" anchor="ctr"/>
          <a:lstStyle/>
          <a:p>
            <a:pPr marL="0" indent="0">
              <a:buNone/>
            </a:pPr>
            <a:r>
              <a:rPr lang="en-US" sz="1200" dirty="0">
                <a:solidFill>
                  <a:srgbClr val="B1BAC4"/>
                </a:solidFill>
                <a:latin typeface="Aptos" pitchFamily="34" charset="0"/>
                <a:ea typeface="Aptos" pitchFamily="34" charset="-122"/>
                <a:cs typeface="Aptos" pitchFamily="34" charset="-120"/>
              </a:rPr>
              <a:t>Tie it to evidence.</a:t>
            </a:r>
            <a:endParaRPr lang="en-US" sz="1200" dirty="0"/>
          </a:p>
        </p:txBody>
      </p:sp>
      <p:sp>
        <p:nvSpPr>
          <p:cNvPr id="24" name="Shape 21"/>
          <p:cNvSpPr/>
          <p:nvPr/>
        </p:nvSpPr>
        <p:spPr>
          <a:xfrm>
            <a:off x="6748272" y="1508760"/>
            <a:ext cx="4800600" cy="4480560"/>
          </a:xfrm>
          <a:prstGeom prst="roundRect">
            <a:avLst>
              <a:gd name="adj" fmla="val 1633"/>
            </a:avLst>
          </a:prstGeom>
          <a:solidFill>
            <a:srgbClr val="FFFFFF"/>
          </a:solidFill>
          <a:ln w="11430">
            <a:solidFill>
              <a:srgbClr val="D0D7DE"/>
            </a:solidFill>
            <a:prstDash val="solid"/>
          </a:ln>
          <a:effectLst>
            <a:outerShdw blurRad="38100" dist="12700" dir="2700000" algn="bl" rotWithShape="0">
              <a:srgbClr val="000000">
                <a:alpha val="14000"/>
              </a:srgbClr>
            </a:outerShdw>
          </a:effectLst>
        </p:spPr>
        <p:txBody>
          <a:bodyPr/>
          <a:lstStyle/>
          <a:p>
            <a:endParaRPr lang="en-US"/>
          </a:p>
        </p:txBody>
      </p:sp>
      <p:sp>
        <p:nvSpPr>
          <p:cNvPr id="25" name="Shape 22"/>
          <p:cNvSpPr/>
          <p:nvPr/>
        </p:nvSpPr>
        <p:spPr>
          <a:xfrm>
            <a:off x="6748272" y="1508760"/>
            <a:ext cx="4800600" cy="457200"/>
          </a:xfrm>
          <a:prstGeom prst="rect">
            <a:avLst/>
          </a:prstGeom>
          <a:solidFill>
            <a:srgbClr val="F6F8FA"/>
          </a:solidFill>
          <a:ln w="8890">
            <a:solidFill>
              <a:srgbClr val="D0D7DE"/>
            </a:solidFill>
            <a:prstDash val="solid"/>
          </a:ln>
        </p:spPr>
        <p:txBody>
          <a:bodyPr/>
          <a:lstStyle/>
          <a:p>
            <a:endParaRPr lang="en-US"/>
          </a:p>
        </p:txBody>
      </p:sp>
      <p:sp>
        <p:nvSpPr>
          <p:cNvPr id="26" name="Shape 23"/>
          <p:cNvSpPr/>
          <p:nvPr/>
        </p:nvSpPr>
        <p:spPr>
          <a:xfrm>
            <a:off x="6912864" y="1673352"/>
            <a:ext cx="100584" cy="100584"/>
          </a:xfrm>
          <a:prstGeom prst="ellipse">
            <a:avLst/>
          </a:prstGeom>
          <a:solidFill>
            <a:srgbClr val="CF222E"/>
          </a:solidFill>
          <a:ln w="12700">
            <a:solidFill>
              <a:srgbClr val="CF222E">
                <a:alpha val="0"/>
              </a:srgbClr>
            </a:solidFill>
            <a:prstDash val="solid"/>
          </a:ln>
        </p:spPr>
        <p:txBody>
          <a:bodyPr/>
          <a:lstStyle/>
          <a:p>
            <a:endParaRPr lang="en-US"/>
          </a:p>
        </p:txBody>
      </p:sp>
      <p:sp>
        <p:nvSpPr>
          <p:cNvPr id="27" name="Shape 24"/>
          <p:cNvSpPr/>
          <p:nvPr/>
        </p:nvSpPr>
        <p:spPr>
          <a:xfrm>
            <a:off x="7114032" y="1673352"/>
            <a:ext cx="100584" cy="100584"/>
          </a:xfrm>
          <a:prstGeom prst="ellipse">
            <a:avLst/>
          </a:prstGeom>
          <a:solidFill>
            <a:srgbClr val="BF8700"/>
          </a:solidFill>
          <a:ln w="12700">
            <a:solidFill>
              <a:srgbClr val="BF8700">
                <a:alpha val="0"/>
              </a:srgbClr>
            </a:solidFill>
            <a:prstDash val="solid"/>
          </a:ln>
        </p:spPr>
        <p:txBody>
          <a:bodyPr/>
          <a:lstStyle/>
          <a:p>
            <a:endParaRPr lang="en-US"/>
          </a:p>
        </p:txBody>
      </p:sp>
      <p:sp>
        <p:nvSpPr>
          <p:cNvPr id="28" name="Shape 25"/>
          <p:cNvSpPr/>
          <p:nvPr/>
        </p:nvSpPr>
        <p:spPr>
          <a:xfrm>
            <a:off x="7315200" y="1673352"/>
            <a:ext cx="100584" cy="100584"/>
          </a:xfrm>
          <a:prstGeom prst="ellipse">
            <a:avLst/>
          </a:prstGeom>
          <a:solidFill>
            <a:srgbClr val="1A7F37"/>
          </a:solidFill>
          <a:ln w="12700">
            <a:solidFill>
              <a:srgbClr val="1A7F37">
                <a:alpha val="0"/>
              </a:srgbClr>
            </a:solidFill>
            <a:prstDash val="solid"/>
          </a:ln>
        </p:spPr>
        <p:txBody>
          <a:bodyPr/>
          <a:lstStyle/>
          <a:p>
            <a:endParaRPr lang="en-US"/>
          </a:p>
        </p:txBody>
      </p:sp>
      <p:sp>
        <p:nvSpPr>
          <p:cNvPr id="29" name="Shape 26"/>
          <p:cNvSpPr/>
          <p:nvPr/>
        </p:nvSpPr>
        <p:spPr>
          <a:xfrm>
            <a:off x="7589520" y="1609344"/>
            <a:ext cx="3739896" cy="256032"/>
          </a:xfrm>
          <a:prstGeom prst="roundRect">
            <a:avLst>
              <a:gd name="adj" fmla="val 14286"/>
            </a:avLst>
          </a:prstGeom>
          <a:solidFill>
            <a:srgbClr val="FFFFFF"/>
          </a:solidFill>
          <a:ln w="6350">
            <a:solidFill>
              <a:srgbClr val="D0D7DE"/>
            </a:solidFill>
            <a:prstDash val="solid"/>
          </a:ln>
        </p:spPr>
        <p:txBody>
          <a:bodyPr/>
          <a:lstStyle/>
          <a:p>
            <a:endParaRPr lang="en-US"/>
          </a:p>
        </p:txBody>
      </p:sp>
      <p:sp>
        <p:nvSpPr>
          <p:cNvPr id="30" name="Text 27"/>
          <p:cNvSpPr/>
          <p:nvPr/>
        </p:nvSpPr>
        <p:spPr>
          <a:xfrm>
            <a:off x="7735824" y="1682496"/>
            <a:ext cx="3447288" cy="91440"/>
          </a:xfrm>
          <a:prstGeom prst="rect">
            <a:avLst/>
          </a:prstGeom>
          <a:noFill/>
          <a:ln/>
        </p:spPr>
        <p:txBody>
          <a:bodyPr wrap="square" lIns="0" tIns="0" rIns="0" bIns="0" rtlCol="0" anchor="ctr"/>
          <a:lstStyle/>
          <a:p>
            <a:pPr marL="0" indent="0">
              <a:buNone/>
            </a:pPr>
            <a:r>
              <a:rPr lang="en-US" sz="720" dirty="0">
                <a:solidFill>
                  <a:srgbClr val="57606A"/>
                </a:solidFill>
                <a:latin typeface="Courier New" pitchFamily="34" charset="0"/>
                <a:ea typeface="Courier New" pitchFamily="34" charset="-122"/>
                <a:cs typeface="Courier New" pitchFamily="34" charset="-120"/>
              </a:rPr>
              <a:t>Illustrative PR in your approved working repository</a:t>
            </a:r>
            <a:endParaRPr lang="en-US" sz="720" dirty="0"/>
          </a:p>
        </p:txBody>
      </p:sp>
      <p:sp>
        <p:nvSpPr>
          <p:cNvPr id="31" name="Text 28"/>
          <p:cNvSpPr/>
          <p:nvPr/>
        </p:nvSpPr>
        <p:spPr>
          <a:xfrm>
            <a:off x="7095744" y="2350008"/>
            <a:ext cx="2926080" cy="274320"/>
          </a:xfrm>
          <a:prstGeom prst="rect">
            <a:avLst/>
          </a:prstGeom>
          <a:noFill/>
          <a:ln/>
        </p:spPr>
        <p:txBody>
          <a:bodyPr wrap="square" lIns="0" tIns="0" rIns="0" bIns="0" rtlCol="0" anchor="ctr"/>
          <a:lstStyle/>
          <a:p>
            <a:pPr marL="0" indent="0">
              <a:buNone/>
            </a:pPr>
            <a:r>
              <a:rPr lang="en-US" sz="1700" b="1" dirty="0">
                <a:solidFill>
                  <a:srgbClr val="0D1117"/>
                </a:solidFill>
                <a:latin typeface="Aptos Display" pitchFamily="34" charset="0"/>
                <a:ea typeface="Aptos Display" pitchFamily="34" charset="-122"/>
                <a:cs typeface="Aptos Display" pitchFamily="34" charset="-120"/>
              </a:rPr>
              <a:t>Add a review comment</a:t>
            </a:r>
            <a:endParaRPr lang="en-US" sz="1700" dirty="0"/>
          </a:p>
        </p:txBody>
      </p:sp>
      <p:sp>
        <p:nvSpPr>
          <p:cNvPr id="32" name="Shape 29"/>
          <p:cNvSpPr/>
          <p:nvPr/>
        </p:nvSpPr>
        <p:spPr>
          <a:xfrm>
            <a:off x="7095744" y="2880360"/>
            <a:ext cx="4105656" cy="1417320"/>
          </a:xfrm>
          <a:prstGeom prst="roundRect">
            <a:avLst>
              <a:gd name="adj" fmla="val 3226"/>
            </a:avLst>
          </a:prstGeom>
          <a:solidFill>
            <a:srgbClr val="F6F8FA"/>
          </a:solidFill>
          <a:ln w="10160">
            <a:solidFill>
              <a:srgbClr val="D0D7DE"/>
            </a:solidFill>
            <a:prstDash val="solid"/>
          </a:ln>
        </p:spPr>
        <p:txBody>
          <a:bodyPr/>
          <a:lstStyle/>
          <a:p>
            <a:endParaRPr lang="en-US"/>
          </a:p>
        </p:txBody>
      </p:sp>
      <p:sp>
        <p:nvSpPr>
          <p:cNvPr id="33" name="Text 30"/>
          <p:cNvSpPr/>
          <p:nvPr/>
        </p:nvSpPr>
        <p:spPr>
          <a:xfrm>
            <a:off x="7342632" y="3273552"/>
            <a:ext cx="3611880" cy="530352"/>
          </a:xfrm>
          <a:prstGeom prst="rect">
            <a:avLst/>
          </a:prstGeom>
          <a:noFill/>
          <a:ln/>
        </p:spPr>
        <p:txBody>
          <a:bodyPr wrap="square" lIns="0" tIns="0" rIns="0" bIns="0" rtlCol="0" anchor="ctr"/>
          <a:lstStyle/>
          <a:p>
            <a:pPr marL="0" indent="0">
              <a:buNone/>
            </a:pPr>
            <a:r>
              <a:rPr lang="en-US" sz="1300" dirty="0">
                <a:solidFill>
                  <a:srgbClr val="0D1117"/>
                </a:solidFill>
                <a:latin typeface="Aptos" pitchFamily="34" charset="0"/>
                <a:ea typeface="Aptos" pitchFamily="34" charset="-122"/>
                <a:cs typeface="Aptos" pitchFamily="34" charset="-120"/>
              </a:rPr>
              <a:t>Which approved requirement should the reviewer use to confirm this count?</a:t>
            </a:r>
            <a:endParaRPr lang="en-US" sz="1300" dirty="0"/>
          </a:p>
        </p:txBody>
      </p:sp>
      <p:sp>
        <p:nvSpPr>
          <p:cNvPr id="34" name="Shape 31"/>
          <p:cNvSpPr/>
          <p:nvPr/>
        </p:nvSpPr>
        <p:spPr>
          <a:xfrm>
            <a:off x="7095744" y="4754880"/>
            <a:ext cx="1600200" cy="310896"/>
          </a:xfrm>
          <a:prstGeom prst="roundRect">
            <a:avLst>
              <a:gd name="adj" fmla="val 23529"/>
            </a:avLst>
          </a:prstGeom>
          <a:solidFill>
            <a:srgbClr val="DAFBE1"/>
          </a:solidFill>
          <a:ln w="8890">
            <a:solidFill>
              <a:srgbClr val="1A7F37"/>
            </a:solidFill>
            <a:prstDash val="solid"/>
          </a:ln>
        </p:spPr>
        <p:txBody>
          <a:bodyPr/>
          <a:lstStyle/>
          <a:p>
            <a:endParaRPr lang="en-US"/>
          </a:p>
        </p:txBody>
      </p:sp>
      <p:sp>
        <p:nvSpPr>
          <p:cNvPr id="35" name="Text 32"/>
          <p:cNvSpPr/>
          <p:nvPr/>
        </p:nvSpPr>
        <p:spPr>
          <a:xfrm>
            <a:off x="7187184" y="4850892"/>
            <a:ext cx="1417320" cy="109728"/>
          </a:xfrm>
          <a:prstGeom prst="rect">
            <a:avLst/>
          </a:prstGeom>
          <a:noFill/>
          <a:ln/>
        </p:spPr>
        <p:txBody>
          <a:bodyPr wrap="square" lIns="0" tIns="0" rIns="0" bIns="0" rtlCol="0" anchor="ctr"/>
          <a:lstStyle/>
          <a:p>
            <a:pPr marL="0" indent="0" algn="ctr">
              <a:buNone/>
            </a:pPr>
            <a:r>
              <a:rPr lang="en-US" sz="850" b="1" kern="0" spc="70" dirty="0">
                <a:solidFill>
                  <a:srgbClr val="1A7F37"/>
                </a:solidFill>
                <a:latin typeface="Aptos" pitchFamily="34" charset="0"/>
                <a:ea typeface="Aptos" pitchFamily="34" charset="-122"/>
                <a:cs typeface="Aptos" pitchFamily="34" charset="-120"/>
              </a:rPr>
              <a:t>EVIDENCE-BASED</a:t>
            </a:r>
            <a:endParaRPr lang="en-US" sz="850" dirty="0"/>
          </a:p>
        </p:txBody>
      </p:sp>
      <p:sp>
        <p:nvSpPr>
          <p:cNvPr id="36" name="Shape 33"/>
          <p:cNvSpPr/>
          <p:nvPr/>
        </p:nvSpPr>
        <p:spPr>
          <a:xfrm>
            <a:off x="8851392" y="4754880"/>
            <a:ext cx="1051560" cy="310896"/>
          </a:xfrm>
          <a:prstGeom prst="roundRect">
            <a:avLst>
              <a:gd name="adj" fmla="val 23529"/>
            </a:avLst>
          </a:prstGeom>
          <a:solidFill>
            <a:srgbClr val="DDF4FF"/>
          </a:solidFill>
          <a:ln w="8890">
            <a:solidFill>
              <a:srgbClr val="0969DA"/>
            </a:solidFill>
            <a:prstDash val="solid"/>
          </a:ln>
        </p:spPr>
        <p:txBody>
          <a:bodyPr/>
          <a:lstStyle/>
          <a:p>
            <a:endParaRPr lang="en-US"/>
          </a:p>
        </p:txBody>
      </p:sp>
      <p:sp>
        <p:nvSpPr>
          <p:cNvPr id="37" name="Text 34"/>
          <p:cNvSpPr/>
          <p:nvPr/>
        </p:nvSpPr>
        <p:spPr>
          <a:xfrm>
            <a:off x="8942832" y="4850892"/>
            <a:ext cx="868680" cy="109728"/>
          </a:xfrm>
          <a:prstGeom prst="rect">
            <a:avLst/>
          </a:prstGeom>
          <a:noFill/>
          <a:ln/>
        </p:spPr>
        <p:txBody>
          <a:bodyPr wrap="square" lIns="0" tIns="0" rIns="0" bIns="0" rtlCol="0" anchor="ctr"/>
          <a:lstStyle/>
          <a:p>
            <a:pPr marL="0" indent="0" algn="ctr">
              <a:buNone/>
            </a:pPr>
            <a:r>
              <a:rPr lang="en-US" sz="850" b="1" kern="0" spc="70" dirty="0">
                <a:solidFill>
                  <a:srgbClr val="0969DA"/>
                </a:solidFill>
                <a:latin typeface="Aptos" pitchFamily="34" charset="0"/>
                <a:ea typeface="Aptos" pitchFamily="34" charset="-122"/>
                <a:cs typeface="Aptos" pitchFamily="34" charset="-120"/>
              </a:rPr>
              <a:t>SPECIFIC</a:t>
            </a:r>
            <a:endParaRPr lang="en-US" sz="850" dirty="0"/>
          </a:p>
        </p:txBody>
      </p:sp>
      <p:sp>
        <p:nvSpPr>
          <p:cNvPr id="38" name="Shape 35"/>
          <p:cNvSpPr/>
          <p:nvPr/>
        </p:nvSpPr>
        <p:spPr>
          <a:xfrm>
            <a:off x="10058400" y="4754880"/>
            <a:ext cx="1170432" cy="310896"/>
          </a:xfrm>
          <a:prstGeom prst="roundRect">
            <a:avLst>
              <a:gd name="adj" fmla="val 23529"/>
            </a:avLst>
          </a:prstGeom>
          <a:solidFill>
            <a:srgbClr val="F6F0FF"/>
          </a:solidFill>
          <a:ln w="8890">
            <a:solidFill>
              <a:srgbClr val="8250DF"/>
            </a:solidFill>
            <a:prstDash val="solid"/>
          </a:ln>
        </p:spPr>
        <p:txBody>
          <a:bodyPr/>
          <a:lstStyle/>
          <a:p>
            <a:endParaRPr lang="en-US"/>
          </a:p>
        </p:txBody>
      </p:sp>
      <p:sp>
        <p:nvSpPr>
          <p:cNvPr id="39" name="Text 36"/>
          <p:cNvSpPr/>
          <p:nvPr/>
        </p:nvSpPr>
        <p:spPr>
          <a:xfrm>
            <a:off x="10149840" y="4850892"/>
            <a:ext cx="987552" cy="109728"/>
          </a:xfrm>
          <a:prstGeom prst="rect">
            <a:avLst/>
          </a:prstGeom>
          <a:noFill/>
          <a:ln/>
        </p:spPr>
        <p:txBody>
          <a:bodyPr wrap="square" lIns="0" tIns="0" rIns="0" bIns="0" rtlCol="0" anchor="ctr"/>
          <a:lstStyle/>
          <a:p>
            <a:pPr marL="0" indent="0" algn="ctr">
              <a:buNone/>
            </a:pPr>
            <a:r>
              <a:rPr lang="en-US" sz="850" b="1" kern="0" spc="70" dirty="0">
                <a:solidFill>
                  <a:srgbClr val="8250DF"/>
                </a:solidFill>
                <a:latin typeface="Aptos" pitchFamily="34" charset="0"/>
                <a:ea typeface="Aptos" pitchFamily="34" charset="-122"/>
                <a:cs typeface="Aptos" pitchFamily="34" charset="-120"/>
              </a:rPr>
              <a:t>ACTIONABLE</a:t>
            </a:r>
            <a:endParaRPr lang="en-US" sz="850" dirty="0"/>
          </a:p>
        </p:txBody>
      </p:sp>
      <p:sp>
        <p:nvSpPr>
          <p:cNvPr id="40" name="Text 37"/>
          <p:cNvSpPr/>
          <p:nvPr/>
        </p:nvSpPr>
        <p:spPr>
          <a:xfrm>
            <a:off x="502920" y="6519672"/>
            <a:ext cx="3840480" cy="146304"/>
          </a:xfrm>
          <a:prstGeom prst="rect">
            <a:avLst/>
          </a:prstGeom>
          <a:noFill/>
          <a:ln/>
        </p:spPr>
        <p:txBody>
          <a:bodyPr wrap="square" lIns="0" tIns="0" rIns="0" bIns="0" rtlCol="0" anchor="ctr"/>
          <a:lstStyle/>
          <a:p>
            <a:pPr marL="0" indent="0">
              <a:buNone/>
            </a:pPr>
            <a:r>
              <a:rPr lang="en-US" sz="800" dirty="0">
                <a:solidFill>
                  <a:srgbClr val="B1BAC4"/>
                </a:solidFill>
                <a:latin typeface="Aptos" pitchFamily="34" charset="0"/>
                <a:ea typeface="Aptos" pitchFamily="34" charset="-122"/>
                <a:cs typeface="Aptos" pitchFamily="34" charset="-120"/>
              </a:rPr>
              <a:t>GitHub Foundations | Gilead DSS</a:t>
            </a:r>
            <a:endParaRPr lang="en-US" sz="800" dirty="0"/>
          </a:p>
        </p:txBody>
      </p:sp>
      <p:sp>
        <p:nvSpPr>
          <p:cNvPr id="41" name="Text 38">
            <a:hlinkClick r:id="rId4"/>
          </p:cNvPr>
          <p:cNvSpPr/>
          <p:nvPr/>
        </p:nvSpPr>
        <p:spPr>
          <a:xfrm>
            <a:off x="5623560" y="6519672"/>
            <a:ext cx="5897880" cy="146304"/>
          </a:xfrm>
          <a:prstGeom prst="rect">
            <a:avLst/>
          </a:prstGeom>
          <a:noFill/>
          <a:ln/>
        </p:spPr>
        <p:txBody>
          <a:bodyPr wrap="square" lIns="0" tIns="0" rIns="0" bIns="0" rtlCol="0" anchor="ctr"/>
          <a:lstStyle/>
          <a:p>
            <a:pPr marL="0" indent="0" algn="r">
              <a:buNone/>
            </a:pPr>
            <a:r>
              <a:rPr lang="en-US" sz="800" u="sng" dirty="0">
                <a:solidFill>
                  <a:srgbClr val="B1BAC4"/>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github.com/johnsont1693/scientific-workflow-workshop</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6F8FA"/>
        </a:solidFill>
        <a:effectLst/>
      </p:bgPr>
    </p:bg>
    <p:spTree>
      <p:nvGrpSpPr>
        <p:cNvPr id="1" name=""/>
        <p:cNvGrpSpPr/>
        <p:nvPr/>
      </p:nvGrpSpPr>
      <p:grpSpPr>
        <a:xfrm>
          <a:off x="0" y="0"/>
          <a:ext cx="0" cy="0"/>
          <a:chOff x="0" y="0"/>
          <a:chExt cx="0" cy="0"/>
        </a:xfrm>
      </p:grpSpPr>
      <p:sp>
        <p:nvSpPr>
          <p:cNvPr id="2" name="Shape 0"/>
          <p:cNvSpPr/>
          <p:nvPr/>
        </p:nvSpPr>
        <p:spPr>
          <a:xfrm>
            <a:off x="475488" y="347472"/>
            <a:ext cx="347472" cy="347472"/>
          </a:xfrm>
          <a:prstGeom prst="ellipse">
            <a:avLst/>
          </a:prstGeom>
          <a:solidFill>
            <a:srgbClr val="0D1117"/>
          </a:solidFill>
          <a:ln w="12700">
            <a:solidFill>
              <a:srgbClr val="0D1117">
                <a:alpha val="0"/>
              </a:srgbClr>
            </a:solidFill>
            <a:prstDash val="solid"/>
          </a:ln>
        </p:spPr>
        <p:txBody>
          <a:bodyPr/>
          <a:lstStyle/>
          <a:p>
            <a:endParaRPr lang="en-US"/>
          </a:p>
        </p:txBody>
      </p:sp>
      <p:pic>
        <p:nvPicPr>
          <p:cNvPr id="3" name="Image 0" descr="/Users/alysiabrown/sandbox/copilot-worktrees/acb-workbench/abrown152-turbo-winner/generated-assets/gilead-sciences-inc/dss-2026/assets/github-mark.png"/>
          <p:cNvPicPr>
            <a:picLocks noChangeAspect="1"/>
          </p:cNvPicPr>
          <p:nvPr/>
        </p:nvPicPr>
        <p:blipFill>
          <a:blip r:embed="rId3"/>
          <a:stretch>
            <a:fillRect/>
          </a:stretch>
        </p:blipFill>
        <p:spPr>
          <a:xfrm>
            <a:off x="525780" y="397764"/>
            <a:ext cx="246888" cy="246888"/>
          </a:xfrm>
          <a:prstGeom prst="rect">
            <a:avLst/>
          </a:prstGeom>
        </p:spPr>
      </p:pic>
      <p:sp>
        <p:nvSpPr>
          <p:cNvPr id="4" name="Text 1"/>
          <p:cNvSpPr/>
          <p:nvPr/>
        </p:nvSpPr>
        <p:spPr>
          <a:xfrm>
            <a:off x="896112" y="356616"/>
            <a:ext cx="960120" cy="256032"/>
          </a:xfrm>
          <a:prstGeom prst="rect">
            <a:avLst/>
          </a:prstGeom>
          <a:noFill/>
          <a:ln/>
        </p:spPr>
        <p:txBody>
          <a:bodyPr wrap="square" lIns="0" tIns="0" rIns="0" bIns="0" rtlCol="0" anchor="ctr"/>
          <a:lstStyle/>
          <a:p>
            <a:pPr marL="0" indent="0">
              <a:buNone/>
            </a:pPr>
            <a:r>
              <a:rPr lang="en-US" sz="1700" b="1" dirty="0">
                <a:solidFill>
                  <a:srgbClr val="0D1117"/>
                </a:solidFill>
                <a:latin typeface="Aptos Display" pitchFamily="34" charset="0"/>
                <a:ea typeface="Aptos Display" pitchFamily="34" charset="-122"/>
                <a:cs typeface="Aptos Display" pitchFamily="34" charset="-120"/>
              </a:rPr>
              <a:t>GitHub</a:t>
            </a:r>
            <a:endParaRPr lang="en-US" sz="1700" dirty="0"/>
          </a:p>
        </p:txBody>
      </p:sp>
      <p:sp>
        <p:nvSpPr>
          <p:cNvPr id="5" name="Text 2"/>
          <p:cNvSpPr/>
          <p:nvPr/>
        </p:nvSpPr>
        <p:spPr>
          <a:xfrm>
            <a:off x="512064" y="932688"/>
            <a:ext cx="4114800" cy="182880"/>
          </a:xfrm>
          <a:prstGeom prst="rect">
            <a:avLst/>
          </a:prstGeom>
          <a:noFill/>
          <a:ln/>
        </p:spPr>
        <p:txBody>
          <a:bodyPr wrap="square" lIns="0" tIns="0" rIns="0" bIns="0" rtlCol="0" anchor="ctr"/>
          <a:lstStyle/>
          <a:p>
            <a:pPr marL="0" indent="0">
              <a:buNone/>
            </a:pPr>
            <a:r>
              <a:rPr lang="en-US" sz="950" b="1" kern="0" spc="140" dirty="0">
                <a:solidFill>
                  <a:srgbClr val="0969DA"/>
                </a:solidFill>
                <a:latin typeface="Aptos" pitchFamily="34" charset="0"/>
                <a:ea typeface="Aptos" pitchFamily="34" charset="-122"/>
                <a:cs typeface="Aptos" pitchFamily="34" charset="-120"/>
              </a:rPr>
              <a:t>FOUR QUESTIONS BEFORE ACCEPTANCE</a:t>
            </a:r>
            <a:endParaRPr lang="en-US" sz="950" dirty="0"/>
          </a:p>
        </p:txBody>
      </p:sp>
      <p:sp>
        <p:nvSpPr>
          <p:cNvPr id="6" name="Text 3"/>
          <p:cNvSpPr/>
          <p:nvPr/>
        </p:nvSpPr>
        <p:spPr>
          <a:xfrm>
            <a:off x="512064" y="1179576"/>
            <a:ext cx="10972800" cy="530352"/>
          </a:xfrm>
          <a:prstGeom prst="rect">
            <a:avLst/>
          </a:prstGeom>
          <a:noFill/>
          <a:ln/>
        </p:spPr>
        <p:txBody>
          <a:bodyPr wrap="square" lIns="0" tIns="0" rIns="0" bIns="0" rtlCol="0" anchor="ctr"/>
          <a:lstStyle/>
          <a:p>
            <a:pPr marL="0" indent="0">
              <a:buNone/>
            </a:pPr>
            <a:r>
              <a:rPr lang="en-US" sz="3100" b="1" dirty="0">
                <a:solidFill>
                  <a:srgbClr val="0D1117"/>
                </a:solidFill>
                <a:latin typeface="Aptos Display" pitchFamily="34" charset="0"/>
                <a:ea typeface="Aptos Display" pitchFamily="34" charset="-122"/>
                <a:cs typeface="Aptos Display" pitchFamily="34" charset="-120"/>
              </a:rPr>
              <a:t>Review like a scientist</a:t>
            </a:r>
            <a:endParaRPr lang="en-US" sz="3100" dirty="0"/>
          </a:p>
        </p:txBody>
      </p:sp>
      <p:sp>
        <p:nvSpPr>
          <p:cNvPr id="7" name="Shape 4"/>
          <p:cNvSpPr/>
          <p:nvPr/>
        </p:nvSpPr>
        <p:spPr>
          <a:xfrm>
            <a:off x="731520" y="1965960"/>
            <a:ext cx="475488" cy="475488"/>
          </a:xfrm>
          <a:prstGeom prst="ellipse">
            <a:avLst/>
          </a:prstGeom>
          <a:solidFill>
            <a:srgbClr val="0969DA"/>
          </a:solidFill>
          <a:ln w="12700">
            <a:solidFill>
              <a:srgbClr val="0969DA">
                <a:alpha val="0"/>
              </a:srgbClr>
            </a:solidFill>
            <a:prstDash val="solid"/>
          </a:ln>
        </p:spPr>
        <p:txBody>
          <a:bodyPr/>
          <a:lstStyle/>
          <a:p>
            <a:endParaRPr lang="en-US"/>
          </a:p>
        </p:txBody>
      </p:sp>
      <p:sp>
        <p:nvSpPr>
          <p:cNvPr id="8" name="Text 5"/>
          <p:cNvSpPr/>
          <p:nvPr/>
        </p:nvSpPr>
        <p:spPr>
          <a:xfrm>
            <a:off x="731520" y="2098548"/>
            <a:ext cx="475488" cy="1371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Display" pitchFamily="34" charset="0"/>
                <a:ea typeface="Aptos Display" pitchFamily="34" charset="-122"/>
                <a:cs typeface="Aptos Display" pitchFamily="34" charset="-120"/>
              </a:rPr>
              <a:t>1</a:t>
            </a:r>
            <a:endParaRPr lang="en-US" sz="1200" dirty="0"/>
          </a:p>
        </p:txBody>
      </p:sp>
      <p:sp>
        <p:nvSpPr>
          <p:cNvPr id="9" name="Text 6"/>
          <p:cNvSpPr/>
          <p:nvPr/>
        </p:nvSpPr>
        <p:spPr>
          <a:xfrm>
            <a:off x="1417320" y="1984248"/>
            <a:ext cx="1371600" cy="274320"/>
          </a:xfrm>
          <a:prstGeom prst="rect">
            <a:avLst/>
          </a:prstGeom>
          <a:noFill/>
          <a:ln/>
        </p:spPr>
        <p:txBody>
          <a:bodyPr wrap="square" lIns="0" tIns="0" rIns="0" bIns="0" rtlCol="0" anchor="ctr"/>
          <a:lstStyle/>
          <a:p>
            <a:pPr marL="0" indent="0">
              <a:buNone/>
            </a:pPr>
            <a:r>
              <a:rPr lang="en-US" sz="1900" b="1" dirty="0">
                <a:solidFill>
                  <a:srgbClr val="0D1117"/>
                </a:solidFill>
                <a:latin typeface="Aptos Display" pitchFamily="34" charset="0"/>
                <a:ea typeface="Aptos Display" pitchFamily="34" charset="-122"/>
                <a:cs typeface="Aptos Display" pitchFamily="34" charset="-120"/>
              </a:rPr>
              <a:t>Intent</a:t>
            </a:r>
            <a:endParaRPr lang="en-US" sz="1900" dirty="0"/>
          </a:p>
        </p:txBody>
      </p:sp>
      <p:sp>
        <p:nvSpPr>
          <p:cNvPr id="10" name="Text 7"/>
          <p:cNvSpPr/>
          <p:nvPr/>
        </p:nvSpPr>
        <p:spPr>
          <a:xfrm>
            <a:off x="2816352" y="1993392"/>
            <a:ext cx="6217920" cy="274320"/>
          </a:xfrm>
          <a:prstGeom prst="rect">
            <a:avLst/>
          </a:prstGeom>
          <a:noFill/>
          <a:ln/>
        </p:spPr>
        <p:txBody>
          <a:bodyPr wrap="square" lIns="0" tIns="0" rIns="0" bIns="0" rtlCol="0" anchor="ctr"/>
          <a:lstStyle/>
          <a:p>
            <a:pPr marL="0" indent="0">
              <a:buNone/>
            </a:pPr>
            <a:r>
              <a:rPr lang="en-US" sz="1600" dirty="0">
                <a:solidFill>
                  <a:srgbClr val="57606A"/>
                </a:solidFill>
                <a:latin typeface="Aptos" pitchFamily="34" charset="0"/>
                <a:ea typeface="Aptos" pitchFamily="34" charset="-122"/>
                <a:cs typeface="Aptos" pitchFamily="34" charset="-120"/>
              </a:rPr>
              <a:t>Does the proposal match the written requirement?</a:t>
            </a:r>
            <a:endParaRPr lang="en-US" sz="1600" dirty="0"/>
          </a:p>
        </p:txBody>
      </p:sp>
      <p:sp>
        <p:nvSpPr>
          <p:cNvPr id="11" name="Shape 8"/>
          <p:cNvSpPr/>
          <p:nvPr/>
        </p:nvSpPr>
        <p:spPr>
          <a:xfrm>
            <a:off x="9528048" y="2039112"/>
            <a:ext cx="1600200" cy="310896"/>
          </a:xfrm>
          <a:prstGeom prst="roundRect">
            <a:avLst>
              <a:gd name="adj" fmla="val 23529"/>
            </a:avLst>
          </a:prstGeom>
          <a:solidFill>
            <a:srgbClr val="DDF4FF"/>
          </a:solidFill>
          <a:ln w="8890">
            <a:solidFill>
              <a:srgbClr val="0969DA"/>
            </a:solidFill>
            <a:prstDash val="solid"/>
          </a:ln>
        </p:spPr>
        <p:txBody>
          <a:bodyPr/>
          <a:lstStyle/>
          <a:p>
            <a:endParaRPr lang="en-US"/>
          </a:p>
        </p:txBody>
      </p:sp>
      <p:sp>
        <p:nvSpPr>
          <p:cNvPr id="12" name="Text 9"/>
          <p:cNvSpPr/>
          <p:nvPr/>
        </p:nvSpPr>
        <p:spPr>
          <a:xfrm>
            <a:off x="9619488" y="2135124"/>
            <a:ext cx="1417320" cy="109728"/>
          </a:xfrm>
          <a:prstGeom prst="rect">
            <a:avLst/>
          </a:prstGeom>
          <a:noFill/>
          <a:ln/>
        </p:spPr>
        <p:txBody>
          <a:bodyPr wrap="square" lIns="0" tIns="0" rIns="0" bIns="0" rtlCol="0" anchor="ctr"/>
          <a:lstStyle/>
          <a:p>
            <a:pPr marL="0" indent="0" algn="ctr">
              <a:buNone/>
            </a:pPr>
            <a:r>
              <a:rPr lang="en-US" sz="850" b="1" kern="0" spc="70" dirty="0">
                <a:solidFill>
                  <a:srgbClr val="0969DA"/>
                </a:solidFill>
                <a:latin typeface="Aptos" pitchFamily="34" charset="0"/>
                <a:ea typeface="Aptos" pitchFamily="34" charset="-122"/>
                <a:cs typeface="Aptos" pitchFamily="34" charset="-120"/>
              </a:rPr>
              <a:t>REQUIREMENT</a:t>
            </a:r>
            <a:endParaRPr lang="en-US" sz="850" dirty="0"/>
          </a:p>
        </p:txBody>
      </p:sp>
      <p:sp>
        <p:nvSpPr>
          <p:cNvPr id="13" name="Shape 10"/>
          <p:cNvSpPr/>
          <p:nvPr/>
        </p:nvSpPr>
        <p:spPr>
          <a:xfrm>
            <a:off x="731520" y="2953512"/>
            <a:ext cx="475488" cy="475488"/>
          </a:xfrm>
          <a:prstGeom prst="ellipse">
            <a:avLst/>
          </a:prstGeom>
          <a:solidFill>
            <a:srgbClr val="8250DF"/>
          </a:solidFill>
          <a:ln w="12700">
            <a:solidFill>
              <a:srgbClr val="8250DF">
                <a:alpha val="0"/>
              </a:srgbClr>
            </a:solidFill>
            <a:prstDash val="solid"/>
          </a:ln>
        </p:spPr>
        <p:txBody>
          <a:bodyPr/>
          <a:lstStyle/>
          <a:p>
            <a:endParaRPr lang="en-US"/>
          </a:p>
        </p:txBody>
      </p:sp>
      <p:sp>
        <p:nvSpPr>
          <p:cNvPr id="14" name="Text 11"/>
          <p:cNvSpPr/>
          <p:nvPr/>
        </p:nvSpPr>
        <p:spPr>
          <a:xfrm>
            <a:off x="731520" y="3086100"/>
            <a:ext cx="475488" cy="1371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Display" pitchFamily="34" charset="0"/>
                <a:ea typeface="Aptos Display" pitchFamily="34" charset="-122"/>
                <a:cs typeface="Aptos Display" pitchFamily="34" charset="-120"/>
              </a:rPr>
              <a:t>2</a:t>
            </a:r>
            <a:endParaRPr lang="en-US" sz="1200" dirty="0"/>
          </a:p>
        </p:txBody>
      </p:sp>
      <p:sp>
        <p:nvSpPr>
          <p:cNvPr id="15" name="Text 12"/>
          <p:cNvSpPr/>
          <p:nvPr/>
        </p:nvSpPr>
        <p:spPr>
          <a:xfrm>
            <a:off x="1417320" y="2971800"/>
            <a:ext cx="1371600" cy="274320"/>
          </a:xfrm>
          <a:prstGeom prst="rect">
            <a:avLst/>
          </a:prstGeom>
          <a:noFill/>
          <a:ln/>
        </p:spPr>
        <p:txBody>
          <a:bodyPr wrap="square" lIns="0" tIns="0" rIns="0" bIns="0" rtlCol="0" anchor="ctr"/>
          <a:lstStyle/>
          <a:p>
            <a:pPr marL="0" indent="0">
              <a:buNone/>
            </a:pPr>
            <a:r>
              <a:rPr lang="en-US" sz="1900" b="1" dirty="0">
                <a:solidFill>
                  <a:srgbClr val="0D1117"/>
                </a:solidFill>
                <a:latin typeface="Aptos Display" pitchFamily="34" charset="0"/>
                <a:ea typeface="Aptos Display" pitchFamily="34" charset="-122"/>
                <a:cs typeface="Aptos Display" pitchFamily="34" charset="-120"/>
              </a:rPr>
              <a:t>Difference</a:t>
            </a:r>
            <a:endParaRPr lang="en-US" sz="1900" dirty="0"/>
          </a:p>
        </p:txBody>
      </p:sp>
      <p:sp>
        <p:nvSpPr>
          <p:cNvPr id="16" name="Text 13"/>
          <p:cNvSpPr/>
          <p:nvPr/>
        </p:nvSpPr>
        <p:spPr>
          <a:xfrm>
            <a:off x="2816352" y="2980944"/>
            <a:ext cx="6217920" cy="274320"/>
          </a:xfrm>
          <a:prstGeom prst="rect">
            <a:avLst/>
          </a:prstGeom>
          <a:noFill/>
          <a:ln/>
        </p:spPr>
        <p:txBody>
          <a:bodyPr wrap="square" lIns="0" tIns="0" rIns="0" bIns="0" rtlCol="0" anchor="ctr"/>
          <a:lstStyle/>
          <a:p>
            <a:pPr marL="0" indent="0">
              <a:buNone/>
            </a:pPr>
            <a:r>
              <a:rPr lang="en-US" sz="1600" dirty="0">
                <a:solidFill>
                  <a:srgbClr val="57606A"/>
                </a:solidFill>
                <a:latin typeface="Aptos" pitchFamily="34" charset="0"/>
                <a:ea typeface="Aptos" pitchFamily="34" charset="-122"/>
                <a:cs typeface="Aptos" pitchFamily="34" charset="-120"/>
              </a:rPr>
              <a:t>Can you explain every changed line?</a:t>
            </a:r>
            <a:endParaRPr lang="en-US" sz="1600" dirty="0"/>
          </a:p>
        </p:txBody>
      </p:sp>
      <p:sp>
        <p:nvSpPr>
          <p:cNvPr id="17" name="Shape 14"/>
          <p:cNvSpPr/>
          <p:nvPr/>
        </p:nvSpPr>
        <p:spPr>
          <a:xfrm>
            <a:off x="9528048" y="3026664"/>
            <a:ext cx="1600200" cy="310896"/>
          </a:xfrm>
          <a:prstGeom prst="roundRect">
            <a:avLst>
              <a:gd name="adj" fmla="val 23529"/>
            </a:avLst>
          </a:prstGeom>
          <a:solidFill>
            <a:srgbClr val="F6F0FF"/>
          </a:solidFill>
          <a:ln w="8890">
            <a:solidFill>
              <a:srgbClr val="8250DF"/>
            </a:solidFill>
            <a:prstDash val="solid"/>
          </a:ln>
        </p:spPr>
        <p:txBody>
          <a:bodyPr/>
          <a:lstStyle/>
          <a:p>
            <a:endParaRPr lang="en-US"/>
          </a:p>
        </p:txBody>
      </p:sp>
      <p:sp>
        <p:nvSpPr>
          <p:cNvPr id="18" name="Text 15"/>
          <p:cNvSpPr/>
          <p:nvPr/>
        </p:nvSpPr>
        <p:spPr>
          <a:xfrm>
            <a:off x="9619488" y="3122676"/>
            <a:ext cx="1417320" cy="109728"/>
          </a:xfrm>
          <a:prstGeom prst="rect">
            <a:avLst/>
          </a:prstGeom>
          <a:noFill/>
          <a:ln/>
        </p:spPr>
        <p:txBody>
          <a:bodyPr wrap="square" lIns="0" tIns="0" rIns="0" bIns="0" rtlCol="0" anchor="ctr"/>
          <a:lstStyle/>
          <a:p>
            <a:pPr marL="0" indent="0" algn="ctr">
              <a:buNone/>
            </a:pPr>
            <a:r>
              <a:rPr lang="en-US" sz="850" b="1" kern="0" spc="70" dirty="0">
                <a:solidFill>
                  <a:srgbClr val="8250DF"/>
                </a:solidFill>
                <a:latin typeface="Aptos" pitchFamily="34" charset="0"/>
                <a:ea typeface="Aptos" pitchFamily="34" charset="-122"/>
                <a:cs typeface="Aptos" pitchFamily="34" charset="-120"/>
              </a:rPr>
              <a:t>DIFF</a:t>
            </a:r>
            <a:endParaRPr lang="en-US" sz="850" dirty="0"/>
          </a:p>
        </p:txBody>
      </p:sp>
      <p:sp>
        <p:nvSpPr>
          <p:cNvPr id="19" name="Shape 16"/>
          <p:cNvSpPr/>
          <p:nvPr/>
        </p:nvSpPr>
        <p:spPr>
          <a:xfrm>
            <a:off x="731520" y="3941064"/>
            <a:ext cx="475488" cy="475488"/>
          </a:xfrm>
          <a:prstGeom prst="ellipse">
            <a:avLst/>
          </a:prstGeom>
          <a:solidFill>
            <a:srgbClr val="1A7F37"/>
          </a:solidFill>
          <a:ln w="12700">
            <a:solidFill>
              <a:srgbClr val="1A7F37">
                <a:alpha val="0"/>
              </a:srgbClr>
            </a:solidFill>
            <a:prstDash val="solid"/>
          </a:ln>
        </p:spPr>
        <p:txBody>
          <a:bodyPr/>
          <a:lstStyle/>
          <a:p>
            <a:endParaRPr lang="en-US"/>
          </a:p>
        </p:txBody>
      </p:sp>
      <p:sp>
        <p:nvSpPr>
          <p:cNvPr id="20" name="Text 17"/>
          <p:cNvSpPr/>
          <p:nvPr/>
        </p:nvSpPr>
        <p:spPr>
          <a:xfrm>
            <a:off x="731520" y="4073652"/>
            <a:ext cx="475488" cy="1371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Display" pitchFamily="34" charset="0"/>
                <a:ea typeface="Aptos Display" pitchFamily="34" charset="-122"/>
                <a:cs typeface="Aptos Display" pitchFamily="34" charset="-120"/>
              </a:rPr>
              <a:t>3</a:t>
            </a:r>
            <a:endParaRPr lang="en-US" sz="1200" dirty="0"/>
          </a:p>
        </p:txBody>
      </p:sp>
      <p:sp>
        <p:nvSpPr>
          <p:cNvPr id="21" name="Text 18"/>
          <p:cNvSpPr/>
          <p:nvPr/>
        </p:nvSpPr>
        <p:spPr>
          <a:xfrm>
            <a:off x="1417320" y="3959352"/>
            <a:ext cx="1371600" cy="274320"/>
          </a:xfrm>
          <a:prstGeom prst="rect">
            <a:avLst/>
          </a:prstGeom>
          <a:noFill/>
          <a:ln/>
        </p:spPr>
        <p:txBody>
          <a:bodyPr wrap="square" lIns="0" tIns="0" rIns="0" bIns="0" rtlCol="0" anchor="ctr"/>
          <a:lstStyle/>
          <a:p>
            <a:pPr marL="0" indent="0">
              <a:buNone/>
            </a:pPr>
            <a:r>
              <a:rPr lang="en-US" sz="1900" b="1" dirty="0">
                <a:solidFill>
                  <a:srgbClr val="0D1117"/>
                </a:solidFill>
                <a:latin typeface="Aptos Display" pitchFamily="34" charset="0"/>
                <a:ea typeface="Aptos Display" pitchFamily="34" charset="-122"/>
                <a:cs typeface="Aptos Display" pitchFamily="34" charset="-120"/>
              </a:rPr>
              <a:t>Evidence</a:t>
            </a:r>
            <a:endParaRPr lang="en-US" sz="1900" dirty="0"/>
          </a:p>
        </p:txBody>
      </p:sp>
      <p:sp>
        <p:nvSpPr>
          <p:cNvPr id="22" name="Text 19"/>
          <p:cNvSpPr/>
          <p:nvPr/>
        </p:nvSpPr>
        <p:spPr>
          <a:xfrm>
            <a:off x="2816352" y="3968496"/>
            <a:ext cx="6217920" cy="274320"/>
          </a:xfrm>
          <a:prstGeom prst="rect">
            <a:avLst/>
          </a:prstGeom>
          <a:noFill/>
          <a:ln/>
        </p:spPr>
        <p:txBody>
          <a:bodyPr wrap="square" lIns="0" tIns="0" rIns="0" bIns="0" rtlCol="0" anchor="ctr"/>
          <a:lstStyle/>
          <a:p>
            <a:pPr marL="0" indent="0">
              <a:buNone/>
            </a:pPr>
            <a:r>
              <a:rPr lang="en-US" sz="1600" dirty="0">
                <a:solidFill>
                  <a:srgbClr val="57606A"/>
                </a:solidFill>
                <a:latin typeface="Aptos" pitchFamily="34" charset="0"/>
                <a:ea typeface="Aptos" pitchFamily="34" charset="-122"/>
                <a:cs typeface="Aptos" pitchFamily="34" charset="-120"/>
              </a:rPr>
              <a:t>Which checks or expected results support it?</a:t>
            </a:r>
            <a:endParaRPr lang="en-US" sz="1600" dirty="0"/>
          </a:p>
        </p:txBody>
      </p:sp>
      <p:sp>
        <p:nvSpPr>
          <p:cNvPr id="23" name="Shape 20"/>
          <p:cNvSpPr/>
          <p:nvPr/>
        </p:nvSpPr>
        <p:spPr>
          <a:xfrm>
            <a:off x="9528048" y="4014216"/>
            <a:ext cx="1600200" cy="310896"/>
          </a:xfrm>
          <a:prstGeom prst="roundRect">
            <a:avLst>
              <a:gd name="adj" fmla="val 23529"/>
            </a:avLst>
          </a:prstGeom>
          <a:solidFill>
            <a:srgbClr val="DAFBE1"/>
          </a:solidFill>
          <a:ln w="8890">
            <a:solidFill>
              <a:srgbClr val="1A7F37"/>
            </a:solidFill>
            <a:prstDash val="solid"/>
          </a:ln>
        </p:spPr>
        <p:txBody>
          <a:bodyPr/>
          <a:lstStyle/>
          <a:p>
            <a:endParaRPr lang="en-US"/>
          </a:p>
        </p:txBody>
      </p:sp>
      <p:sp>
        <p:nvSpPr>
          <p:cNvPr id="24" name="Text 21"/>
          <p:cNvSpPr/>
          <p:nvPr/>
        </p:nvSpPr>
        <p:spPr>
          <a:xfrm>
            <a:off x="9619488" y="4110228"/>
            <a:ext cx="1417320" cy="109728"/>
          </a:xfrm>
          <a:prstGeom prst="rect">
            <a:avLst/>
          </a:prstGeom>
          <a:noFill/>
          <a:ln/>
        </p:spPr>
        <p:txBody>
          <a:bodyPr wrap="square" lIns="0" tIns="0" rIns="0" bIns="0" rtlCol="0" anchor="ctr"/>
          <a:lstStyle/>
          <a:p>
            <a:pPr marL="0" indent="0" algn="ctr">
              <a:buNone/>
            </a:pPr>
            <a:r>
              <a:rPr lang="en-US" sz="850" b="1" kern="0" spc="70" dirty="0">
                <a:solidFill>
                  <a:srgbClr val="1A7F37"/>
                </a:solidFill>
                <a:latin typeface="Aptos" pitchFamily="34" charset="0"/>
                <a:ea typeface="Aptos" pitchFamily="34" charset="-122"/>
                <a:cs typeface="Aptos" pitchFamily="34" charset="-120"/>
              </a:rPr>
              <a:t>CHECKS</a:t>
            </a:r>
            <a:endParaRPr lang="en-US" sz="850" dirty="0"/>
          </a:p>
        </p:txBody>
      </p:sp>
      <p:sp>
        <p:nvSpPr>
          <p:cNvPr id="25" name="Shape 22"/>
          <p:cNvSpPr/>
          <p:nvPr/>
        </p:nvSpPr>
        <p:spPr>
          <a:xfrm>
            <a:off x="731520" y="4928616"/>
            <a:ext cx="475488" cy="475488"/>
          </a:xfrm>
          <a:prstGeom prst="ellipse">
            <a:avLst/>
          </a:prstGeom>
          <a:solidFill>
            <a:srgbClr val="BC4C00"/>
          </a:solidFill>
          <a:ln w="12700">
            <a:solidFill>
              <a:srgbClr val="BC4C00">
                <a:alpha val="0"/>
              </a:srgbClr>
            </a:solidFill>
            <a:prstDash val="solid"/>
          </a:ln>
        </p:spPr>
        <p:txBody>
          <a:bodyPr/>
          <a:lstStyle/>
          <a:p>
            <a:endParaRPr lang="en-US"/>
          </a:p>
        </p:txBody>
      </p:sp>
      <p:sp>
        <p:nvSpPr>
          <p:cNvPr id="26" name="Text 23"/>
          <p:cNvSpPr/>
          <p:nvPr/>
        </p:nvSpPr>
        <p:spPr>
          <a:xfrm>
            <a:off x="731520" y="5061204"/>
            <a:ext cx="475488" cy="1371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Display" pitchFamily="34" charset="0"/>
                <a:ea typeface="Aptos Display" pitchFamily="34" charset="-122"/>
                <a:cs typeface="Aptos Display" pitchFamily="34" charset="-120"/>
              </a:rPr>
              <a:t>4</a:t>
            </a:r>
            <a:endParaRPr lang="en-US" sz="1200" dirty="0"/>
          </a:p>
        </p:txBody>
      </p:sp>
      <p:sp>
        <p:nvSpPr>
          <p:cNvPr id="27" name="Text 24"/>
          <p:cNvSpPr/>
          <p:nvPr/>
        </p:nvSpPr>
        <p:spPr>
          <a:xfrm>
            <a:off x="1417320" y="4946904"/>
            <a:ext cx="1371600" cy="274320"/>
          </a:xfrm>
          <a:prstGeom prst="rect">
            <a:avLst/>
          </a:prstGeom>
          <a:noFill/>
          <a:ln/>
        </p:spPr>
        <p:txBody>
          <a:bodyPr wrap="square" lIns="0" tIns="0" rIns="0" bIns="0" rtlCol="0" anchor="ctr"/>
          <a:lstStyle/>
          <a:p>
            <a:pPr marL="0" indent="0">
              <a:buNone/>
            </a:pPr>
            <a:r>
              <a:rPr lang="en-US" sz="1900" b="1" dirty="0">
                <a:solidFill>
                  <a:srgbClr val="0D1117"/>
                </a:solidFill>
                <a:latin typeface="Aptos Display" pitchFamily="34" charset="0"/>
                <a:ea typeface="Aptos Display" pitchFamily="34" charset="-122"/>
                <a:cs typeface="Aptos Display" pitchFamily="34" charset="-120"/>
              </a:rPr>
              <a:t>Risk</a:t>
            </a:r>
            <a:endParaRPr lang="en-US" sz="1900" dirty="0"/>
          </a:p>
        </p:txBody>
      </p:sp>
      <p:sp>
        <p:nvSpPr>
          <p:cNvPr id="28" name="Text 25"/>
          <p:cNvSpPr/>
          <p:nvPr/>
        </p:nvSpPr>
        <p:spPr>
          <a:xfrm>
            <a:off x="2816352" y="4956048"/>
            <a:ext cx="6217920" cy="274320"/>
          </a:xfrm>
          <a:prstGeom prst="rect">
            <a:avLst/>
          </a:prstGeom>
          <a:noFill/>
          <a:ln/>
        </p:spPr>
        <p:txBody>
          <a:bodyPr wrap="square" lIns="0" tIns="0" rIns="0" bIns="0" rtlCol="0" anchor="ctr"/>
          <a:lstStyle/>
          <a:p>
            <a:pPr marL="0" indent="0">
              <a:buNone/>
            </a:pPr>
            <a:r>
              <a:rPr lang="en-US" sz="1600" dirty="0">
                <a:solidFill>
                  <a:srgbClr val="57606A"/>
                </a:solidFill>
                <a:latin typeface="Aptos" pitchFamily="34" charset="0"/>
                <a:ea typeface="Aptos" pitchFamily="34" charset="-122"/>
                <a:cs typeface="Aptos" pitchFamily="34" charset="-120"/>
              </a:rPr>
              <a:t>What still requires scientific or validation review?</a:t>
            </a:r>
            <a:endParaRPr lang="en-US" sz="1600" dirty="0"/>
          </a:p>
        </p:txBody>
      </p:sp>
      <p:sp>
        <p:nvSpPr>
          <p:cNvPr id="29" name="Shape 26"/>
          <p:cNvSpPr/>
          <p:nvPr/>
        </p:nvSpPr>
        <p:spPr>
          <a:xfrm>
            <a:off x="9528048" y="5001768"/>
            <a:ext cx="1600200" cy="310896"/>
          </a:xfrm>
          <a:prstGeom prst="roundRect">
            <a:avLst>
              <a:gd name="adj" fmla="val 23529"/>
            </a:avLst>
          </a:prstGeom>
          <a:solidFill>
            <a:srgbClr val="FFF1E5"/>
          </a:solidFill>
          <a:ln w="8890">
            <a:solidFill>
              <a:srgbClr val="BC4C00"/>
            </a:solidFill>
            <a:prstDash val="solid"/>
          </a:ln>
        </p:spPr>
        <p:txBody>
          <a:bodyPr/>
          <a:lstStyle/>
          <a:p>
            <a:endParaRPr lang="en-US"/>
          </a:p>
        </p:txBody>
      </p:sp>
      <p:sp>
        <p:nvSpPr>
          <p:cNvPr id="30" name="Text 27"/>
          <p:cNvSpPr/>
          <p:nvPr/>
        </p:nvSpPr>
        <p:spPr>
          <a:xfrm>
            <a:off x="9619488" y="5097780"/>
            <a:ext cx="1417320" cy="109728"/>
          </a:xfrm>
          <a:prstGeom prst="rect">
            <a:avLst/>
          </a:prstGeom>
          <a:noFill/>
          <a:ln/>
        </p:spPr>
        <p:txBody>
          <a:bodyPr wrap="square" lIns="0" tIns="0" rIns="0" bIns="0" rtlCol="0" anchor="ctr"/>
          <a:lstStyle/>
          <a:p>
            <a:pPr marL="0" indent="0" algn="ctr">
              <a:buNone/>
            </a:pPr>
            <a:r>
              <a:rPr lang="en-US" sz="850" b="1" kern="0" spc="70" dirty="0">
                <a:solidFill>
                  <a:srgbClr val="BC4C00"/>
                </a:solidFill>
                <a:latin typeface="Aptos" pitchFamily="34" charset="0"/>
                <a:ea typeface="Aptos" pitchFamily="34" charset="-122"/>
                <a:cs typeface="Aptos" pitchFamily="34" charset="-120"/>
              </a:rPr>
              <a:t>RISK</a:t>
            </a:r>
            <a:endParaRPr lang="en-US" sz="850" dirty="0"/>
          </a:p>
        </p:txBody>
      </p:sp>
      <p:sp>
        <p:nvSpPr>
          <p:cNvPr id="31" name="Shape 28"/>
          <p:cNvSpPr/>
          <p:nvPr/>
        </p:nvSpPr>
        <p:spPr>
          <a:xfrm>
            <a:off x="3246120" y="5806440"/>
            <a:ext cx="5669280" cy="310896"/>
          </a:xfrm>
          <a:prstGeom prst="roundRect">
            <a:avLst>
              <a:gd name="adj" fmla="val 23529"/>
            </a:avLst>
          </a:prstGeom>
          <a:solidFill>
            <a:srgbClr val="0D1117"/>
          </a:solidFill>
          <a:ln w="8890">
            <a:solidFill>
              <a:srgbClr val="0D1117"/>
            </a:solidFill>
            <a:prstDash val="solid"/>
          </a:ln>
        </p:spPr>
        <p:txBody>
          <a:bodyPr/>
          <a:lstStyle/>
          <a:p>
            <a:endParaRPr lang="en-US"/>
          </a:p>
        </p:txBody>
      </p:sp>
      <p:sp>
        <p:nvSpPr>
          <p:cNvPr id="32" name="Text 29"/>
          <p:cNvSpPr/>
          <p:nvPr/>
        </p:nvSpPr>
        <p:spPr>
          <a:xfrm>
            <a:off x="3337560" y="5902452"/>
            <a:ext cx="5486400" cy="109728"/>
          </a:xfrm>
          <a:prstGeom prst="rect">
            <a:avLst/>
          </a:prstGeom>
          <a:noFill/>
          <a:ln/>
        </p:spPr>
        <p:txBody>
          <a:bodyPr wrap="square" lIns="0" tIns="0" rIns="0" bIns="0" rtlCol="0" anchor="ctr"/>
          <a:lstStyle/>
          <a:p>
            <a:pPr marL="0" indent="0" algn="ctr">
              <a:buNone/>
            </a:pPr>
            <a:r>
              <a:rPr lang="en-US" sz="850" b="1" kern="0" spc="70" dirty="0">
                <a:solidFill>
                  <a:srgbClr val="FFFFFF"/>
                </a:solidFill>
                <a:latin typeface="Aptos" pitchFamily="34" charset="0"/>
                <a:ea typeface="Aptos" pitchFamily="34" charset="-122"/>
                <a:cs typeface="Aptos" pitchFamily="34" charset="-120"/>
              </a:rPr>
              <a:t>CAREFUL QUESTIONS &gt; FAST APPROVAL</a:t>
            </a:r>
            <a:endParaRPr lang="en-US" sz="850" dirty="0"/>
          </a:p>
        </p:txBody>
      </p:sp>
      <p:sp>
        <p:nvSpPr>
          <p:cNvPr id="33" name="Text 30"/>
          <p:cNvSpPr/>
          <p:nvPr/>
        </p:nvSpPr>
        <p:spPr>
          <a:xfrm>
            <a:off x="502920" y="6519672"/>
            <a:ext cx="3840480" cy="146304"/>
          </a:xfrm>
          <a:prstGeom prst="rect">
            <a:avLst/>
          </a:prstGeom>
          <a:noFill/>
          <a:ln/>
        </p:spPr>
        <p:txBody>
          <a:bodyPr wrap="square" lIns="0" tIns="0" rIns="0" bIns="0" rtlCol="0" anchor="ctr"/>
          <a:lstStyle/>
          <a:p>
            <a:pPr marL="0" indent="0">
              <a:buNone/>
            </a:pPr>
            <a:r>
              <a:rPr lang="en-US" sz="800" dirty="0">
                <a:solidFill>
                  <a:srgbClr val="8C959F"/>
                </a:solidFill>
                <a:latin typeface="Aptos" pitchFamily="34" charset="0"/>
                <a:ea typeface="Aptos" pitchFamily="34" charset="-122"/>
                <a:cs typeface="Aptos" pitchFamily="34" charset="-120"/>
              </a:rPr>
              <a:t>GitHub Foundations | Gilead DSS</a:t>
            </a:r>
            <a:endParaRPr lang="en-US" sz="800" dirty="0"/>
          </a:p>
        </p:txBody>
      </p:sp>
      <p:sp>
        <p:nvSpPr>
          <p:cNvPr id="34" name="Text 31">
            <a:hlinkClick r:id="rId4"/>
          </p:cNvPr>
          <p:cNvSpPr/>
          <p:nvPr/>
        </p:nvSpPr>
        <p:spPr>
          <a:xfrm>
            <a:off x="5623560" y="6519672"/>
            <a:ext cx="5897880" cy="146304"/>
          </a:xfrm>
          <a:prstGeom prst="rect">
            <a:avLst/>
          </a:prstGeom>
          <a:noFill/>
          <a:ln/>
        </p:spPr>
        <p:txBody>
          <a:bodyPr wrap="square" lIns="0" tIns="0" rIns="0" bIns="0" rtlCol="0" anchor="ctr"/>
          <a:lstStyle/>
          <a:p>
            <a:pPr marL="0" indent="0" algn="r">
              <a:buNone/>
            </a:pPr>
            <a:r>
              <a:rPr lang="en-US" sz="800" u="sng" dirty="0">
                <a:solidFill>
                  <a:srgbClr val="8C959F"/>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github.com/johnsont1693/scientific-workflow-workshop</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6F8FA"/>
        </a:solidFill>
        <a:effectLst/>
      </p:bgPr>
    </p:bg>
    <p:spTree>
      <p:nvGrpSpPr>
        <p:cNvPr id="1" name=""/>
        <p:cNvGrpSpPr/>
        <p:nvPr/>
      </p:nvGrpSpPr>
      <p:grpSpPr>
        <a:xfrm>
          <a:off x="0" y="0"/>
          <a:ext cx="0" cy="0"/>
          <a:chOff x="0" y="0"/>
          <a:chExt cx="0" cy="0"/>
        </a:xfrm>
      </p:grpSpPr>
      <p:sp>
        <p:nvSpPr>
          <p:cNvPr id="2" name="Shape 0"/>
          <p:cNvSpPr/>
          <p:nvPr/>
        </p:nvSpPr>
        <p:spPr>
          <a:xfrm>
            <a:off x="475488" y="347472"/>
            <a:ext cx="347472" cy="347472"/>
          </a:xfrm>
          <a:prstGeom prst="ellipse">
            <a:avLst/>
          </a:prstGeom>
          <a:solidFill>
            <a:srgbClr val="0D1117"/>
          </a:solidFill>
          <a:ln w="12700">
            <a:solidFill>
              <a:srgbClr val="0D1117">
                <a:alpha val="0"/>
              </a:srgbClr>
            </a:solidFill>
            <a:prstDash val="solid"/>
          </a:ln>
        </p:spPr>
        <p:txBody>
          <a:bodyPr/>
          <a:lstStyle/>
          <a:p>
            <a:endParaRPr lang="en-US"/>
          </a:p>
        </p:txBody>
      </p:sp>
      <p:pic>
        <p:nvPicPr>
          <p:cNvPr id="3" name="Image 0" descr="/Users/alysiabrown/sandbox/copilot-worktrees/acb-workbench/abrown152-turbo-winner/generated-assets/gilead-sciences-inc/dss-2026/assets/github-mark.png"/>
          <p:cNvPicPr>
            <a:picLocks noChangeAspect="1"/>
          </p:cNvPicPr>
          <p:nvPr/>
        </p:nvPicPr>
        <p:blipFill>
          <a:blip r:embed="rId3"/>
          <a:stretch>
            <a:fillRect/>
          </a:stretch>
        </p:blipFill>
        <p:spPr>
          <a:xfrm>
            <a:off x="525780" y="397764"/>
            <a:ext cx="246888" cy="246888"/>
          </a:xfrm>
          <a:prstGeom prst="rect">
            <a:avLst/>
          </a:prstGeom>
        </p:spPr>
      </p:pic>
      <p:sp>
        <p:nvSpPr>
          <p:cNvPr id="4" name="Text 1"/>
          <p:cNvSpPr/>
          <p:nvPr/>
        </p:nvSpPr>
        <p:spPr>
          <a:xfrm>
            <a:off x="896112" y="356616"/>
            <a:ext cx="960120" cy="256032"/>
          </a:xfrm>
          <a:prstGeom prst="rect">
            <a:avLst/>
          </a:prstGeom>
          <a:noFill/>
          <a:ln/>
        </p:spPr>
        <p:txBody>
          <a:bodyPr wrap="square" lIns="0" tIns="0" rIns="0" bIns="0" rtlCol="0" anchor="ctr"/>
          <a:lstStyle/>
          <a:p>
            <a:pPr marL="0" indent="0">
              <a:buNone/>
            </a:pPr>
            <a:r>
              <a:rPr lang="en-US" sz="1700" b="1" dirty="0">
                <a:solidFill>
                  <a:srgbClr val="0D1117"/>
                </a:solidFill>
                <a:latin typeface="Aptos Display" pitchFamily="34" charset="0"/>
                <a:ea typeface="Aptos Display" pitchFamily="34" charset="-122"/>
                <a:cs typeface="Aptos Display" pitchFamily="34" charset="-120"/>
              </a:rPr>
              <a:t>GitHub</a:t>
            </a:r>
            <a:endParaRPr lang="en-US" sz="1700" dirty="0"/>
          </a:p>
        </p:txBody>
      </p:sp>
      <p:sp>
        <p:nvSpPr>
          <p:cNvPr id="5" name="Text 2"/>
          <p:cNvSpPr/>
          <p:nvPr/>
        </p:nvSpPr>
        <p:spPr>
          <a:xfrm>
            <a:off x="512064" y="932688"/>
            <a:ext cx="4114800" cy="182880"/>
          </a:xfrm>
          <a:prstGeom prst="rect">
            <a:avLst/>
          </a:prstGeom>
          <a:noFill/>
          <a:ln/>
        </p:spPr>
        <p:txBody>
          <a:bodyPr wrap="square" lIns="0" tIns="0" rIns="0" bIns="0" rtlCol="0" anchor="ctr"/>
          <a:lstStyle/>
          <a:p>
            <a:pPr marL="0" indent="0">
              <a:buNone/>
            </a:pPr>
            <a:r>
              <a:rPr lang="en-US" sz="950" b="1" kern="0" spc="140" dirty="0">
                <a:solidFill>
                  <a:srgbClr val="0969DA"/>
                </a:solidFill>
                <a:latin typeface="Aptos" pitchFamily="34" charset="0"/>
                <a:ea typeface="Aptos" pitchFamily="34" charset="-122"/>
                <a:cs typeface="Aptos" pitchFamily="34" charset="-120"/>
              </a:rPr>
              <a:t>END-TO-END WORKFLOW</a:t>
            </a:r>
            <a:endParaRPr lang="en-US" sz="950" dirty="0"/>
          </a:p>
        </p:txBody>
      </p:sp>
      <p:sp>
        <p:nvSpPr>
          <p:cNvPr id="6" name="Text 3"/>
          <p:cNvSpPr/>
          <p:nvPr/>
        </p:nvSpPr>
        <p:spPr>
          <a:xfrm>
            <a:off x="512064" y="1179576"/>
            <a:ext cx="10972800" cy="530352"/>
          </a:xfrm>
          <a:prstGeom prst="rect">
            <a:avLst/>
          </a:prstGeom>
          <a:noFill/>
          <a:ln/>
        </p:spPr>
        <p:txBody>
          <a:bodyPr wrap="square" lIns="0" tIns="0" rIns="0" bIns="0" rtlCol="0" anchor="ctr"/>
          <a:lstStyle/>
          <a:p>
            <a:pPr marL="0" indent="0">
              <a:buNone/>
            </a:pPr>
            <a:r>
              <a:rPr lang="en-US" sz="3100" b="1" dirty="0">
                <a:solidFill>
                  <a:srgbClr val="0D1117"/>
                </a:solidFill>
                <a:latin typeface="Aptos Display" pitchFamily="34" charset="0"/>
                <a:ea typeface="Aptos Display" pitchFamily="34" charset="-122"/>
                <a:cs typeface="Aptos Display" pitchFamily="34" charset="-120"/>
              </a:rPr>
              <a:t>One change. One visible chain of evidence.</a:t>
            </a:r>
            <a:endParaRPr lang="en-US" sz="3100" dirty="0"/>
          </a:p>
        </p:txBody>
      </p:sp>
      <p:sp>
        <p:nvSpPr>
          <p:cNvPr id="7" name="Shape 4"/>
          <p:cNvSpPr/>
          <p:nvPr/>
        </p:nvSpPr>
        <p:spPr>
          <a:xfrm>
            <a:off x="594360" y="2487168"/>
            <a:ext cx="1699260" cy="804672"/>
          </a:xfrm>
          <a:prstGeom prst="roundRect">
            <a:avLst>
              <a:gd name="adj" fmla="val 5682"/>
            </a:avLst>
          </a:prstGeom>
          <a:solidFill>
            <a:srgbClr val="FFFFFF"/>
          </a:solidFill>
          <a:ln w="15240">
            <a:solidFill>
              <a:srgbClr val="D0D7DE"/>
            </a:solidFill>
            <a:prstDash val="solid"/>
          </a:ln>
        </p:spPr>
        <p:txBody>
          <a:bodyPr/>
          <a:lstStyle/>
          <a:p>
            <a:endParaRPr lang="en-US"/>
          </a:p>
        </p:txBody>
      </p:sp>
      <p:sp>
        <p:nvSpPr>
          <p:cNvPr id="8" name="Text 5"/>
          <p:cNvSpPr/>
          <p:nvPr/>
        </p:nvSpPr>
        <p:spPr>
          <a:xfrm>
            <a:off x="740664" y="2633472"/>
            <a:ext cx="1406652" cy="201168"/>
          </a:xfrm>
          <a:prstGeom prst="rect">
            <a:avLst/>
          </a:prstGeom>
          <a:noFill/>
          <a:ln/>
        </p:spPr>
        <p:txBody>
          <a:bodyPr wrap="square" lIns="0" tIns="0" rIns="0" bIns="0" rtlCol="0" anchor="ctr"/>
          <a:lstStyle/>
          <a:p>
            <a:pPr marL="0" indent="0" algn="ctr">
              <a:buNone/>
            </a:pPr>
            <a:r>
              <a:rPr lang="en-US" sz="1300" b="1" dirty="0">
                <a:solidFill>
                  <a:srgbClr val="0D1117"/>
                </a:solidFill>
                <a:latin typeface="Aptos Display" pitchFamily="34" charset="0"/>
                <a:ea typeface="Aptos Display" pitchFamily="34" charset="-122"/>
                <a:cs typeface="Aptos Display" pitchFamily="34" charset="-120"/>
              </a:rPr>
              <a:t>Requirement</a:t>
            </a:r>
            <a:endParaRPr lang="en-US" sz="1300" dirty="0"/>
          </a:p>
        </p:txBody>
      </p:sp>
      <p:sp>
        <p:nvSpPr>
          <p:cNvPr id="9" name="Text 6"/>
          <p:cNvSpPr/>
          <p:nvPr/>
        </p:nvSpPr>
        <p:spPr>
          <a:xfrm>
            <a:off x="704088" y="2944368"/>
            <a:ext cx="1479804" cy="146304"/>
          </a:xfrm>
          <a:prstGeom prst="rect">
            <a:avLst/>
          </a:prstGeom>
          <a:noFill/>
          <a:ln/>
        </p:spPr>
        <p:txBody>
          <a:bodyPr wrap="square" lIns="0" tIns="0" rIns="0" bIns="0" rtlCol="0" anchor="ctr"/>
          <a:lstStyle/>
          <a:p>
            <a:pPr marL="0" indent="0" algn="ctr">
              <a:buNone/>
            </a:pPr>
            <a:r>
              <a:rPr lang="en-US" sz="850" dirty="0">
                <a:solidFill>
                  <a:srgbClr val="57606A"/>
                </a:solidFill>
                <a:latin typeface="Aptos" pitchFamily="34" charset="0"/>
                <a:ea typeface="Aptos" pitchFamily="34" charset="-122"/>
                <a:cs typeface="Aptos" pitchFamily="34" charset="-120"/>
              </a:rPr>
              <a:t>why</a:t>
            </a:r>
            <a:endParaRPr lang="en-US" sz="850" dirty="0"/>
          </a:p>
        </p:txBody>
      </p:sp>
      <p:sp>
        <p:nvSpPr>
          <p:cNvPr id="10" name="Shape 7"/>
          <p:cNvSpPr/>
          <p:nvPr/>
        </p:nvSpPr>
        <p:spPr>
          <a:xfrm>
            <a:off x="2311908" y="2889504"/>
            <a:ext cx="128016" cy="0"/>
          </a:xfrm>
          <a:prstGeom prst="line">
            <a:avLst/>
          </a:prstGeom>
          <a:noFill/>
          <a:ln w="19050">
            <a:solidFill>
              <a:srgbClr val="0969DA"/>
            </a:solidFill>
            <a:prstDash val="solid"/>
            <a:tailEnd type="triangle"/>
          </a:ln>
        </p:spPr>
        <p:txBody>
          <a:bodyPr/>
          <a:lstStyle/>
          <a:p>
            <a:endParaRPr lang="en-US"/>
          </a:p>
        </p:txBody>
      </p:sp>
      <p:sp>
        <p:nvSpPr>
          <p:cNvPr id="11" name="Shape 8"/>
          <p:cNvSpPr/>
          <p:nvPr/>
        </p:nvSpPr>
        <p:spPr>
          <a:xfrm>
            <a:off x="2458212" y="2487168"/>
            <a:ext cx="1699260" cy="804672"/>
          </a:xfrm>
          <a:prstGeom prst="roundRect">
            <a:avLst>
              <a:gd name="adj" fmla="val 5682"/>
            </a:avLst>
          </a:prstGeom>
          <a:solidFill>
            <a:srgbClr val="FFFFFF"/>
          </a:solidFill>
          <a:ln w="15240">
            <a:solidFill>
              <a:srgbClr val="D0D7DE"/>
            </a:solidFill>
            <a:prstDash val="solid"/>
          </a:ln>
        </p:spPr>
        <p:txBody>
          <a:bodyPr/>
          <a:lstStyle/>
          <a:p>
            <a:endParaRPr lang="en-US"/>
          </a:p>
        </p:txBody>
      </p:sp>
      <p:sp>
        <p:nvSpPr>
          <p:cNvPr id="12" name="Text 9"/>
          <p:cNvSpPr/>
          <p:nvPr/>
        </p:nvSpPr>
        <p:spPr>
          <a:xfrm>
            <a:off x="2604516" y="2633472"/>
            <a:ext cx="1406652" cy="201168"/>
          </a:xfrm>
          <a:prstGeom prst="rect">
            <a:avLst/>
          </a:prstGeom>
          <a:noFill/>
          <a:ln/>
        </p:spPr>
        <p:txBody>
          <a:bodyPr wrap="square" lIns="0" tIns="0" rIns="0" bIns="0" rtlCol="0" anchor="ctr"/>
          <a:lstStyle/>
          <a:p>
            <a:pPr marL="0" indent="0" algn="ctr">
              <a:buNone/>
            </a:pPr>
            <a:r>
              <a:rPr lang="en-US" sz="1300" b="1" dirty="0">
                <a:solidFill>
                  <a:srgbClr val="0D1117"/>
                </a:solidFill>
                <a:latin typeface="Aptos Display" pitchFamily="34" charset="0"/>
                <a:ea typeface="Aptos Display" pitchFamily="34" charset="-122"/>
                <a:cs typeface="Aptos Display" pitchFamily="34" charset="-120"/>
              </a:rPr>
              <a:t>Branch</a:t>
            </a:r>
            <a:endParaRPr lang="en-US" sz="1300" dirty="0"/>
          </a:p>
        </p:txBody>
      </p:sp>
      <p:sp>
        <p:nvSpPr>
          <p:cNvPr id="13" name="Text 10"/>
          <p:cNvSpPr/>
          <p:nvPr/>
        </p:nvSpPr>
        <p:spPr>
          <a:xfrm>
            <a:off x="2567940" y="2944368"/>
            <a:ext cx="1479804" cy="146304"/>
          </a:xfrm>
          <a:prstGeom prst="rect">
            <a:avLst/>
          </a:prstGeom>
          <a:noFill/>
          <a:ln/>
        </p:spPr>
        <p:txBody>
          <a:bodyPr wrap="square" lIns="0" tIns="0" rIns="0" bIns="0" rtlCol="0" anchor="ctr"/>
          <a:lstStyle/>
          <a:p>
            <a:pPr marL="0" indent="0" algn="ctr">
              <a:buNone/>
            </a:pPr>
            <a:r>
              <a:rPr lang="en-US" sz="850" dirty="0">
                <a:solidFill>
                  <a:srgbClr val="57606A"/>
                </a:solidFill>
                <a:latin typeface="Aptos" pitchFamily="34" charset="0"/>
                <a:ea typeface="Aptos" pitchFamily="34" charset="-122"/>
                <a:cs typeface="Aptos" pitchFamily="34" charset="-120"/>
              </a:rPr>
              <a:t>safe space</a:t>
            </a:r>
            <a:endParaRPr lang="en-US" sz="850" dirty="0"/>
          </a:p>
        </p:txBody>
      </p:sp>
      <p:sp>
        <p:nvSpPr>
          <p:cNvPr id="14" name="Shape 11"/>
          <p:cNvSpPr/>
          <p:nvPr/>
        </p:nvSpPr>
        <p:spPr>
          <a:xfrm>
            <a:off x="4175760" y="2889504"/>
            <a:ext cx="128016" cy="0"/>
          </a:xfrm>
          <a:prstGeom prst="line">
            <a:avLst/>
          </a:prstGeom>
          <a:noFill/>
          <a:ln w="19050">
            <a:solidFill>
              <a:srgbClr val="0969DA"/>
            </a:solidFill>
            <a:prstDash val="solid"/>
            <a:tailEnd type="triangle"/>
          </a:ln>
        </p:spPr>
        <p:txBody>
          <a:bodyPr/>
          <a:lstStyle/>
          <a:p>
            <a:endParaRPr lang="en-US"/>
          </a:p>
        </p:txBody>
      </p:sp>
      <p:sp>
        <p:nvSpPr>
          <p:cNvPr id="15" name="Shape 12"/>
          <p:cNvSpPr/>
          <p:nvPr/>
        </p:nvSpPr>
        <p:spPr>
          <a:xfrm>
            <a:off x="4322064" y="2487168"/>
            <a:ext cx="1699260" cy="804672"/>
          </a:xfrm>
          <a:prstGeom prst="roundRect">
            <a:avLst>
              <a:gd name="adj" fmla="val 5682"/>
            </a:avLst>
          </a:prstGeom>
          <a:solidFill>
            <a:srgbClr val="FFFFFF"/>
          </a:solidFill>
          <a:ln w="15240">
            <a:solidFill>
              <a:srgbClr val="D0D7DE"/>
            </a:solidFill>
            <a:prstDash val="solid"/>
          </a:ln>
        </p:spPr>
        <p:txBody>
          <a:bodyPr/>
          <a:lstStyle/>
          <a:p>
            <a:endParaRPr lang="en-US"/>
          </a:p>
        </p:txBody>
      </p:sp>
      <p:sp>
        <p:nvSpPr>
          <p:cNvPr id="16" name="Text 13"/>
          <p:cNvSpPr/>
          <p:nvPr/>
        </p:nvSpPr>
        <p:spPr>
          <a:xfrm>
            <a:off x="4468368" y="2633472"/>
            <a:ext cx="1406652" cy="201168"/>
          </a:xfrm>
          <a:prstGeom prst="rect">
            <a:avLst/>
          </a:prstGeom>
          <a:noFill/>
          <a:ln/>
        </p:spPr>
        <p:txBody>
          <a:bodyPr wrap="square" lIns="0" tIns="0" rIns="0" bIns="0" rtlCol="0" anchor="ctr"/>
          <a:lstStyle/>
          <a:p>
            <a:pPr marL="0" indent="0" algn="ctr">
              <a:buNone/>
            </a:pPr>
            <a:r>
              <a:rPr lang="en-US" sz="1300" b="1" dirty="0">
                <a:solidFill>
                  <a:srgbClr val="0D1117"/>
                </a:solidFill>
                <a:latin typeface="Aptos Display" pitchFamily="34" charset="0"/>
                <a:ea typeface="Aptos Display" pitchFamily="34" charset="-122"/>
                <a:cs typeface="Aptos Display" pitchFamily="34" charset="-120"/>
              </a:rPr>
              <a:t>Commit</a:t>
            </a:r>
            <a:endParaRPr lang="en-US" sz="1300" dirty="0"/>
          </a:p>
        </p:txBody>
      </p:sp>
      <p:sp>
        <p:nvSpPr>
          <p:cNvPr id="17" name="Text 14"/>
          <p:cNvSpPr/>
          <p:nvPr/>
        </p:nvSpPr>
        <p:spPr>
          <a:xfrm>
            <a:off x="4431792" y="2944368"/>
            <a:ext cx="1479804" cy="146304"/>
          </a:xfrm>
          <a:prstGeom prst="rect">
            <a:avLst/>
          </a:prstGeom>
          <a:noFill/>
          <a:ln/>
        </p:spPr>
        <p:txBody>
          <a:bodyPr wrap="square" lIns="0" tIns="0" rIns="0" bIns="0" rtlCol="0" anchor="ctr"/>
          <a:lstStyle/>
          <a:p>
            <a:pPr marL="0" indent="0" algn="ctr">
              <a:buNone/>
            </a:pPr>
            <a:r>
              <a:rPr lang="en-US" sz="850" dirty="0">
                <a:solidFill>
                  <a:srgbClr val="57606A"/>
                </a:solidFill>
                <a:latin typeface="Aptos" pitchFamily="34" charset="0"/>
                <a:ea typeface="Aptos" pitchFamily="34" charset="-122"/>
                <a:cs typeface="Aptos" pitchFamily="34" charset="-120"/>
              </a:rPr>
              <a:t>checkpoint</a:t>
            </a:r>
            <a:endParaRPr lang="en-US" sz="850" dirty="0"/>
          </a:p>
        </p:txBody>
      </p:sp>
      <p:sp>
        <p:nvSpPr>
          <p:cNvPr id="18" name="Shape 15"/>
          <p:cNvSpPr/>
          <p:nvPr/>
        </p:nvSpPr>
        <p:spPr>
          <a:xfrm>
            <a:off x="6039612" y="2889504"/>
            <a:ext cx="128016" cy="0"/>
          </a:xfrm>
          <a:prstGeom prst="line">
            <a:avLst/>
          </a:prstGeom>
          <a:noFill/>
          <a:ln w="19050">
            <a:solidFill>
              <a:srgbClr val="0969DA"/>
            </a:solidFill>
            <a:prstDash val="solid"/>
            <a:tailEnd type="triangle"/>
          </a:ln>
        </p:spPr>
        <p:txBody>
          <a:bodyPr/>
          <a:lstStyle/>
          <a:p>
            <a:endParaRPr lang="en-US"/>
          </a:p>
        </p:txBody>
      </p:sp>
      <p:sp>
        <p:nvSpPr>
          <p:cNvPr id="19" name="Shape 16"/>
          <p:cNvSpPr/>
          <p:nvPr/>
        </p:nvSpPr>
        <p:spPr>
          <a:xfrm>
            <a:off x="6185916" y="2487168"/>
            <a:ext cx="1699260" cy="804672"/>
          </a:xfrm>
          <a:prstGeom prst="roundRect">
            <a:avLst>
              <a:gd name="adj" fmla="val 5682"/>
            </a:avLst>
          </a:prstGeom>
          <a:solidFill>
            <a:srgbClr val="FFFFFF"/>
          </a:solidFill>
          <a:ln w="15240">
            <a:solidFill>
              <a:srgbClr val="D0D7DE"/>
            </a:solidFill>
            <a:prstDash val="solid"/>
          </a:ln>
        </p:spPr>
        <p:txBody>
          <a:bodyPr/>
          <a:lstStyle/>
          <a:p>
            <a:endParaRPr lang="en-US"/>
          </a:p>
        </p:txBody>
      </p:sp>
      <p:sp>
        <p:nvSpPr>
          <p:cNvPr id="20" name="Text 17"/>
          <p:cNvSpPr/>
          <p:nvPr/>
        </p:nvSpPr>
        <p:spPr>
          <a:xfrm>
            <a:off x="6332220" y="2633472"/>
            <a:ext cx="1406652" cy="201168"/>
          </a:xfrm>
          <a:prstGeom prst="rect">
            <a:avLst/>
          </a:prstGeom>
          <a:noFill/>
          <a:ln/>
        </p:spPr>
        <p:txBody>
          <a:bodyPr wrap="square" lIns="0" tIns="0" rIns="0" bIns="0" rtlCol="0" anchor="ctr"/>
          <a:lstStyle/>
          <a:p>
            <a:pPr marL="0" indent="0" algn="ctr">
              <a:buNone/>
            </a:pPr>
            <a:r>
              <a:rPr lang="en-US" sz="1300" b="1" dirty="0">
                <a:solidFill>
                  <a:srgbClr val="0D1117"/>
                </a:solidFill>
                <a:latin typeface="Aptos Display" pitchFamily="34" charset="0"/>
                <a:ea typeface="Aptos Display" pitchFamily="34" charset="-122"/>
                <a:cs typeface="Aptos Display" pitchFamily="34" charset="-120"/>
              </a:rPr>
              <a:t>Pull request</a:t>
            </a:r>
            <a:endParaRPr lang="en-US" sz="1300" dirty="0"/>
          </a:p>
        </p:txBody>
      </p:sp>
      <p:sp>
        <p:nvSpPr>
          <p:cNvPr id="21" name="Text 18"/>
          <p:cNvSpPr/>
          <p:nvPr/>
        </p:nvSpPr>
        <p:spPr>
          <a:xfrm>
            <a:off x="6295644" y="2944368"/>
            <a:ext cx="1479804" cy="146304"/>
          </a:xfrm>
          <a:prstGeom prst="rect">
            <a:avLst/>
          </a:prstGeom>
          <a:noFill/>
          <a:ln/>
        </p:spPr>
        <p:txBody>
          <a:bodyPr wrap="square" lIns="0" tIns="0" rIns="0" bIns="0" rtlCol="0" anchor="ctr"/>
          <a:lstStyle/>
          <a:p>
            <a:pPr marL="0" indent="0" algn="ctr">
              <a:buNone/>
            </a:pPr>
            <a:r>
              <a:rPr lang="en-US" sz="850" dirty="0">
                <a:solidFill>
                  <a:srgbClr val="57606A"/>
                </a:solidFill>
                <a:latin typeface="Aptos" pitchFamily="34" charset="0"/>
                <a:ea typeface="Aptos" pitchFamily="34" charset="-122"/>
                <a:cs typeface="Aptos" pitchFamily="34" charset="-120"/>
              </a:rPr>
              <a:t>proposal</a:t>
            </a:r>
            <a:endParaRPr lang="en-US" sz="850" dirty="0"/>
          </a:p>
        </p:txBody>
      </p:sp>
      <p:sp>
        <p:nvSpPr>
          <p:cNvPr id="22" name="Shape 19"/>
          <p:cNvSpPr/>
          <p:nvPr/>
        </p:nvSpPr>
        <p:spPr>
          <a:xfrm>
            <a:off x="7903464" y="2889504"/>
            <a:ext cx="128016" cy="0"/>
          </a:xfrm>
          <a:prstGeom prst="line">
            <a:avLst/>
          </a:prstGeom>
          <a:noFill/>
          <a:ln w="19050">
            <a:solidFill>
              <a:srgbClr val="0969DA"/>
            </a:solidFill>
            <a:prstDash val="solid"/>
            <a:tailEnd type="triangle"/>
          </a:ln>
        </p:spPr>
        <p:txBody>
          <a:bodyPr/>
          <a:lstStyle/>
          <a:p>
            <a:endParaRPr lang="en-US"/>
          </a:p>
        </p:txBody>
      </p:sp>
      <p:sp>
        <p:nvSpPr>
          <p:cNvPr id="23" name="Shape 20"/>
          <p:cNvSpPr/>
          <p:nvPr/>
        </p:nvSpPr>
        <p:spPr>
          <a:xfrm>
            <a:off x="8049768" y="2487168"/>
            <a:ext cx="1699260" cy="804672"/>
          </a:xfrm>
          <a:prstGeom prst="roundRect">
            <a:avLst>
              <a:gd name="adj" fmla="val 5682"/>
            </a:avLst>
          </a:prstGeom>
          <a:solidFill>
            <a:srgbClr val="FFFFFF"/>
          </a:solidFill>
          <a:ln w="15240">
            <a:solidFill>
              <a:srgbClr val="D0D7DE"/>
            </a:solidFill>
            <a:prstDash val="solid"/>
          </a:ln>
        </p:spPr>
        <p:txBody>
          <a:bodyPr/>
          <a:lstStyle/>
          <a:p>
            <a:endParaRPr lang="en-US"/>
          </a:p>
        </p:txBody>
      </p:sp>
      <p:sp>
        <p:nvSpPr>
          <p:cNvPr id="24" name="Text 21"/>
          <p:cNvSpPr/>
          <p:nvPr/>
        </p:nvSpPr>
        <p:spPr>
          <a:xfrm>
            <a:off x="8196072" y="2633472"/>
            <a:ext cx="1406652" cy="201168"/>
          </a:xfrm>
          <a:prstGeom prst="rect">
            <a:avLst/>
          </a:prstGeom>
          <a:noFill/>
          <a:ln/>
        </p:spPr>
        <p:txBody>
          <a:bodyPr wrap="square" lIns="0" tIns="0" rIns="0" bIns="0" rtlCol="0" anchor="ctr"/>
          <a:lstStyle/>
          <a:p>
            <a:pPr marL="0" indent="0" algn="ctr">
              <a:buNone/>
            </a:pPr>
            <a:r>
              <a:rPr lang="en-US" sz="1300" b="1" dirty="0">
                <a:solidFill>
                  <a:srgbClr val="0D1117"/>
                </a:solidFill>
                <a:latin typeface="Aptos Display" pitchFamily="34" charset="0"/>
                <a:ea typeface="Aptos Display" pitchFamily="34" charset="-122"/>
                <a:cs typeface="Aptos Display" pitchFamily="34" charset="-120"/>
              </a:rPr>
              <a:t>Review</a:t>
            </a:r>
            <a:endParaRPr lang="en-US" sz="1300" dirty="0"/>
          </a:p>
        </p:txBody>
      </p:sp>
      <p:sp>
        <p:nvSpPr>
          <p:cNvPr id="25" name="Text 22"/>
          <p:cNvSpPr/>
          <p:nvPr/>
        </p:nvSpPr>
        <p:spPr>
          <a:xfrm>
            <a:off x="8159496" y="2944368"/>
            <a:ext cx="1479804" cy="146304"/>
          </a:xfrm>
          <a:prstGeom prst="rect">
            <a:avLst/>
          </a:prstGeom>
          <a:noFill/>
          <a:ln/>
        </p:spPr>
        <p:txBody>
          <a:bodyPr wrap="square" lIns="0" tIns="0" rIns="0" bIns="0" rtlCol="0" anchor="ctr"/>
          <a:lstStyle/>
          <a:p>
            <a:pPr marL="0" indent="0" algn="ctr">
              <a:buNone/>
            </a:pPr>
            <a:r>
              <a:rPr lang="en-US" sz="850" dirty="0">
                <a:solidFill>
                  <a:srgbClr val="57606A"/>
                </a:solidFill>
                <a:latin typeface="Aptos" pitchFamily="34" charset="0"/>
                <a:ea typeface="Aptos" pitchFamily="34" charset="-122"/>
                <a:cs typeface="Aptos" pitchFamily="34" charset="-120"/>
              </a:rPr>
              <a:t>decision</a:t>
            </a:r>
            <a:endParaRPr lang="en-US" sz="850" dirty="0"/>
          </a:p>
        </p:txBody>
      </p:sp>
      <p:sp>
        <p:nvSpPr>
          <p:cNvPr id="26" name="Shape 23"/>
          <p:cNvSpPr/>
          <p:nvPr/>
        </p:nvSpPr>
        <p:spPr>
          <a:xfrm>
            <a:off x="9767316" y="2889504"/>
            <a:ext cx="128016" cy="0"/>
          </a:xfrm>
          <a:prstGeom prst="line">
            <a:avLst/>
          </a:prstGeom>
          <a:noFill/>
          <a:ln w="19050">
            <a:solidFill>
              <a:srgbClr val="0969DA"/>
            </a:solidFill>
            <a:prstDash val="solid"/>
            <a:tailEnd type="triangle"/>
          </a:ln>
        </p:spPr>
        <p:txBody>
          <a:bodyPr/>
          <a:lstStyle/>
          <a:p>
            <a:endParaRPr lang="en-US"/>
          </a:p>
        </p:txBody>
      </p:sp>
      <p:sp>
        <p:nvSpPr>
          <p:cNvPr id="27" name="Shape 24"/>
          <p:cNvSpPr/>
          <p:nvPr/>
        </p:nvSpPr>
        <p:spPr>
          <a:xfrm>
            <a:off x="9913620" y="2487168"/>
            <a:ext cx="1699260" cy="804672"/>
          </a:xfrm>
          <a:prstGeom prst="roundRect">
            <a:avLst>
              <a:gd name="adj" fmla="val 5682"/>
            </a:avLst>
          </a:prstGeom>
          <a:solidFill>
            <a:srgbClr val="FFFFFF"/>
          </a:solidFill>
          <a:ln w="15240">
            <a:solidFill>
              <a:srgbClr val="0969DA"/>
            </a:solidFill>
            <a:prstDash val="solid"/>
          </a:ln>
        </p:spPr>
        <p:txBody>
          <a:bodyPr/>
          <a:lstStyle/>
          <a:p>
            <a:endParaRPr lang="en-US"/>
          </a:p>
        </p:txBody>
      </p:sp>
      <p:sp>
        <p:nvSpPr>
          <p:cNvPr id="28" name="Text 25"/>
          <p:cNvSpPr/>
          <p:nvPr/>
        </p:nvSpPr>
        <p:spPr>
          <a:xfrm>
            <a:off x="10059924" y="2633472"/>
            <a:ext cx="1406652" cy="201168"/>
          </a:xfrm>
          <a:prstGeom prst="rect">
            <a:avLst/>
          </a:prstGeom>
          <a:noFill/>
          <a:ln/>
        </p:spPr>
        <p:txBody>
          <a:bodyPr wrap="square" lIns="0" tIns="0" rIns="0" bIns="0" rtlCol="0" anchor="ctr"/>
          <a:lstStyle/>
          <a:p>
            <a:pPr marL="0" indent="0" algn="ctr">
              <a:buNone/>
            </a:pPr>
            <a:r>
              <a:rPr lang="en-US" sz="1300" b="1" dirty="0">
                <a:solidFill>
                  <a:srgbClr val="0D1117"/>
                </a:solidFill>
                <a:latin typeface="Aptos Display" pitchFamily="34" charset="0"/>
                <a:ea typeface="Aptos Display" pitchFamily="34" charset="-122"/>
                <a:cs typeface="Aptos Display" pitchFamily="34" charset="-120"/>
              </a:rPr>
              <a:t>History</a:t>
            </a:r>
            <a:endParaRPr lang="en-US" sz="1300" dirty="0"/>
          </a:p>
        </p:txBody>
      </p:sp>
      <p:sp>
        <p:nvSpPr>
          <p:cNvPr id="29" name="Text 26"/>
          <p:cNvSpPr/>
          <p:nvPr/>
        </p:nvSpPr>
        <p:spPr>
          <a:xfrm>
            <a:off x="10023348" y="2944368"/>
            <a:ext cx="1479804" cy="146304"/>
          </a:xfrm>
          <a:prstGeom prst="rect">
            <a:avLst/>
          </a:prstGeom>
          <a:noFill/>
          <a:ln/>
        </p:spPr>
        <p:txBody>
          <a:bodyPr wrap="square" lIns="0" tIns="0" rIns="0" bIns="0" rtlCol="0" anchor="ctr"/>
          <a:lstStyle/>
          <a:p>
            <a:pPr marL="0" indent="0" algn="ctr">
              <a:buNone/>
            </a:pPr>
            <a:r>
              <a:rPr lang="en-US" sz="850" dirty="0">
                <a:solidFill>
                  <a:srgbClr val="57606A"/>
                </a:solidFill>
                <a:latin typeface="Aptos" pitchFamily="34" charset="0"/>
                <a:ea typeface="Aptos" pitchFamily="34" charset="-122"/>
                <a:cs typeface="Aptos" pitchFamily="34" charset="-120"/>
              </a:rPr>
              <a:t>record</a:t>
            </a:r>
            <a:endParaRPr lang="en-US" sz="850" dirty="0"/>
          </a:p>
        </p:txBody>
      </p:sp>
      <p:sp>
        <p:nvSpPr>
          <p:cNvPr id="30" name="Text 27"/>
          <p:cNvSpPr/>
          <p:nvPr/>
        </p:nvSpPr>
        <p:spPr>
          <a:xfrm>
            <a:off x="1417320" y="3977640"/>
            <a:ext cx="9326880" cy="502920"/>
          </a:xfrm>
          <a:prstGeom prst="rect">
            <a:avLst/>
          </a:prstGeom>
          <a:noFill/>
          <a:ln/>
        </p:spPr>
        <p:txBody>
          <a:bodyPr wrap="square" lIns="0" tIns="0" rIns="0" bIns="0" rtlCol="0" anchor="ctr"/>
          <a:lstStyle/>
          <a:p>
            <a:pPr marL="0" indent="0" algn="ctr">
              <a:buNone/>
            </a:pPr>
            <a:r>
              <a:rPr lang="en-US" sz="2800" b="1" dirty="0">
                <a:solidFill>
                  <a:srgbClr val="0D1117"/>
                </a:solidFill>
                <a:latin typeface="Aptos Display" pitchFamily="34" charset="0"/>
                <a:ea typeface="Aptos Display" pitchFamily="34" charset="-122"/>
                <a:cs typeface="Aptos Display" pitchFamily="34" charset="-120"/>
              </a:rPr>
              <a:t>GitHub makes the work easier to inspect, discuss, and recover.</a:t>
            </a:r>
            <a:endParaRPr lang="en-US" sz="2800" dirty="0"/>
          </a:p>
        </p:txBody>
      </p:sp>
      <p:sp>
        <p:nvSpPr>
          <p:cNvPr id="31" name="Text 28"/>
          <p:cNvSpPr/>
          <p:nvPr/>
        </p:nvSpPr>
        <p:spPr>
          <a:xfrm>
            <a:off x="2331720" y="4736592"/>
            <a:ext cx="7498080" cy="365760"/>
          </a:xfrm>
          <a:prstGeom prst="rect">
            <a:avLst/>
          </a:prstGeom>
          <a:noFill/>
          <a:ln/>
        </p:spPr>
        <p:txBody>
          <a:bodyPr wrap="square" lIns="0" tIns="0" rIns="0" bIns="0" rtlCol="0" anchor="ctr"/>
          <a:lstStyle/>
          <a:p>
            <a:pPr marL="0" indent="0" algn="ctr">
              <a:buNone/>
            </a:pPr>
            <a:r>
              <a:rPr lang="en-US" sz="1700" dirty="0">
                <a:solidFill>
                  <a:srgbClr val="57606A"/>
                </a:solidFill>
                <a:latin typeface="Aptos" pitchFamily="34" charset="0"/>
                <a:ea typeface="Aptos" pitchFamily="34" charset="-122"/>
                <a:cs typeface="Aptos" pitchFamily="34" charset="-120"/>
              </a:rPr>
              <a:t>People still own the scientific judgment and the approval.</a:t>
            </a:r>
            <a:endParaRPr lang="en-US" sz="1700" dirty="0"/>
          </a:p>
        </p:txBody>
      </p:sp>
      <p:sp>
        <p:nvSpPr>
          <p:cNvPr id="32" name="Text 29"/>
          <p:cNvSpPr/>
          <p:nvPr/>
        </p:nvSpPr>
        <p:spPr>
          <a:xfrm>
            <a:off x="502920" y="6519672"/>
            <a:ext cx="3840480" cy="146304"/>
          </a:xfrm>
          <a:prstGeom prst="rect">
            <a:avLst/>
          </a:prstGeom>
          <a:noFill/>
          <a:ln/>
        </p:spPr>
        <p:txBody>
          <a:bodyPr wrap="square" lIns="0" tIns="0" rIns="0" bIns="0" rtlCol="0" anchor="ctr"/>
          <a:lstStyle/>
          <a:p>
            <a:pPr marL="0" indent="0">
              <a:buNone/>
            </a:pPr>
            <a:r>
              <a:rPr lang="en-US" sz="800" dirty="0">
                <a:solidFill>
                  <a:srgbClr val="8C959F"/>
                </a:solidFill>
                <a:latin typeface="Aptos" pitchFamily="34" charset="0"/>
                <a:ea typeface="Aptos" pitchFamily="34" charset="-122"/>
                <a:cs typeface="Aptos" pitchFamily="34" charset="-120"/>
              </a:rPr>
              <a:t>GitHub Foundations | Gilead DSS</a:t>
            </a:r>
            <a:endParaRPr lang="en-US" sz="800" dirty="0"/>
          </a:p>
        </p:txBody>
      </p:sp>
      <p:sp>
        <p:nvSpPr>
          <p:cNvPr id="33" name="Text 30">
            <a:hlinkClick r:id="rId4"/>
          </p:cNvPr>
          <p:cNvSpPr/>
          <p:nvPr/>
        </p:nvSpPr>
        <p:spPr>
          <a:xfrm>
            <a:off x="5623560" y="6519672"/>
            <a:ext cx="5897880" cy="146304"/>
          </a:xfrm>
          <a:prstGeom prst="rect">
            <a:avLst/>
          </a:prstGeom>
          <a:noFill/>
          <a:ln/>
        </p:spPr>
        <p:txBody>
          <a:bodyPr wrap="square" lIns="0" tIns="0" rIns="0" bIns="0" rtlCol="0" anchor="ctr"/>
          <a:lstStyle/>
          <a:p>
            <a:pPr marL="0" indent="0" algn="r">
              <a:buNone/>
            </a:pPr>
            <a:r>
              <a:rPr lang="en-US" sz="800" u="sng" dirty="0">
                <a:solidFill>
                  <a:srgbClr val="8C959F"/>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github.com/johnsont1693/scientific-workflow-workshop</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475488" y="347472"/>
            <a:ext cx="347472" cy="347472"/>
          </a:xfrm>
          <a:prstGeom prst="ellipse">
            <a:avLst/>
          </a:prstGeom>
          <a:solidFill>
            <a:srgbClr val="FFFFFF"/>
          </a:solidFill>
          <a:ln w="12700">
            <a:solidFill>
              <a:srgbClr val="FFFFFF">
                <a:alpha val="0"/>
              </a:srgbClr>
            </a:solidFill>
            <a:prstDash val="solid"/>
          </a:ln>
        </p:spPr>
        <p:txBody>
          <a:bodyPr/>
          <a:lstStyle/>
          <a:p>
            <a:endParaRPr lang="en-US"/>
          </a:p>
        </p:txBody>
      </p:sp>
      <p:pic>
        <p:nvPicPr>
          <p:cNvPr id="3" name="Image 0" descr="/Users/alysiabrown/sandbox/copilot-worktrees/acb-workbench/abrown152-turbo-winner/generated-assets/gilead-sciences-inc/dss-2026/assets/github-mark.png"/>
          <p:cNvPicPr>
            <a:picLocks noChangeAspect="1"/>
          </p:cNvPicPr>
          <p:nvPr/>
        </p:nvPicPr>
        <p:blipFill>
          <a:blip r:embed="rId3"/>
          <a:stretch>
            <a:fillRect/>
          </a:stretch>
        </p:blipFill>
        <p:spPr>
          <a:xfrm>
            <a:off x="525780" y="397764"/>
            <a:ext cx="246888" cy="246888"/>
          </a:xfrm>
          <a:prstGeom prst="rect">
            <a:avLst/>
          </a:prstGeom>
        </p:spPr>
      </p:pic>
      <p:sp>
        <p:nvSpPr>
          <p:cNvPr id="4" name="Text 1"/>
          <p:cNvSpPr/>
          <p:nvPr/>
        </p:nvSpPr>
        <p:spPr>
          <a:xfrm>
            <a:off x="896112" y="356616"/>
            <a:ext cx="960120" cy="256032"/>
          </a:xfrm>
          <a:prstGeom prst="rect">
            <a:avLst/>
          </a:prstGeom>
          <a:noFill/>
          <a:ln/>
        </p:spPr>
        <p:txBody>
          <a:bodyPr wrap="square" lIns="0" tIns="0" rIns="0" bIns="0" rtlCol="0" anchor="ctr"/>
          <a:lstStyle/>
          <a:p>
            <a:pPr marL="0" indent="0">
              <a:buNone/>
            </a:pPr>
            <a:r>
              <a:rPr lang="en-US" sz="1700" b="1" dirty="0">
                <a:solidFill>
                  <a:srgbClr val="FFFFFF"/>
                </a:solidFill>
                <a:latin typeface="Aptos Display" pitchFamily="34" charset="0"/>
                <a:ea typeface="Aptos Display" pitchFamily="34" charset="-122"/>
                <a:cs typeface="Aptos Display" pitchFamily="34" charset="-120"/>
              </a:rPr>
              <a:t>GitHub</a:t>
            </a:r>
            <a:endParaRPr lang="en-US" sz="1700" dirty="0"/>
          </a:p>
        </p:txBody>
      </p:sp>
      <p:sp>
        <p:nvSpPr>
          <p:cNvPr id="5" name="Shape 2"/>
          <p:cNvSpPr/>
          <p:nvPr/>
        </p:nvSpPr>
        <p:spPr>
          <a:xfrm>
            <a:off x="566928" y="1033272"/>
            <a:ext cx="1417320" cy="310896"/>
          </a:xfrm>
          <a:prstGeom prst="roundRect">
            <a:avLst>
              <a:gd name="adj" fmla="val 23529"/>
            </a:avLst>
          </a:prstGeom>
          <a:solidFill>
            <a:srgbClr val="0969DA"/>
          </a:solidFill>
          <a:ln w="8890">
            <a:solidFill>
              <a:srgbClr val="0969DA"/>
            </a:solidFill>
            <a:prstDash val="solid"/>
          </a:ln>
        </p:spPr>
        <p:txBody>
          <a:bodyPr/>
          <a:lstStyle/>
          <a:p>
            <a:endParaRPr lang="en-US"/>
          </a:p>
        </p:txBody>
      </p:sp>
      <p:sp>
        <p:nvSpPr>
          <p:cNvPr id="6" name="Text 3"/>
          <p:cNvSpPr/>
          <p:nvPr/>
        </p:nvSpPr>
        <p:spPr>
          <a:xfrm>
            <a:off x="658368" y="1129284"/>
            <a:ext cx="1234440" cy="109728"/>
          </a:xfrm>
          <a:prstGeom prst="rect">
            <a:avLst/>
          </a:prstGeom>
          <a:noFill/>
          <a:ln/>
        </p:spPr>
        <p:txBody>
          <a:bodyPr wrap="square" lIns="0" tIns="0" rIns="0" bIns="0" rtlCol="0" anchor="ctr"/>
          <a:lstStyle/>
          <a:p>
            <a:pPr marL="0" indent="0" algn="ctr">
              <a:buNone/>
            </a:pPr>
            <a:r>
              <a:rPr lang="en-US" sz="850" b="1" kern="0" spc="70" dirty="0">
                <a:solidFill>
                  <a:srgbClr val="FFFFFF"/>
                </a:solidFill>
                <a:latin typeface="Aptos" pitchFamily="34" charset="0"/>
                <a:ea typeface="Aptos" pitchFamily="34" charset="-122"/>
                <a:cs typeface="Aptos" pitchFamily="34" charset="-120"/>
              </a:rPr>
              <a:t>KEY TAKEAWAY</a:t>
            </a:r>
            <a:endParaRPr lang="en-US" sz="850" dirty="0"/>
          </a:p>
        </p:txBody>
      </p:sp>
      <p:sp>
        <p:nvSpPr>
          <p:cNvPr id="7" name="Text 4"/>
          <p:cNvSpPr/>
          <p:nvPr/>
        </p:nvSpPr>
        <p:spPr>
          <a:xfrm>
            <a:off x="566928" y="1673352"/>
            <a:ext cx="6400800" cy="2148840"/>
          </a:xfrm>
          <a:prstGeom prst="rect">
            <a:avLst/>
          </a:prstGeom>
          <a:noFill/>
          <a:ln/>
        </p:spPr>
        <p:txBody>
          <a:bodyPr wrap="square" lIns="0" tIns="0" rIns="0" bIns="0" rtlCol="0" anchor="ctr"/>
          <a:lstStyle/>
          <a:p>
            <a:pPr marL="0" indent="0">
              <a:buNone/>
            </a:pPr>
            <a:r>
              <a:rPr lang="en-US" sz="3700" b="1" dirty="0">
                <a:solidFill>
                  <a:srgbClr val="FFFFFF"/>
                </a:solidFill>
                <a:latin typeface="Aptos Display" pitchFamily="34" charset="0"/>
                <a:ea typeface="Aptos Display" pitchFamily="34" charset="-122"/>
                <a:cs typeface="Aptos Display" pitchFamily="34" charset="-120"/>
              </a:rPr>
              <a:t>Make the intent clear.</a:t>
            </a:r>
            <a:endParaRPr lang="en-US" sz="3700" dirty="0"/>
          </a:p>
          <a:p>
            <a:pPr marL="0" indent="0">
              <a:buNone/>
            </a:pPr>
            <a:r>
              <a:rPr lang="en-US" sz="3700" b="1" dirty="0">
                <a:solidFill>
                  <a:srgbClr val="FFFFFF"/>
                </a:solidFill>
                <a:latin typeface="Aptos Display" pitchFamily="34" charset="0"/>
                <a:ea typeface="Aptos Display" pitchFamily="34" charset="-122"/>
                <a:cs typeface="Aptos Display" pitchFamily="34" charset="-120"/>
              </a:rPr>
              <a:t>Make the change visible.</a:t>
            </a:r>
            <a:endParaRPr lang="en-US" sz="3700" dirty="0"/>
          </a:p>
          <a:p>
            <a:pPr marL="0" indent="0">
              <a:buNone/>
            </a:pPr>
            <a:r>
              <a:rPr lang="en-US" sz="3700" b="1" dirty="0">
                <a:solidFill>
                  <a:srgbClr val="FFFFFF"/>
                </a:solidFill>
                <a:latin typeface="Aptos Display" pitchFamily="34" charset="0"/>
                <a:ea typeface="Aptos Display" pitchFamily="34" charset="-122"/>
                <a:cs typeface="Aptos Display" pitchFamily="34" charset="-120"/>
              </a:rPr>
              <a:t>Keep the decision human.</a:t>
            </a:r>
            <a:endParaRPr lang="en-US" sz="3700" dirty="0"/>
          </a:p>
        </p:txBody>
      </p:sp>
      <p:sp>
        <p:nvSpPr>
          <p:cNvPr id="8" name="Shape 5"/>
          <p:cNvSpPr/>
          <p:nvPr/>
        </p:nvSpPr>
        <p:spPr>
          <a:xfrm>
            <a:off x="7114032" y="1463040"/>
            <a:ext cx="4407408" cy="1600200"/>
          </a:xfrm>
          <a:prstGeom prst="roundRect">
            <a:avLst>
              <a:gd name="adj" fmla="val 4000"/>
            </a:avLst>
          </a:prstGeom>
          <a:solidFill>
            <a:srgbClr val="DAFBE1"/>
          </a:solidFill>
          <a:ln w="12700">
            <a:solidFill>
              <a:srgbClr val="1A7F37"/>
            </a:solidFill>
            <a:prstDash val="solid"/>
          </a:ln>
        </p:spPr>
        <p:txBody>
          <a:bodyPr/>
          <a:lstStyle/>
          <a:p>
            <a:endParaRPr lang="en-US"/>
          </a:p>
        </p:txBody>
      </p:sp>
      <p:sp>
        <p:nvSpPr>
          <p:cNvPr id="9" name="Text 6"/>
          <p:cNvSpPr/>
          <p:nvPr/>
        </p:nvSpPr>
        <p:spPr>
          <a:xfrm>
            <a:off x="7370064" y="1673352"/>
            <a:ext cx="3895344" cy="274320"/>
          </a:xfrm>
          <a:prstGeom prst="rect">
            <a:avLst/>
          </a:prstGeom>
          <a:noFill/>
          <a:ln/>
        </p:spPr>
        <p:txBody>
          <a:bodyPr wrap="square" lIns="0" tIns="0" rIns="0" bIns="0" rtlCol="0" anchor="ctr"/>
          <a:lstStyle/>
          <a:p>
            <a:pPr marL="0" indent="0">
              <a:buNone/>
            </a:pPr>
            <a:r>
              <a:rPr lang="en-US" sz="1800" b="1" dirty="0">
                <a:solidFill>
                  <a:srgbClr val="0D1117"/>
                </a:solidFill>
                <a:latin typeface="Aptos Display" pitchFamily="34" charset="0"/>
                <a:ea typeface="Aptos Display" pitchFamily="34" charset="-122"/>
                <a:cs typeface="Aptos Display" pitchFamily="34" charset="-120"/>
              </a:rPr>
              <a:t>GitHub supports</a:t>
            </a:r>
            <a:endParaRPr lang="en-US" sz="1800" dirty="0"/>
          </a:p>
        </p:txBody>
      </p:sp>
      <p:sp>
        <p:nvSpPr>
          <p:cNvPr id="10" name="Text 7"/>
          <p:cNvSpPr/>
          <p:nvPr/>
        </p:nvSpPr>
        <p:spPr>
          <a:xfrm>
            <a:off x="7370064" y="2103120"/>
            <a:ext cx="3895344" cy="749808"/>
          </a:xfrm>
          <a:prstGeom prst="rect">
            <a:avLst/>
          </a:prstGeom>
          <a:noFill/>
          <a:ln/>
        </p:spPr>
        <p:txBody>
          <a:bodyPr wrap="square" lIns="0" tIns="0" rIns="0" bIns="0" rtlCol="0" anchor="t"/>
          <a:lstStyle/>
          <a:p>
            <a:pPr marL="0" indent="0">
              <a:buNone/>
            </a:pPr>
            <a:r>
              <a:rPr lang="en-US" sz="1300" dirty="0">
                <a:solidFill>
                  <a:srgbClr val="57606A"/>
                </a:solidFill>
                <a:latin typeface="Aptos" pitchFamily="34" charset="0"/>
                <a:ea typeface="Aptos" pitchFamily="34" charset="-122"/>
                <a:cs typeface="Aptos" pitchFamily="34" charset="-120"/>
              </a:rPr>
              <a:t>History, recovery, collaboration, permissions, checks, and review evidence.</a:t>
            </a:r>
            <a:endParaRPr lang="en-US" sz="1300" dirty="0"/>
          </a:p>
        </p:txBody>
      </p:sp>
      <p:sp>
        <p:nvSpPr>
          <p:cNvPr id="11" name="Shape 8"/>
          <p:cNvSpPr/>
          <p:nvPr/>
        </p:nvSpPr>
        <p:spPr>
          <a:xfrm>
            <a:off x="7114032" y="3401568"/>
            <a:ext cx="4407408" cy="1600200"/>
          </a:xfrm>
          <a:prstGeom prst="roundRect">
            <a:avLst>
              <a:gd name="adj" fmla="val 4000"/>
            </a:avLst>
          </a:prstGeom>
          <a:solidFill>
            <a:srgbClr val="FFEBE9"/>
          </a:solidFill>
          <a:ln w="12700">
            <a:solidFill>
              <a:srgbClr val="CF222E"/>
            </a:solidFill>
            <a:prstDash val="solid"/>
          </a:ln>
        </p:spPr>
        <p:txBody>
          <a:bodyPr/>
          <a:lstStyle/>
          <a:p>
            <a:endParaRPr lang="en-US"/>
          </a:p>
        </p:txBody>
      </p:sp>
      <p:sp>
        <p:nvSpPr>
          <p:cNvPr id="12" name="Text 9"/>
          <p:cNvSpPr/>
          <p:nvPr/>
        </p:nvSpPr>
        <p:spPr>
          <a:xfrm>
            <a:off x="7370064" y="3611880"/>
            <a:ext cx="3895344" cy="274320"/>
          </a:xfrm>
          <a:prstGeom prst="rect">
            <a:avLst/>
          </a:prstGeom>
          <a:noFill/>
          <a:ln/>
        </p:spPr>
        <p:txBody>
          <a:bodyPr wrap="square" lIns="0" tIns="0" rIns="0" bIns="0" rtlCol="0" anchor="ctr"/>
          <a:lstStyle/>
          <a:p>
            <a:pPr marL="0" indent="0">
              <a:buNone/>
            </a:pPr>
            <a:r>
              <a:rPr lang="en-US" sz="1800" b="1" dirty="0">
                <a:solidFill>
                  <a:srgbClr val="0D1117"/>
                </a:solidFill>
                <a:latin typeface="Aptos Display" pitchFamily="34" charset="0"/>
                <a:ea typeface="Aptos Display" pitchFamily="34" charset="-122"/>
                <a:cs typeface="Aptos Display" pitchFamily="34" charset="-120"/>
              </a:rPr>
              <a:t>GitHub does not replace</a:t>
            </a:r>
            <a:endParaRPr lang="en-US" sz="1800" dirty="0"/>
          </a:p>
        </p:txBody>
      </p:sp>
      <p:sp>
        <p:nvSpPr>
          <p:cNvPr id="13" name="Text 10"/>
          <p:cNvSpPr/>
          <p:nvPr/>
        </p:nvSpPr>
        <p:spPr>
          <a:xfrm>
            <a:off x="7370064" y="4041648"/>
            <a:ext cx="3895344" cy="749808"/>
          </a:xfrm>
          <a:prstGeom prst="rect">
            <a:avLst/>
          </a:prstGeom>
          <a:noFill/>
          <a:ln/>
        </p:spPr>
        <p:txBody>
          <a:bodyPr wrap="square" lIns="0" tIns="0" rIns="0" bIns="0" rtlCol="0" anchor="t"/>
          <a:lstStyle/>
          <a:p>
            <a:pPr marL="0" indent="0">
              <a:buNone/>
            </a:pPr>
            <a:r>
              <a:rPr lang="en-US" sz="1300" dirty="0">
                <a:solidFill>
                  <a:srgbClr val="57606A"/>
                </a:solidFill>
                <a:latin typeface="Aptos" pitchFamily="34" charset="0"/>
                <a:ea typeface="Aptos" pitchFamily="34" charset="-122"/>
                <a:cs typeface="Aptos" pitchFamily="34" charset="-120"/>
              </a:rPr>
              <a:t>Gilead SOPs, validation, data controls, scientific judgment, or formal approval.</a:t>
            </a:r>
            <a:endParaRPr lang="en-US" sz="1300" dirty="0"/>
          </a:p>
        </p:txBody>
      </p:sp>
      <p:sp>
        <p:nvSpPr>
          <p:cNvPr id="14" name="Text 11"/>
          <p:cNvSpPr/>
          <p:nvPr/>
        </p:nvSpPr>
        <p:spPr>
          <a:xfrm>
            <a:off x="594360" y="4983480"/>
            <a:ext cx="5989320" cy="713232"/>
          </a:xfrm>
          <a:prstGeom prst="rect">
            <a:avLst/>
          </a:prstGeom>
          <a:noFill/>
          <a:ln/>
        </p:spPr>
        <p:txBody>
          <a:bodyPr wrap="square" lIns="0" tIns="0" rIns="0" bIns="0" rtlCol="0" anchor="ctr"/>
          <a:lstStyle/>
          <a:p>
            <a:pPr marL="0" indent="0">
              <a:buNone/>
            </a:pPr>
            <a:r>
              <a:rPr lang="en-US" sz="1700" dirty="0">
                <a:solidFill>
                  <a:srgbClr val="B1BAC4"/>
                </a:solidFill>
                <a:latin typeface="Aptos" pitchFamily="34" charset="0"/>
                <a:ea typeface="Aptos" pitchFamily="34" charset="-122"/>
                <a:cs typeface="Aptos" pitchFamily="34" charset="-120"/>
              </a:rPr>
              <a:t>Next: use local VS Code Agent mode, then review the proposed change.</a:t>
            </a:r>
            <a:endParaRPr lang="en-US" sz="1700" dirty="0"/>
          </a:p>
        </p:txBody>
      </p:sp>
      <p:sp>
        <p:nvSpPr>
          <p:cNvPr id="15" name="Text 12"/>
          <p:cNvSpPr/>
          <p:nvPr/>
        </p:nvSpPr>
        <p:spPr>
          <a:xfrm>
            <a:off x="502920" y="6519672"/>
            <a:ext cx="3840480" cy="146304"/>
          </a:xfrm>
          <a:prstGeom prst="rect">
            <a:avLst/>
          </a:prstGeom>
          <a:noFill/>
          <a:ln/>
        </p:spPr>
        <p:txBody>
          <a:bodyPr wrap="square" lIns="0" tIns="0" rIns="0" bIns="0" rtlCol="0" anchor="ctr"/>
          <a:lstStyle/>
          <a:p>
            <a:pPr marL="0" indent="0">
              <a:buNone/>
            </a:pPr>
            <a:r>
              <a:rPr lang="en-US" sz="800" dirty="0">
                <a:solidFill>
                  <a:srgbClr val="B1BAC4"/>
                </a:solidFill>
                <a:latin typeface="Aptos" pitchFamily="34" charset="0"/>
                <a:ea typeface="Aptos" pitchFamily="34" charset="-122"/>
                <a:cs typeface="Aptos" pitchFamily="34" charset="-120"/>
              </a:rPr>
              <a:t>GitHub Foundations | Gilead DSS</a:t>
            </a:r>
            <a:endParaRPr lang="en-US" sz="800" dirty="0"/>
          </a:p>
        </p:txBody>
      </p:sp>
      <p:sp>
        <p:nvSpPr>
          <p:cNvPr id="16" name="Text 13">
            <a:hlinkClick r:id="rId4"/>
          </p:cNvPr>
          <p:cNvSpPr/>
          <p:nvPr/>
        </p:nvSpPr>
        <p:spPr>
          <a:xfrm>
            <a:off x="5623560" y="6519672"/>
            <a:ext cx="5897880" cy="146304"/>
          </a:xfrm>
          <a:prstGeom prst="rect">
            <a:avLst/>
          </a:prstGeom>
          <a:noFill/>
          <a:ln/>
        </p:spPr>
        <p:txBody>
          <a:bodyPr wrap="square" lIns="0" tIns="0" rIns="0" bIns="0" rtlCol="0" anchor="ctr"/>
          <a:lstStyle/>
          <a:p>
            <a:pPr marL="0" indent="0" algn="r">
              <a:buNone/>
            </a:pPr>
            <a:r>
              <a:rPr lang="en-US" sz="800" u="sng" dirty="0">
                <a:solidFill>
                  <a:srgbClr val="B1BAC4"/>
                </a:solidFill>
                <a:latin typeface="Courier New" pitchFamily="34" charset="0"/>
                <a:ea typeface="Courier New" pitchFamily="34" charset="-122"/>
                <a:cs typeface="Courier New" pitchFamily="34" charset="-120"/>
                <a:hlinkClick r:id="rId4">
                  <a:extLst>
                    <a:ext uri="{A12FA001-AC4F-418D-AE19-62706E023703}">
                      <ahyp:hlinkClr xmlns:ahyp="http://schemas.microsoft.com/office/drawing/2018/hyperlinkcolor" val="tx"/>
                    </a:ext>
                  </a:extLst>
                </a:hlinkClick>
              </a:rPr>
              <a:t>github.com/johnsont1693/scientific-workflow-workshop</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dss2026/assets/bg_molecule_full.png"/>
          <p:cNvPicPr>
            <a:picLocks noChangeAspect="1"/>
          </p:cNvPicPr>
          <p:nvPr/>
        </p:nvPicPr>
        <p:blipFill>
          <a:blip r:embed="rId3"/>
          <a:stretch>
            <a:fillRect/>
          </a:stretch>
        </p:blipFill>
        <p:spPr>
          <a:xfrm>
            <a:off x="0" y="0"/>
            <a:ext cx="12191695" cy="6858000"/>
          </a:xfrm>
          <a:prstGeom prst="rect">
            <a:avLst/>
          </a:prstGeom>
        </p:spPr>
      </p:pic>
      <p:pic>
        <p:nvPicPr>
          <p:cNvPr id="3" name="Image 1" descr="/home/claude/dss2026/assets/icon_ds_transparent.png"/>
          <p:cNvPicPr>
            <a:picLocks noChangeAspect="1"/>
          </p:cNvPicPr>
          <p:nvPr/>
        </p:nvPicPr>
        <p:blipFill>
          <a:blip r:embed="rId4"/>
          <a:stretch>
            <a:fillRect/>
          </a:stretch>
        </p:blipFill>
        <p:spPr>
          <a:xfrm>
            <a:off x="149134" y="363220"/>
            <a:ext cx="3246120" cy="1737360"/>
          </a:xfrm>
          <a:prstGeom prst="rect">
            <a:avLst/>
          </a:prstGeom>
        </p:spPr>
      </p:pic>
      <p:sp>
        <p:nvSpPr>
          <p:cNvPr id="4" name="Text 0"/>
          <p:cNvSpPr/>
          <p:nvPr/>
        </p:nvSpPr>
        <p:spPr>
          <a:xfrm>
            <a:off x="3623854" y="317500"/>
            <a:ext cx="7589520" cy="868680"/>
          </a:xfrm>
          <a:prstGeom prst="rect">
            <a:avLst/>
          </a:prstGeom>
          <a:noFill/>
          <a:ln/>
        </p:spPr>
        <p:txBody>
          <a:bodyPr wrap="square" lIns="0" tIns="0" rIns="0" bIns="0" rtlCol="0" anchor="ctr"/>
          <a:lstStyle/>
          <a:p>
            <a:pPr marL="0" indent="0">
              <a:buNone/>
            </a:pPr>
            <a:r>
              <a:rPr lang="en-US" sz="5200" b="1">
                <a:solidFill>
                  <a:srgbClr val="FFFFFF"/>
                </a:solidFill>
                <a:latin typeface="Arial" pitchFamily="34" charset="0"/>
                <a:ea typeface="Arial" pitchFamily="34" charset="-122"/>
                <a:cs typeface="Arial" pitchFamily="34" charset="-120"/>
              </a:rPr>
              <a:t>Data Science</a:t>
            </a:r>
            <a:endParaRPr lang="en-US" sz="5200"/>
          </a:p>
        </p:txBody>
      </p:sp>
      <p:sp>
        <p:nvSpPr>
          <p:cNvPr id="5" name="Text 1"/>
          <p:cNvSpPr/>
          <p:nvPr/>
        </p:nvSpPr>
        <p:spPr>
          <a:xfrm>
            <a:off x="3669574" y="1231900"/>
            <a:ext cx="7589520" cy="502920"/>
          </a:xfrm>
          <a:prstGeom prst="rect">
            <a:avLst/>
          </a:prstGeom>
          <a:noFill/>
          <a:ln/>
        </p:spPr>
        <p:txBody>
          <a:bodyPr wrap="square" lIns="0" tIns="0" rIns="0" bIns="0" rtlCol="0" anchor="ctr"/>
          <a:lstStyle/>
          <a:p>
            <a:r>
              <a:rPr lang="en-US" sz="2600" kern="0" spc="400">
                <a:solidFill>
                  <a:srgbClr val="FFFFFF"/>
                </a:solidFill>
                <a:latin typeface="Arial"/>
                <a:ea typeface="Arial" pitchFamily="34" charset="-122"/>
                <a:cs typeface="Arial"/>
              </a:rPr>
              <a:t>SYMPOSIUM Day 2 Feedback</a:t>
            </a:r>
            <a:endParaRPr lang="en-US" sz="2600"/>
          </a:p>
        </p:txBody>
      </p:sp>
      <p:pic>
        <p:nvPicPr>
          <p:cNvPr id="6" name="Image 2" descr="/home/claude/dss2026/assets/logo_white_red.png"/>
          <p:cNvPicPr>
            <a:picLocks noChangeAspect="1"/>
          </p:cNvPicPr>
          <p:nvPr/>
        </p:nvPicPr>
        <p:blipFill>
          <a:blip r:embed="rId5"/>
          <a:stretch>
            <a:fillRect/>
          </a:stretch>
        </p:blipFill>
        <p:spPr>
          <a:xfrm>
            <a:off x="10561320" y="6172200"/>
            <a:ext cx="1508760" cy="548640"/>
          </a:xfrm>
          <a:prstGeom prst="rect">
            <a:avLst/>
          </a:prstGeom>
        </p:spPr>
      </p:pic>
      <p:pic>
        <p:nvPicPr>
          <p:cNvPr id="8" name="Picture 7">
            <a:extLst>
              <a:ext uri="{FF2B5EF4-FFF2-40B4-BE49-F238E27FC236}">
                <a16:creationId xmlns:a16="http://schemas.microsoft.com/office/drawing/2014/main" id="{BAA2EE10-1D17-FAC5-7734-1F3AD29C30C5}"/>
              </a:ext>
            </a:extLst>
          </p:cNvPr>
          <p:cNvPicPr>
            <a:picLocks noChangeAspect="1"/>
          </p:cNvPicPr>
          <p:nvPr/>
        </p:nvPicPr>
        <p:blipFill>
          <a:blip r:embed="rId6"/>
          <a:stretch>
            <a:fillRect/>
          </a:stretch>
        </p:blipFill>
        <p:spPr>
          <a:xfrm>
            <a:off x="368948" y="5090942"/>
            <a:ext cx="4689930" cy="852086"/>
          </a:xfrm>
          <a:prstGeom prst="rect">
            <a:avLst/>
          </a:prstGeom>
        </p:spPr>
      </p:pic>
      <p:sp>
        <p:nvSpPr>
          <p:cNvPr id="10" name="Shape 16">
            <a:extLst>
              <a:ext uri="{FF2B5EF4-FFF2-40B4-BE49-F238E27FC236}">
                <a16:creationId xmlns:a16="http://schemas.microsoft.com/office/drawing/2014/main" id="{A9A55D89-5F2F-A2D5-FA06-0EFFC3C2CBE6}"/>
              </a:ext>
            </a:extLst>
          </p:cNvPr>
          <p:cNvSpPr/>
          <p:nvPr/>
        </p:nvSpPr>
        <p:spPr>
          <a:xfrm>
            <a:off x="5290578" y="2622913"/>
            <a:ext cx="1779814" cy="1607457"/>
          </a:xfrm>
          <a:prstGeom prst="roundRect">
            <a:avLst>
              <a:gd name="adj" fmla="val 4000"/>
            </a:avLst>
          </a:prstGeom>
          <a:solidFill>
            <a:srgbClr val="FFFFFF"/>
          </a:solidFill>
          <a:ln w="15875">
            <a:solidFill>
              <a:srgbClr val="B9C1CC"/>
            </a:solidFill>
            <a:prstDash val="dash"/>
          </a:ln>
        </p:spPr>
        <p:txBody>
          <a:bodyPr/>
          <a:lstStyle/>
          <a:p>
            <a:endParaRPr lang="en-US"/>
          </a:p>
        </p:txBody>
      </p:sp>
      <p:pic>
        <p:nvPicPr>
          <p:cNvPr id="9" name="Picture 8">
            <a:extLst>
              <a:ext uri="{FF2B5EF4-FFF2-40B4-BE49-F238E27FC236}">
                <a16:creationId xmlns:a16="http://schemas.microsoft.com/office/drawing/2014/main" id="{C1D8F03E-A432-D769-A001-1AAF4F1F6A72}"/>
              </a:ext>
            </a:extLst>
          </p:cNvPr>
          <p:cNvPicPr>
            <a:picLocks noChangeAspect="1"/>
          </p:cNvPicPr>
          <p:nvPr/>
        </p:nvPicPr>
        <p:blipFill>
          <a:blip r:embed="rId7"/>
          <a:stretch>
            <a:fillRect/>
          </a:stretch>
        </p:blipFill>
        <p:spPr>
          <a:xfrm>
            <a:off x="4802917" y="2059663"/>
            <a:ext cx="2759692" cy="2731130"/>
          </a:xfrm>
          <a:prstGeom prst="rect">
            <a:avLst/>
          </a:prstGeom>
        </p:spPr>
      </p:pic>
    </p:spTree>
    <p:extLst>
      <p:ext uri="{BB962C8B-B14F-4D97-AF65-F5344CB8AC3E}">
        <p14:creationId xmlns:p14="http://schemas.microsoft.com/office/powerpoint/2010/main" val="34214870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13</TotalTime>
  <Words>3225</Words>
  <Application>Microsoft Office PowerPoint</Application>
  <PresentationFormat>Widescreen</PresentationFormat>
  <Paragraphs>340</Paragraphs>
  <Slides>18</Slides>
  <Notes>17</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18</vt:i4>
      </vt:variant>
    </vt:vector>
  </HeadingPairs>
  <TitlesOfParts>
    <vt:vector size="25" baseType="lpstr">
      <vt:lpstr>Aptos</vt:lpstr>
      <vt:lpstr>Aptos Display</vt:lpstr>
      <vt:lpstr>Arial</vt:lpstr>
      <vt:lpstr>Calibri</vt:lpstr>
      <vt:lpstr>Courier New</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GitHub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GitHub Foundations for Scientific Work</dc:title>
  <dc:subject>Browser-first beginner workshop for Gilead DSS</dc:subject>
  <dc:creator>GitHub</dc:creator>
  <cp:lastModifiedBy>Thomas Johnson</cp:lastModifiedBy>
  <cp:revision>7</cp:revision>
  <dcterms:created xsi:type="dcterms:W3CDTF">2026-09-28T18:41:44Z</dcterms:created>
  <dcterms:modified xsi:type="dcterms:W3CDTF">2026-10-07T15:35:10Z</dcterms:modified>
</cp:coreProperties>
</file>