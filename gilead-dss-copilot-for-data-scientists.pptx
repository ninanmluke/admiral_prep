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3"/>
  </p:notesMasterIdLst>
  <p:sldIdLst>
    <p:sldId id="256" r:id="rId3"/>
    <p:sldId id="257" r:id="rId4"/>
    <p:sldId id="270" r:id="rId5"/>
    <p:sldId id="258" r:id="rId6"/>
    <p:sldId id="259" r:id="rId7"/>
    <p:sldId id="260" r:id="rId8"/>
    <p:sldId id="275" r:id="rId9"/>
    <p:sldId id="273" r:id="rId10"/>
    <p:sldId id="261" r:id="rId11"/>
    <p:sldId id="262" r:id="rId12"/>
    <p:sldId id="274" r:id="rId13"/>
    <p:sldId id="263" r:id="rId14"/>
    <p:sldId id="264" r:id="rId15"/>
    <p:sldId id="265" r:id="rId16"/>
    <p:sldId id="266" r:id="rId17"/>
    <p:sldId id="267" r:id="rId18"/>
    <p:sldId id="268" r:id="rId19"/>
    <p:sldId id="269" r:id="rId20"/>
    <p:sldId id="276" r:id="rId21"/>
    <p:sldId id="27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6"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832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 minutes.
Thomas Johnson delivers all four workshop sessions on October 7, 2026. The advanced session uses local VS Code GitHub Copilot Agent mode, not Cloud Agent. Prior GitHub experience is expected. The public teaching reference is publicly readable; hands-on work belongs in a provisioned Gilead-managed working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
Participants create a bounded issue, use VS Code Agent mode locally, inspect evidence, and retain the human decision. Cloud Agent is not currently enabled at Gilead. Copilot PR review is enabled and distinct from implementation. Do not merge workshop pull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a:t>
            </a:r>
          </a:p>
          <a:p>
            <a:r>
              <a:rPr lang="en-US"/>
              <a:t>Gilead standards supplied by Kevin Cox on October 2. Treat AI output as a suggestion, never final approval. ASDS must explicitly review and approve sensitive-data use. Local Agent mode edits and runs tools locally, but approved context may still be processed by cloud model services; it is not offline. Copilot PR review remains enabled and separate from Cloud Agent. Use only synthetic workshop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
Move quickly through repository, issue, branch, commit, pull request and review. Copilot assists with local changes; humans define the task and own publication. This is not a browser-only advanced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 minutes.
Open workshop/vscode-agent-task.md and workshop/02-copilot-vscode-agent-lab.md in the approved working repository. Read requirements/analysis-requirements.md, reference/controlled-terminology.md, all three implementations, checks/expected-output.md and tests/test_ae_summary.py. Baseline AE-3 includes SEVERE only (two records); the task includes LIFE THREATENING too (four records: 003, 004, 006, 007). Preserve output columns/order and synthetic data. Predict the six files to change; scientific appropriateness still requires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
Create an Analysis change issue in the approved working repository using a unique pair identifier. Keep it human-owned; do not assign it to Copilot. Transfer objective, context, constraints, acceptance criteria and human questions from workshop/vscode-agent-task.md. Have pairs improve ambiguity before delegation. The reference repository is not a public write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 minutes.</a:t>
            </a:r>
          </a:p>
          <a:p>
            <a:r>
              <a:rPr lang="en-US"/>
              <a:t>A prompt should specify goal, evidence, constraints, acceptance criteria and a human checkpoint. Avoid vague asks such as Fix this analysis. Point to the real task instead of inventing context. Explain why the four-record expectation is grounded in the task and synthetic data, not something the model should assume. The next slide shows exactly which three files to attach and which seven evidence files the task names. Ask for a plan first: no file edits or commands yet. Ask what is missing or ambiguous, then refine one bounded request. After approval inspect tool requests, diffs and actual test output. Do not ask the agent to commit, push, open a PR, bypass a check or make the scientific decision. No sensitive context without Gilead approval; local execution is not offline model processing. This slide adds prompt quality; the next slide supplies context, and the local-agent slide puts both into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 minutes.</a:t>
            </a:r>
          </a:p>
          <a:p>
            <a:r>
              <a:rPr lang="en-US"/>
              <a:t>The task and context are files in the participant's approved local working copy. Open Chat and choose Add Context &gt; Files, or drag the three named files from VS Code Explorer. Ask the agent to read all seven evidence files listed in workshop/vscode-agent-task.md: requirements/analysis-requirements.md; reference/controlled-terminology.md; analysis/ae_summary.py; analysis/ae_summary.R; analysis/ae_summary.sas; checks/expected-output.md; tests/test_ae_summary.py. If it cannot locate any file, attach that file explicitly. Do not assume a GitHub issue link grants access. Paste only synthetic task details. Prompt: Read these instructions and the evidence files. Propose the smallest plan. Identify assumptions and human questions. Do not edit files or run commands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 minutes.
Open the approved local clone in VS Code. The human first creates copilot/&lt;pair-id&gt;-ae-summary. Run python scripts/validate.py for the baseline. Open Copilot Chat, choose Agent and an approved model, then attach AGENTS.md, .github/copilot-instructions.md, workshop/vscode-agent-task.md and relevant files. Prompt: Read the bounded task and repository instructions. Research and propose the smallest plan. Do not edit, run commands, create branches, commit, push or open a PR yet. List assumptions and human questions. Wait for my approval. Inspect every tool request. Local execution is not offline: approved context may be sent to the model service. Do not start a cloud coding-agent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a:t>
            </a:r>
          </a:p>
          <a:p>
            <a:r>
              <a:rPr lang="en-US"/>
              <a:t>Review the local plan before implementation. Confirm all six affected files and only those files, exact terminology, preserved columns, required validation and unresolved scientific questions. Compare requirement identifiers in headers/docstrings. Refine missing scope. Do not edit or run implementation commands until the participant approves the bounded plan and tools. Then follow the next slide's local implementation and evidence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 minutes.</a:t>
            </a:r>
          </a:p>
          <a:p>
            <a:r>
              <a:rPr lang="en-US"/>
              <a:t>Follow Part 3 of workshop/02-copilot-vscode-agent-lab.md. After explicit human plan approval, implement only the bounded task, preserving columns USUBJID, AETERM, AESEV in order. Compare all six changed files: requirement, three language examples, expected output and tests. Terminology is reference context, not a required changed file. Run python scripts/validate.py, python analysis/ae_summary.py, git diff --check and git diff. Baseline output is two SEVERE records 003 and 006; after the exercise it is four records 003,004,006,007 with SEVERE or LIFE THREATENING. Record actual results. Python tests do not run SAS/R, CodeQL, secret scanning or dependency scans. The teaching Actions workflow is SHA-pinned/read-only but is not proof of Gilead approval or an approved runtime-deployment pipeline. Required Gilead security, peer-review and validation gates remain mandatory. Do not solve the lab in the reference main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10 minutes.
The human inspects the local diff, stages only intended files, commits with an intent-focused message and pushes to the approved working repository. Verify the remote and PR base; never push to the reference or upstream by accident. Open the PR, complete its template, link the issue, and record actual commands, results and unresolved scientific questions. The mockup is illustrative, not an existing PR or passing-check claim. Inspect actual checks; if a required gate is unavailable leave the PR open. A facilitator-prepared backup PR may be used if available, not assumed to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 minutes.
Form a human view of the diff first. Request GitHub Copilot PR code review from Reviewers where available in the approved repository. Kevin confirms this capability is enabled at Gilead. If unavailable for this repository, record the limitation and use a permitted facilitator demonstration or human review checklist; do not change policy or activate Cloud Agent. AI comments never replace required peer review, scans or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 minutes.
Classify comments as useful, plausible-but-unverified or irrelevant. Act only when evidence supports the suggestion and it preserves task scope. Do not maximize accepted suggestions or weaken tests to obtain a green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 minutes.</a:t>
            </a:r>
          </a:p>
          <a:p>
            <a:r>
              <a:rPr lang="en-US"/>
              <a:t>Triage one justified review comment, then fix manually or with local VS Code Agent mode. Do not use Fix with Copilot if it starts the disabled Cloud Agent. Reinspect the diff and rerun tests; the human commits and pushes. Required checks and human review are not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 minutes.
Record a human decision with rationale linked to the issue, diff, actual checks and remaining scientific questions. Ready for further validation is not production approval. Leave workshop PRs unmerged.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
Recap issue, reviewed local plan, human branch, local edits/tests, human-created PR, Copilot review and final human decision. Ask for one bounded local-agent task and one decision that cannot be delegated.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 minutes.
Close with the three takeaways. The public teaching reference is https://github.com/johnsont1693/scientific-workflow-workshop. Use the Gilead-approved working copy for exercises. Capture licensing/configuration questions without bypassing policy. The original Gilead Day 2 feedback QR slide follows, with its design unchanged.</a:t>
            </a:r>
          </a:p>
          <a:p>
            <a:r>
              <a:rPr lang="en-US"/>
              <a:t>The closing minute includes transition to the unchanged Day 2 feedback QR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Screenshot provided by the presenter. Show the GitHub Access Management form for GitHub Copilot enablement. The form requests a GitHub user ID, which differs from the Gilead user ID. The displayed estimated delivery date is part of the supplied screenshot, not a promise of current fulfillment time.</a:t>
            </a:r>
          </a:p>
        </p:txBody>
      </p:sp>
    </p:spTree>
    <p:extLst>
      <p:ext uri="{BB962C8B-B14F-4D97-AF65-F5344CB8AC3E}">
        <p14:creationId xmlns:p14="http://schemas.microsoft.com/office/powerpoint/2010/main" val="29569323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In 309 C</a:t>
            </a:r>
            <a:endParaRPr lang="en-US"/>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77248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0937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60480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413370"/>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docs.github.com/copilot" TargetMode="External"/><Relationship Id="rId4" Type="http://schemas.openxmlformats.org/officeDocument/2006/relationships/hyperlink" Target="https://github.com/johnsont1693/scientific-workflow-workshop"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66928" y="1170432"/>
            <a:ext cx="4572000" cy="219456"/>
          </a:xfrm>
          <a:prstGeom prst="rect">
            <a:avLst/>
          </a:prstGeom>
          <a:noFill/>
          <a:ln/>
        </p:spPr>
        <p:txBody>
          <a:bodyPr wrap="square" lIns="0" tIns="0" rIns="0" bIns="0" rtlCol="0" anchor="ctr"/>
          <a:lstStyle/>
          <a:p>
            <a:pPr marL="0" indent="0">
              <a:buNone/>
            </a:pPr>
            <a:r>
              <a:rPr lang="en-US" sz="1000" b="1" kern="0" spc="170" dirty="0">
                <a:solidFill>
                  <a:srgbClr val="8250DF"/>
                </a:solidFill>
                <a:latin typeface="Aptos" pitchFamily="34" charset="0"/>
                <a:ea typeface="Aptos" pitchFamily="34" charset="-122"/>
                <a:cs typeface="Aptos" pitchFamily="34" charset="-120"/>
              </a:rPr>
              <a:t>ADVANCED WORKSHOP | 90 MINUTES</a:t>
            </a:r>
            <a:endParaRPr lang="en-US" sz="1000" dirty="0"/>
          </a:p>
        </p:txBody>
      </p:sp>
      <p:sp>
        <p:nvSpPr>
          <p:cNvPr id="6" name="Text 3"/>
          <p:cNvSpPr/>
          <p:nvPr/>
        </p:nvSpPr>
        <p:spPr>
          <a:xfrm>
            <a:off x="548640" y="1572768"/>
            <a:ext cx="6446520" cy="1536192"/>
          </a:xfrm>
          <a:prstGeom prst="rect">
            <a:avLst/>
          </a:prstGeom>
          <a:noFill/>
          <a:ln/>
        </p:spPr>
        <p:txBody>
          <a:bodyPr wrap="square" lIns="0" tIns="0" rIns="0" bIns="0" rtlCol="0" anchor="ct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GitHub Copilot</a:t>
            </a:r>
            <a:endParaRPr lang="en-US" sz="4200" dirty="0"/>
          </a:p>
          <a:p>
            <a:pPr marL="0" indent="0">
              <a:buNone/>
            </a:pPr>
            <a:r>
              <a:rPr lang="en-US" sz="4200" b="1" dirty="0">
                <a:solidFill>
                  <a:srgbClr val="FFFFFF"/>
                </a:solidFill>
                <a:latin typeface="Aptos Display" pitchFamily="34" charset="0"/>
                <a:ea typeface="Aptos Display" pitchFamily="34" charset="-122"/>
                <a:cs typeface="Aptos Display" pitchFamily="34" charset="-120"/>
              </a:rPr>
              <a:t>for data scientists</a:t>
            </a:r>
            <a:endParaRPr lang="en-US" sz="4200" dirty="0"/>
          </a:p>
        </p:txBody>
      </p:sp>
      <p:sp>
        <p:nvSpPr>
          <p:cNvPr id="7" name="Text 4"/>
          <p:cNvSpPr/>
          <p:nvPr/>
        </p:nvSpPr>
        <p:spPr>
          <a:xfrm>
            <a:off x="585216" y="3364992"/>
            <a:ext cx="5943600" cy="777240"/>
          </a:xfrm>
          <a:prstGeom prst="rect">
            <a:avLst/>
          </a:prstGeom>
          <a:noFill/>
          <a:ln/>
        </p:spPr>
        <p:txBody>
          <a:bodyPr wrap="square" lIns="0" tIns="0" rIns="0" bIns="0" rtlCol="0" anchor="ctr"/>
          <a:lstStyle/>
          <a:p>
            <a:pPr marL="0" indent="0">
              <a:buNone/>
            </a:pPr>
            <a:r>
              <a:rPr lang="en-US" sz="1900" dirty="0">
                <a:solidFill>
                  <a:srgbClr val="B1BAC4"/>
                </a:solidFill>
                <a:latin typeface="Aptos" pitchFamily="34" charset="0"/>
                <a:ea typeface="Aptos" pitchFamily="34" charset="-122"/>
                <a:cs typeface="Aptos" pitchFamily="34" charset="-120"/>
              </a:rPr>
              <a:t>From a bounded issue to a reviewed pull request with local VS Code Agent mode</a:t>
            </a:r>
            <a:endParaRPr lang="en-US" sz="1900" dirty="0"/>
          </a:p>
        </p:txBody>
      </p:sp>
      <p:sp>
        <p:nvSpPr>
          <p:cNvPr id="8" name="Text 5"/>
          <p:cNvSpPr/>
          <p:nvPr/>
        </p:nvSpPr>
        <p:spPr>
          <a:xfrm>
            <a:off x="585216" y="4416552"/>
            <a:ext cx="5943600" cy="256032"/>
          </a:xfrm>
          <a:prstGeom prst="rect">
            <a:avLst/>
          </a:prstGeom>
          <a:noFill/>
          <a:ln/>
        </p:spPr>
        <p:txBody>
          <a:bodyPr wrap="square" lIns="0" tIns="0" rIns="0" bIns="0" rtlCol="0" anchor="ctr"/>
          <a:lstStyle/>
          <a:p>
            <a:pPr marL="0" indent="0">
              <a:buNone/>
            </a:pPr>
            <a:r>
              <a:rPr lang="en-US" sz="1300" b="1" dirty="0">
                <a:solidFill>
                  <a:srgbClr val="FFFFFF"/>
                </a:solidFill>
                <a:latin typeface="Aptos" pitchFamily="34" charset="0"/>
                <a:ea typeface="Aptos" pitchFamily="34" charset="-122"/>
                <a:cs typeface="Aptos" pitchFamily="34" charset="-120"/>
              </a:rPr>
              <a:t>October 7, 2026 | Thomas Johnson</a:t>
            </a:r>
            <a:endParaRPr lang="en-US" sz="1300" dirty="0"/>
          </a:p>
        </p:txBody>
      </p:sp>
      <p:sp>
        <p:nvSpPr>
          <p:cNvPr id="9" name="Shape 6"/>
          <p:cNvSpPr/>
          <p:nvPr/>
        </p:nvSpPr>
        <p:spPr>
          <a:xfrm>
            <a:off x="7132320" y="1143000"/>
            <a:ext cx="4480560" cy="4526280"/>
          </a:xfrm>
          <a:prstGeom prst="roundRect">
            <a:avLst>
              <a:gd name="adj" fmla="val 2449"/>
            </a:avLst>
          </a:prstGeom>
          <a:solidFill>
            <a:srgbClr val="161B22"/>
          </a:solidFill>
          <a:ln w="12700">
            <a:solidFill>
              <a:srgbClr val="21262D"/>
            </a:solidFill>
            <a:prstDash val="solid"/>
          </a:ln>
        </p:spPr>
        <p:txBody>
          <a:bodyPr/>
          <a:lstStyle/>
          <a:p>
            <a:endParaRPr lang="en-US"/>
          </a:p>
        </p:txBody>
      </p:sp>
      <p:sp>
        <p:nvSpPr>
          <p:cNvPr id="10" name="Shape 7"/>
          <p:cNvSpPr/>
          <p:nvPr/>
        </p:nvSpPr>
        <p:spPr>
          <a:xfrm>
            <a:off x="7470648" y="1527048"/>
            <a:ext cx="3803904" cy="3182112"/>
          </a:xfrm>
          <a:prstGeom prst="roundRect">
            <a:avLst>
              <a:gd name="adj" fmla="val 2299"/>
            </a:avLst>
          </a:prstGeom>
          <a:solidFill>
            <a:srgbClr val="21262D"/>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11" name="Shape 8"/>
          <p:cNvSpPr/>
          <p:nvPr/>
        </p:nvSpPr>
        <p:spPr>
          <a:xfrm>
            <a:off x="7470648" y="1527048"/>
            <a:ext cx="3803904" cy="457200"/>
          </a:xfrm>
          <a:prstGeom prst="rect">
            <a:avLst/>
          </a:prstGeom>
          <a:solidFill>
            <a:srgbClr val="F6F8FA"/>
          </a:solidFill>
          <a:ln w="8890">
            <a:solidFill>
              <a:srgbClr val="D0D7DE"/>
            </a:solidFill>
            <a:prstDash val="solid"/>
          </a:ln>
        </p:spPr>
        <p:txBody>
          <a:bodyPr/>
          <a:lstStyle/>
          <a:p>
            <a:endParaRPr lang="en-US"/>
          </a:p>
        </p:txBody>
      </p:sp>
      <p:sp>
        <p:nvSpPr>
          <p:cNvPr id="12" name="Shape 9"/>
          <p:cNvSpPr/>
          <p:nvPr/>
        </p:nvSpPr>
        <p:spPr>
          <a:xfrm>
            <a:off x="7635240" y="169164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3" name="Shape 10"/>
          <p:cNvSpPr/>
          <p:nvPr/>
        </p:nvSpPr>
        <p:spPr>
          <a:xfrm>
            <a:off x="7836408" y="169164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4" name="Shape 11"/>
          <p:cNvSpPr/>
          <p:nvPr/>
        </p:nvSpPr>
        <p:spPr>
          <a:xfrm>
            <a:off x="8037576" y="169164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5" name="Shape 12"/>
          <p:cNvSpPr/>
          <p:nvPr/>
        </p:nvSpPr>
        <p:spPr>
          <a:xfrm>
            <a:off x="8311896" y="1627632"/>
            <a:ext cx="2743200"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6" name="Text 13"/>
          <p:cNvSpPr/>
          <p:nvPr/>
        </p:nvSpPr>
        <p:spPr>
          <a:xfrm>
            <a:off x="8458200" y="1700784"/>
            <a:ext cx="2450592" cy="91440"/>
          </a:xfrm>
          <a:prstGeom prst="rect">
            <a:avLst/>
          </a:prstGeom>
          <a:noFill/>
          <a:ln/>
        </p:spPr>
        <p:txBody>
          <a:bodyPr wrap="square" lIns="0" tIns="0" rIns="0" bIns="0" rtlCol="0" anchor="ctr"/>
          <a:lstStyle/>
          <a:p>
            <a:pPr marL="0" indent="0">
              <a:buNone/>
            </a:pPr>
            <a:r>
              <a:rPr lang="en-US" sz="720">
                <a:solidFill>
                  <a:srgbClr val="57606A"/>
                </a:solidFill>
                <a:latin typeface="Courier New" pitchFamily="34" charset="0"/>
                <a:ea typeface="Courier New" pitchFamily="34" charset="-122"/>
                <a:cs typeface="Courier New" pitchFamily="34" charset="-120"/>
              </a:rPr>
              <a:t>Public teaching reference</a:t>
            </a:r>
            <a:endParaRPr lang="en-US" sz="720" dirty="0"/>
          </a:p>
        </p:txBody>
      </p:sp>
      <p:sp>
        <p:nvSpPr>
          <p:cNvPr id="17" name="Text 14"/>
          <p:cNvSpPr/>
          <p:nvPr/>
        </p:nvSpPr>
        <p:spPr>
          <a:xfrm>
            <a:off x="7726680" y="2441448"/>
            <a:ext cx="3291840" cy="141732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Issue</a:t>
            </a:r>
            <a:endParaRPr lang="en-US" sz="2200" dirty="0"/>
          </a:p>
          <a:p>
            <a:pPr marL="0" indent="0">
              <a:buNone/>
            </a:pPr>
            <a:r>
              <a:rPr lang="en-US" sz="2200" b="1" dirty="0">
                <a:solidFill>
                  <a:srgbClr val="FFFFFF"/>
                </a:solidFill>
                <a:latin typeface="Aptos Display" pitchFamily="34" charset="0"/>
                <a:ea typeface="Aptos Display" pitchFamily="34" charset="-122"/>
                <a:cs typeface="Aptos Display" pitchFamily="34" charset="-120"/>
              </a:rPr>
              <a:t>-&gt; agent</a:t>
            </a:r>
            <a:endParaRPr lang="en-US" sz="2200" dirty="0"/>
          </a:p>
          <a:p>
            <a:pPr marL="0" indent="0">
              <a:buNone/>
            </a:pPr>
            <a:r>
              <a:rPr lang="en-US" sz="2200" b="1" dirty="0">
                <a:solidFill>
                  <a:srgbClr val="FFFFFF"/>
                </a:solidFill>
                <a:latin typeface="Aptos Display" pitchFamily="34" charset="0"/>
                <a:ea typeface="Aptos Display" pitchFamily="34" charset="-122"/>
                <a:cs typeface="Aptos Display" pitchFamily="34" charset="-120"/>
              </a:rPr>
              <a:t>-&gt; review</a:t>
            </a:r>
            <a:endParaRPr lang="en-US" sz="2200" dirty="0"/>
          </a:p>
        </p:txBody>
      </p:sp>
      <p:sp>
        <p:nvSpPr>
          <p:cNvPr id="18" name="Shape 15"/>
          <p:cNvSpPr/>
          <p:nvPr/>
        </p:nvSpPr>
        <p:spPr>
          <a:xfrm>
            <a:off x="7818120" y="4956048"/>
            <a:ext cx="3127248" cy="420624"/>
          </a:xfrm>
          <a:prstGeom prst="roundRect">
            <a:avLst>
              <a:gd name="adj" fmla="val 17391"/>
            </a:avLst>
          </a:prstGeom>
          <a:solidFill>
            <a:srgbClr val="8250DF"/>
          </a:solidFill>
          <a:ln w="12700">
            <a:solidFill>
              <a:srgbClr val="8250DF">
                <a:alpha val="0"/>
              </a:srgbClr>
            </a:solidFill>
            <a:prstDash val="solid"/>
          </a:ln>
        </p:spPr>
        <p:txBody>
          <a:bodyPr/>
          <a:lstStyle/>
          <a:p>
            <a:endParaRPr lang="en-US"/>
          </a:p>
        </p:txBody>
      </p:sp>
      <p:sp>
        <p:nvSpPr>
          <p:cNvPr id="19" name="Text 16"/>
          <p:cNvSpPr/>
          <p:nvPr/>
        </p:nvSpPr>
        <p:spPr>
          <a:xfrm>
            <a:off x="8001000" y="5093208"/>
            <a:ext cx="2761488" cy="128016"/>
          </a:xfrm>
          <a:prstGeom prst="rect">
            <a:avLst/>
          </a:prstGeom>
          <a:noFill/>
          <a:ln/>
        </p:spPr>
        <p:txBody>
          <a:bodyPr wrap="square" lIns="0" tIns="0" rIns="0" bIns="0" rtlCol="0" anchor="ctr"/>
          <a:lstStyle/>
          <a:p>
            <a:pPr marL="0" indent="0" algn="ctr">
              <a:buNone/>
            </a:pPr>
            <a:r>
              <a:rPr lang="en-US" sz="900" b="1" kern="0" spc="120" dirty="0">
                <a:solidFill>
                  <a:srgbClr val="FFFFFF"/>
                </a:solidFill>
                <a:latin typeface="Aptos" pitchFamily="34" charset="0"/>
                <a:ea typeface="Aptos" pitchFamily="34" charset="-122"/>
                <a:cs typeface="Aptos" pitchFamily="34" charset="-120"/>
              </a:rPr>
              <a:t>LOCAL VS CODE AGENT MODE</a:t>
            </a:r>
            <a:endParaRPr lang="en-US" sz="900" dirty="0"/>
          </a:p>
        </p:txBody>
      </p:sp>
      <p:sp>
        <p:nvSpPr>
          <p:cNvPr id="20" name="Text 17"/>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Copilot for Data Scientists | Gilead DSS</a:t>
            </a:r>
            <a:endParaRPr lang="en-US" sz="800" dirty="0"/>
          </a:p>
        </p:txBody>
      </p:sp>
      <p:sp>
        <p:nvSpPr>
          <p:cNvPr id="21" name="Text 18">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WORKSHOP OUTCOMES</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You will delegate—and then verify</a:t>
            </a:r>
            <a:endParaRPr lang="en-US" sz="3100" dirty="0"/>
          </a:p>
        </p:txBody>
      </p:sp>
      <p:sp>
        <p:nvSpPr>
          <p:cNvPr id="7" name="Shape 4"/>
          <p:cNvSpPr/>
          <p:nvPr/>
        </p:nvSpPr>
        <p:spPr>
          <a:xfrm>
            <a:off x="566928" y="2148840"/>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8" name="Text 5"/>
          <p:cNvSpPr/>
          <p:nvPr/>
        </p:nvSpPr>
        <p:spPr>
          <a:xfrm>
            <a:off x="566928" y="228142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9" name="Text 6"/>
          <p:cNvSpPr/>
          <p:nvPr/>
        </p:nvSpPr>
        <p:spPr>
          <a:xfrm>
            <a:off x="566928" y="2816352"/>
            <a:ext cx="3246120" cy="411480"/>
          </a:xfrm>
          <a:prstGeom prst="rect">
            <a:avLst/>
          </a:prstGeom>
          <a:noFill/>
          <a:ln/>
        </p:spPr>
        <p:txBody>
          <a:bodyPr wrap="square" lIns="0" tIns="0" rIns="0" bIns="0" rtlCol="0" anchor="ctr"/>
          <a:lstStyle/>
          <a:p>
            <a:pPr marL="0" indent="0">
              <a:buNone/>
            </a:pPr>
            <a:r>
              <a:rPr lang="en-US" sz="2300" b="1" dirty="0">
                <a:solidFill>
                  <a:srgbClr val="0D1117"/>
                </a:solidFill>
                <a:latin typeface="Aptos Display" pitchFamily="34" charset="0"/>
                <a:ea typeface="Aptos Display" pitchFamily="34" charset="-122"/>
                <a:cs typeface="Aptos Display" pitchFamily="34" charset="-120"/>
              </a:rPr>
              <a:t>Bound</a:t>
            </a:r>
            <a:endParaRPr lang="en-US" sz="2300" dirty="0"/>
          </a:p>
        </p:txBody>
      </p:sp>
      <p:sp>
        <p:nvSpPr>
          <p:cNvPr id="10" name="Text 7"/>
          <p:cNvSpPr/>
          <p:nvPr/>
        </p:nvSpPr>
        <p:spPr>
          <a:xfrm>
            <a:off x="566928" y="3401568"/>
            <a:ext cx="3218688" cy="1170432"/>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Write an issue with objective, context, constraints, acceptance criteria, and human questions.</a:t>
            </a:r>
            <a:endParaRPr lang="en-US" sz="1500" dirty="0"/>
          </a:p>
        </p:txBody>
      </p:sp>
      <p:sp>
        <p:nvSpPr>
          <p:cNvPr id="11" name="Shape 8"/>
          <p:cNvSpPr/>
          <p:nvPr/>
        </p:nvSpPr>
        <p:spPr>
          <a:xfrm>
            <a:off x="566928" y="4892040"/>
            <a:ext cx="3063240" cy="0"/>
          </a:xfrm>
          <a:prstGeom prst="line">
            <a:avLst/>
          </a:prstGeom>
          <a:noFill/>
          <a:ln w="38100">
            <a:solidFill>
              <a:srgbClr val="8250DF"/>
            </a:solidFill>
            <a:prstDash val="solid"/>
          </a:ln>
        </p:spPr>
        <p:txBody>
          <a:bodyPr/>
          <a:lstStyle/>
          <a:p>
            <a:endParaRPr lang="en-US"/>
          </a:p>
        </p:txBody>
      </p:sp>
      <p:sp>
        <p:nvSpPr>
          <p:cNvPr id="12" name="Shape 9"/>
          <p:cNvSpPr/>
          <p:nvPr/>
        </p:nvSpPr>
        <p:spPr>
          <a:xfrm>
            <a:off x="4425696" y="2148840"/>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13" name="Text 10"/>
          <p:cNvSpPr/>
          <p:nvPr/>
        </p:nvSpPr>
        <p:spPr>
          <a:xfrm>
            <a:off x="4425696" y="228142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14" name="Text 11"/>
          <p:cNvSpPr/>
          <p:nvPr/>
        </p:nvSpPr>
        <p:spPr>
          <a:xfrm>
            <a:off x="4425696" y="2816352"/>
            <a:ext cx="3246120" cy="411480"/>
          </a:xfrm>
          <a:prstGeom prst="rect">
            <a:avLst/>
          </a:prstGeom>
          <a:noFill/>
          <a:ln/>
        </p:spPr>
        <p:txBody>
          <a:bodyPr wrap="square" lIns="0" tIns="0" rIns="0" bIns="0" rtlCol="0" anchor="ctr"/>
          <a:lstStyle/>
          <a:p>
            <a:pPr marL="0" indent="0">
              <a:buNone/>
            </a:pPr>
            <a:r>
              <a:rPr lang="en-US" sz="2300" b="1" dirty="0">
                <a:solidFill>
                  <a:srgbClr val="0D1117"/>
                </a:solidFill>
                <a:latin typeface="Aptos Display" pitchFamily="34" charset="0"/>
                <a:ea typeface="Aptos Display" pitchFamily="34" charset="-122"/>
                <a:cs typeface="Aptos Display" pitchFamily="34" charset="-120"/>
              </a:rPr>
              <a:t>Delegate</a:t>
            </a:r>
            <a:endParaRPr lang="en-US" sz="2300" dirty="0"/>
          </a:p>
        </p:txBody>
      </p:sp>
      <p:sp>
        <p:nvSpPr>
          <p:cNvPr id="15" name="Text 12"/>
          <p:cNvSpPr/>
          <p:nvPr/>
        </p:nvSpPr>
        <p:spPr>
          <a:xfrm>
            <a:off x="4425696" y="3401568"/>
            <a:ext cx="3218688" cy="1170432"/>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Use local VS Code Agent mode. Inspect the plan and edits before accepting changes.</a:t>
            </a:r>
            <a:endParaRPr lang="en-US" sz="1500" dirty="0"/>
          </a:p>
        </p:txBody>
      </p:sp>
      <p:sp>
        <p:nvSpPr>
          <p:cNvPr id="16" name="Shape 13"/>
          <p:cNvSpPr/>
          <p:nvPr/>
        </p:nvSpPr>
        <p:spPr>
          <a:xfrm>
            <a:off x="4425696" y="4892040"/>
            <a:ext cx="3063240" cy="0"/>
          </a:xfrm>
          <a:prstGeom prst="line">
            <a:avLst/>
          </a:prstGeom>
          <a:noFill/>
          <a:ln w="38100">
            <a:solidFill>
              <a:srgbClr val="0969DA"/>
            </a:solidFill>
            <a:prstDash val="solid"/>
          </a:ln>
        </p:spPr>
        <p:txBody>
          <a:bodyPr/>
          <a:lstStyle/>
          <a:p>
            <a:endParaRPr lang="en-US"/>
          </a:p>
        </p:txBody>
      </p:sp>
      <p:sp>
        <p:nvSpPr>
          <p:cNvPr id="17" name="Shape 14"/>
          <p:cNvSpPr/>
          <p:nvPr/>
        </p:nvSpPr>
        <p:spPr>
          <a:xfrm>
            <a:off x="8284464" y="2148840"/>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18" name="Text 15"/>
          <p:cNvSpPr/>
          <p:nvPr/>
        </p:nvSpPr>
        <p:spPr>
          <a:xfrm>
            <a:off x="8284464" y="228142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19" name="Text 16"/>
          <p:cNvSpPr/>
          <p:nvPr/>
        </p:nvSpPr>
        <p:spPr>
          <a:xfrm>
            <a:off x="8284464" y="2816352"/>
            <a:ext cx="3246120" cy="411480"/>
          </a:xfrm>
          <a:prstGeom prst="rect">
            <a:avLst/>
          </a:prstGeom>
          <a:noFill/>
          <a:ln/>
        </p:spPr>
        <p:txBody>
          <a:bodyPr wrap="square" lIns="0" tIns="0" rIns="0" bIns="0" rtlCol="0" anchor="ctr"/>
          <a:lstStyle/>
          <a:p>
            <a:pPr marL="0" indent="0">
              <a:buNone/>
            </a:pPr>
            <a:r>
              <a:rPr lang="en-US" sz="2300" b="1" dirty="0">
                <a:solidFill>
                  <a:srgbClr val="0D1117"/>
                </a:solidFill>
                <a:latin typeface="Aptos Display" pitchFamily="34" charset="0"/>
                <a:ea typeface="Aptos Display" pitchFamily="34" charset="-122"/>
                <a:cs typeface="Aptos Display" pitchFamily="34" charset="-120"/>
              </a:rPr>
              <a:t>Review</a:t>
            </a:r>
            <a:endParaRPr lang="en-US" sz="2300" dirty="0"/>
          </a:p>
        </p:txBody>
      </p:sp>
      <p:sp>
        <p:nvSpPr>
          <p:cNvPr id="20" name="Text 17"/>
          <p:cNvSpPr/>
          <p:nvPr/>
        </p:nvSpPr>
        <p:spPr>
          <a:xfrm>
            <a:off x="8284464" y="3401568"/>
            <a:ext cx="3218688" cy="1170432"/>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Inspect the pull request, request Copilot code review, and make the human decision.</a:t>
            </a:r>
            <a:endParaRPr lang="en-US" sz="1500" dirty="0"/>
          </a:p>
        </p:txBody>
      </p:sp>
      <p:sp>
        <p:nvSpPr>
          <p:cNvPr id="21" name="Shape 18"/>
          <p:cNvSpPr/>
          <p:nvPr/>
        </p:nvSpPr>
        <p:spPr>
          <a:xfrm>
            <a:off x="8284464" y="4892040"/>
            <a:ext cx="3063240" cy="0"/>
          </a:xfrm>
          <a:prstGeom prst="line">
            <a:avLst/>
          </a:prstGeom>
          <a:noFill/>
          <a:ln w="38100">
            <a:solidFill>
              <a:srgbClr val="1A7F37"/>
            </a:solidFill>
            <a:prstDash val="solid"/>
          </a:ln>
        </p:spPr>
        <p:txBody>
          <a:bodyPr/>
          <a:lstStyle/>
          <a:p>
            <a:endParaRPr lang="en-US"/>
          </a:p>
        </p:txBody>
      </p:sp>
      <p:sp>
        <p:nvSpPr>
          <p:cNvPr id="22" name="Shape 19"/>
          <p:cNvSpPr/>
          <p:nvPr/>
        </p:nvSpPr>
        <p:spPr>
          <a:xfrm>
            <a:off x="4736592" y="5623560"/>
            <a:ext cx="2724912" cy="310896"/>
          </a:xfrm>
          <a:prstGeom prst="roundRect">
            <a:avLst>
              <a:gd name="adj" fmla="val 23529"/>
            </a:avLst>
          </a:prstGeom>
          <a:solidFill>
            <a:srgbClr val="0D1117"/>
          </a:solidFill>
          <a:ln w="8890">
            <a:solidFill>
              <a:srgbClr val="0D1117"/>
            </a:solidFill>
            <a:prstDash val="solid"/>
          </a:ln>
        </p:spPr>
        <p:txBody>
          <a:bodyPr/>
          <a:lstStyle/>
          <a:p>
            <a:endParaRPr lang="en-US"/>
          </a:p>
        </p:txBody>
      </p:sp>
      <p:sp>
        <p:nvSpPr>
          <p:cNvPr id="23" name="Text 20"/>
          <p:cNvSpPr/>
          <p:nvPr/>
        </p:nvSpPr>
        <p:spPr>
          <a:xfrm>
            <a:off x="4828032" y="5719572"/>
            <a:ext cx="2542032"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VS CODE + GITHUB</a:t>
            </a:r>
            <a:endParaRPr lang="en-US" sz="85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Revision text 26">
            <a:extLst>
              <a:ext uri="{FF2B5EF4-FFF2-40B4-BE49-F238E27FC236}">
                <a16:creationId xmlns:a16="http://schemas.microsoft.com/office/drawing/2014/main" id="{65A37E5C-D118-CDDF-E34A-069978292A2C}"/>
              </a:ext>
            </a:extLst>
          </p:cNvPr>
          <p:cNvSpPr txBox="1"/>
          <p:nvPr/>
        </p:nvSpPr>
        <p:spPr>
          <a:xfrm>
            <a:off x="512064" y="932688"/>
            <a:ext cx="10922000" cy="228600"/>
          </a:xfrm>
          <a:prstGeom prst="rect">
            <a:avLst/>
          </a:prstGeom>
          <a:noFill/>
        </p:spPr>
        <p:txBody>
          <a:bodyPr vert="horz" wrap="square" lIns="0" tIns="0" rIns="0" bIns="0" rtlCol="0">
            <a:noAutofit/>
          </a:bodyPr>
          <a:lstStyle/>
          <a:p>
            <a:r>
              <a:rPr lang="en-US" sz="1000" b="1">
                <a:solidFill>
                  <a:srgbClr val="8250DF"/>
                </a:solidFill>
                <a:latin typeface="Aptos" panose="020B0004020202020204" pitchFamily="34" charset="0"/>
              </a:rPr>
              <a:t>GILEAD-SPECIFIC GUIDANCE</a:t>
            </a:r>
          </a:p>
        </p:txBody>
      </p:sp>
      <p:sp>
        <p:nvSpPr>
          <p:cNvPr id="27" name="Revision text 27">
            <a:extLst>
              <a:ext uri="{FF2B5EF4-FFF2-40B4-BE49-F238E27FC236}">
                <a16:creationId xmlns:a16="http://schemas.microsoft.com/office/drawing/2014/main" id="{AB048777-3FE6-7BD0-54C1-6DA70A3E5E50}"/>
              </a:ext>
            </a:extLst>
          </p:cNvPr>
          <p:cNvSpPr txBox="1"/>
          <p:nvPr/>
        </p:nvSpPr>
        <p:spPr>
          <a:xfrm>
            <a:off x="512064" y="1231899"/>
            <a:ext cx="11049000" cy="736600"/>
          </a:xfrm>
          <a:prstGeom prst="rect">
            <a:avLst/>
          </a:prstGeom>
          <a:noFill/>
        </p:spPr>
        <p:txBody>
          <a:bodyPr vert="horz" wrap="square" lIns="0" tIns="0" rIns="0" bIns="0" rtlCol="0">
            <a:noAutofit/>
          </a:bodyPr>
          <a:lstStyle/>
          <a:p>
            <a:r>
              <a:rPr lang="en-US" sz="2900" b="1">
                <a:solidFill>
                  <a:srgbClr val="0D1117"/>
                </a:solidFill>
                <a:latin typeface="Aptos" panose="020B0004020202020204" pitchFamily="34" charset="0"/>
              </a:rPr>
              <a:t>Gilead Copilot standards</a:t>
            </a:r>
          </a:p>
        </p:txBody>
      </p:sp>
      <p:sp>
        <p:nvSpPr>
          <p:cNvPr id="28" name="Rectangle 27">
            <a:extLst>
              <a:ext uri="{FF2B5EF4-FFF2-40B4-BE49-F238E27FC236}">
                <a16:creationId xmlns:a16="http://schemas.microsoft.com/office/drawing/2014/main" id="{11140808-033E-F4F6-716E-A022DF4542E5}"/>
              </a:ext>
            </a:extLst>
          </p:cNvPr>
          <p:cNvSpPr/>
          <p:nvPr/>
        </p:nvSpPr>
        <p:spPr>
          <a:xfrm>
            <a:off x="533400" y="2082800"/>
            <a:ext cx="11074400" cy="64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vision text 29">
            <a:extLst>
              <a:ext uri="{FF2B5EF4-FFF2-40B4-BE49-F238E27FC236}">
                <a16:creationId xmlns:a16="http://schemas.microsoft.com/office/drawing/2014/main" id="{159FA87A-7E4F-93BC-99F9-65952C9A9BE1}"/>
              </a:ext>
            </a:extLst>
          </p:cNvPr>
          <p:cNvSpPr txBox="1"/>
          <p:nvPr/>
        </p:nvSpPr>
        <p:spPr>
          <a:xfrm>
            <a:off x="685800" y="2184399"/>
            <a:ext cx="26035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Protect sensitive data</a:t>
            </a:r>
          </a:p>
        </p:txBody>
      </p:sp>
      <p:sp>
        <p:nvSpPr>
          <p:cNvPr id="30" name="Revision text 30">
            <a:extLst>
              <a:ext uri="{FF2B5EF4-FFF2-40B4-BE49-F238E27FC236}">
                <a16:creationId xmlns:a16="http://schemas.microsoft.com/office/drawing/2014/main" id="{33BD176F-BE24-B0B6-3846-26940211EFDB}"/>
              </a:ext>
            </a:extLst>
          </p:cNvPr>
          <p:cNvSpPr txBox="1"/>
          <p:nvPr/>
        </p:nvSpPr>
        <p:spPr>
          <a:xfrm>
            <a:off x="3390900" y="2171699"/>
            <a:ext cx="8039100" cy="508000"/>
          </a:xfrm>
          <a:prstGeom prst="rect">
            <a:avLst/>
          </a:prstGeom>
          <a:noFill/>
        </p:spPr>
        <p:txBody>
          <a:bodyPr vert="horz" wrap="square" lIns="0" tIns="0" rIns="0" bIns="0" rtlCol="0">
            <a:noAutofit/>
          </a:bodyPr>
          <a:lstStyle/>
          <a:p>
            <a:r>
              <a:rPr lang="en-US" sz="1400">
                <a:solidFill>
                  <a:srgbClr val="0D1117"/>
                </a:solidFill>
                <a:latin typeface="Aptos" panose="020B0004020202020204" pitchFamily="34" charset="0"/>
              </a:rPr>
              <a:t>No Confidential, Secret, Legal Privilege or other sensitive data in AI tools without explicit Gilead ASDS review and approval.</a:t>
            </a:r>
          </a:p>
        </p:txBody>
      </p:sp>
      <p:sp>
        <p:nvSpPr>
          <p:cNvPr id="31" name="Rectangle 30">
            <a:extLst>
              <a:ext uri="{FF2B5EF4-FFF2-40B4-BE49-F238E27FC236}">
                <a16:creationId xmlns:a16="http://schemas.microsoft.com/office/drawing/2014/main" id="{8A96BFEB-4BBE-A1BC-6C69-9F5B6BD5EA4F}"/>
              </a:ext>
            </a:extLst>
          </p:cNvPr>
          <p:cNvSpPr/>
          <p:nvPr/>
        </p:nvSpPr>
        <p:spPr>
          <a:xfrm>
            <a:off x="533400" y="2819400"/>
            <a:ext cx="11074400" cy="64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vision text 32">
            <a:extLst>
              <a:ext uri="{FF2B5EF4-FFF2-40B4-BE49-F238E27FC236}">
                <a16:creationId xmlns:a16="http://schemas.microsoft.com/office/drawing/2014/main" id="{A0C6390B-1F6B-CAD7-C1F2-33684B49CF58}"/>
              </a:ext>
            </a:extLst>
          </p:cNvPr>
          <p:cNvSpPr txBox="1"/>
          <p:nvPr/>
        </p:nvSpPr>
        <p:spPr>
          <a:xfrm>
            <a:off x="685800" y="2920999"/>
            <a:ext cx="26035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Use approved Copilot</a:t>
            </a:r>
          </a:p>
        </p:txBody>
      </p:sp>
      <p:sp>
        <p:nvSpPr>
          <p:cNvPr id="33" name="Revision text 33">
            <a:extLst>
              <a:ext uri="{FF2B5EF4-FFF2-40B4-BE49-F238E27FC236}">
                <a16:creationId xmlns:a16="http://schemas.microsoft.com/office/drawing/2014/main" id="{C6AACE9C-8CE7-2B7F-CF30-4FC383782450}"/>
              </a:ext>
            </a:extLst>
          </p:cNvPr>
          <p:cNvSpPr txBox="1"/>
          <p:nvPr/>
        </p:nvSpPr>
        <p:spPr>
          <a:xfrm>
            <a:off x="3390900" y="2908299"/>
            <a:ext cx="8039100" cy="508000"/>
          </a:xfrm>
          <a:prstGeom prst="rect">
            <a:avLst/>
          </a:prstGeom>
          <a:noFill/>
        </p:spPr>
        <p:txBody>
          <a:bodyPr vert="horz" wrap="square" lIns="0" tIns="0" rIns="0" bIns="0" rtlCol="0">
            <a:noAutofit/>
          </a:bodyPr>
          <a:lstStyle/>
          <a:p>
            <a:r>
              <a:rPr lang="en-US" sz="1400">
                <a:solidFill>
                  <a:srgbClr val="0D1117"/>
                </a:solidFill>
                <a:latin typeface="Aptos" panose="020B0004020202020204" pitchFamily="34" charset="0"/>
              </a:rPr>
              <a:t>Use Gilead-approved accounts and approved model providers and features only.</a:t>
            </a:r>
          </a:p>
        </p:txBody>
      </p:sp>
      <p:sp>
        <p:nvSpPr>
          <p:cNvPr id="34" name="Rectangle 33">
            <a:extLst>
              <a:ext uri="{FF2B5EF4-FFF2-40B4-BE49-F238E27FC236}">
                <a16:creationId xmlns:a16="http://schemas.microsoft.com/office/drawing/2014/main" id="{CA9D66D6-879A-FFA1-4DCB-E144720EEA67}"/>
              </a:ext>
            </a:extLst>
          </p:cNvPr>
          <p:cNvSpPr/>
          <p:nvPr/>
        </p:nvSpPr>
        <p:spPr>
          <a:xfrm>
            <a:off x="533400" y="3556000"/>
            <a:ext cx="11074400" cy="64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vision text 35">
            <a:extLst>
              <a:ext uri="{FF2B5EF4-FFF2-40B4-BE49-F238E27FC236}">
                <a16:creationId xmlns:a16="http://schemas.microsoft.com/office/drawing/2014/main" id="{10EEEFC8-8879-7A81-9D0B-A3F12CFEB7CE}"/>
              </a:ext>
            </a:extLst>
          </p:cNvPr>
          <p:cNvSpPr txBox="1"/>
          <p:nvPr/>
        </p:nvSpPr>
        <p:spPr>
          <a:xfrm>
            <a:off x="685800" y="3657599"/>
            <a:ext cx="26035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Own the result</a:t>
            </a:r>
          </a:p>
        </p:txBody>
      </p:sp>
      <p:sp>
        <p:nvSpPr>
          <p:cNvPr id="36" name="Revision text 36">
            <a:extLst>
              <a:ext uri="{FF2B5EF4-FFF2-40B4-BE49-F238E27FC236}">
                <a16:creationId xmlns:a16="http://schemas.microsoft.com/office/drawing/2014/main" id="{7A518E58-DABE-C1C0-9250-DAEFD0190AEB}"/>
              </a:ext>
            </a:extLst>
          </p:cNvPr>
          <p:cNvSpPr txBox="1"/>
          <p:nvPr/>
        </p:nvSpPr>
        <p:spPr>
          <a:xfrm>
            <a:off x="3390900" y="3644899"/>
            <a:ext cx="8039100" cy="546100"/>
          </a:xfrm>
          <a:prstGeom prst="rect">
            <a:avLst/>
          </a:prstGeom>
          <a:noFill/>
        </p:spPr>
        <p:txBody>
          <a:bodyPr vert="horz" wrap="square" lIns="0" tIns="0" rIns="0" bIns="0" rtlCol="0">
            <a:noAutofit/>
          </a:bodyPr>
          <a:lstStyle/>
          <a:p>
            <a:r>
              <a:rPr lang="en-US" sz="1400">
                <a:solidFill>
                  <a:srgbClr val="0D1117"/>
                </a:solidFill>
                <a:latin typeface="Aptos" panose="020B0004020202020204" pitchFamily="34" charset="0"/>
              </a:rPr>
              <a:t>AI output is a suggestion. Developers own the diff, correctness, tests, security scans and normal PR/peer review.</a:t>
            </a:r>
          </a:p>
        </p:txBody>
      </p:sp>
      <p:sp>
        <p:nvSpPr>
          <p:cNvPr id="37" name="Rectangle 36">
            <a:extLst>
              <a:ext uri="{FF2B5EF4-FFF2-40B4-BE49-F238E27FC236}">
                <a16:creationId xmlns:a16="http://schemas.microsoft.com/office/drawing/2014/main" id="{57BB5B2F-045B-7796-F076-3530221A7D0D}"/>
              </a:ext>
            </a:extLst>
          </p:cNvPr>
          <p:cNvSpPr/>
          <p:nvPr/>
        </p:nvSpPr>
        <p:spPr>
          <a:xfrm>
            <a:off x="533400" y="4292600"/>
            <a:ext cx="11074400" cy="64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vision text 38">
            <a:extLst>
              <a:ext uri="{FF2B5EF4-FFF2-40B4-BE49-F238E27FC236}">
                <a16:creationId xmlns:a16="http://schemas.microsoft.com/office/drawing/2014/main" id="{F39DC3D9-8300-615B-0BC9-6346828BAAE8}"/>
              </a:ext>
            </a:extLst>
          </p:cNvPr>
          <p:cNvSpPr txBox="1"/>
          <p:nvPr/>
        </p:nvSpPr>
        <p:spPr>
          <a:xfrm>
            <a:off x="685800" y="4394199"/>
            <a:ext cx="26035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Never bypass controls</a:t>
            </a:r>
          </a:p>
        </p:txBody>
      </p:sp>
      <p:sp>
        <p:nvSpPr>
          <p:cNvPr id="39" name="Revision text 39">
            <a:extLst>
              <a:ext uri="{FF2B5EF4-FFF2-40B4-BE49-F238E27FC236}">
                <a16:creationId xmlns:a16="http://schemas.microsoft.com/office/drawing/2014/main" id="{4D4D3A4F-237A-D0BD-1E94-1A66A07126C1}"/>
              </a:ext>
            </a:extLst>
          </p:cNvPr>
          <p:cNvSpPr txBox="1"/>
          <p:nvPr/>
        </p:nvSpPr>
        <p:spPr>
          <a:xfrm>
            <a:off x="3390900" y="4381499"/>
            <a:ext cx="8039100" cy="508000"/>
          </a:xfrm>
          <a:prstGeom prst="rect">
            <a:avLst/>
          </a:prstGeom>
          <a:noFill/>
        </p:spPr>
        <p:txBody>
          <a:bodyPr vert="horz" wrap="square" lIns="0" tIns="0" rIns="0" bIns="0" rtlCol="0">
            <a:noAutofit/>
          </a:bodyPr>
          <a:lstStyle/>
          <a:p>
            <a:r>
              <a:rPr lang="en-US" sz="1400">
                <a:solidFill>
                  <a:srgbClr val="0D1117"/>
                </a:solidFill>
                <a:latin typeface="Aptos" panose="020B0004020202020204" pitchFamily="34" charset="0"/>
              </a:rPr>
              <a:t>Agents must not bypass access controls, security gates, approvals or validation.</a:t>
            </a:r>
          </a:p>
        </p:txBody>
      </p:sp>
      <p:sp>
        <p:nvSpPr>
          <p:cNvPr id="40" name="Rectangle 39">
            <a:extLst>
              <a:ext uri="{FF2B5EF4-FFF2-40B4-BE49-F238E27FC236}">
                <a16:creationId xmlns:a16="http://schemas.microsoft.com/office/drawing/2014/main" id="{1114AC3F-4444-46C6-8A2E-19EB9867EDA2}"/>
              </a:ext>
            </a:extLst>
          </p:cNvPr>
          <p:cNvSpPr/>
          <p:nvPr/>
        </p:nvSpPr>
        <p:spPr>
          <a:xfrm>
            <a:off x="533400" y="5029200"/>
            <a:ext cx="11074400" cy="64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vision text 41">
            <a:extLst>
              <a:ext uri="{FF2B5EF4-FFF2-40B4-BE49-F238E27FC236}">
                <a16:creationId xmlns:a16="http://schemas.microsoft.com/office/drawing/2014/main" id="{1699AD8B-61B5-0F75-D8D1-9AE06E45FDAF}"/>
              </a:ext>
            </a:extLst>
          </p:cNvPr>
          <p:cNvSpPr txBox="1"/>
          <p:nvPr/>
        </p:nvSpPr>
        <p:spPr>
          <a:xfrm>
            <a:off x="685800" y="5130799"/>
            <a:ext cx="26035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Limit the context</a:t>
            </a:r>
          </a:p>
        </p:txBody>
      </p:sp>
      <p:sp>
        <p:nvSpPr>
          <p:cNvPr id="42" name="Revision text 42">
            <a:extLst>
              <a:ext uri="{FF2B5EF4-FFF2-40B4-BE49-F238E27FC236}">
                <a16:creationId xmlns:a16="http://schemas.microsoft.com/office/drawing/2014/main" id="{28557631-D7FA-A8DC-92F6-36B35B2AC2BA}"/>
              </a:ext>
            </a:extLst>
          </p:cNvPr>
          <p:cNvSpPr txBox="1"/>
          <p:nvPr/>
        </p:nvSpPr>
        <p:spPr>
          <a:xfrm>
            <a:off x="3390900" y="5118099"/>
            <a:ext cx="8039100" cy="508000"/>
          </a:xfrm>
          <a:prstGeom prst="rect">
            <a:avLst/>
          </a:prstGeom>
          <a:noFill/>
        </p:spPr>
        <p:txBody>
          <a:bodyPr vert="horz" wrap="square" lIns="0" tIns="0" rIns="0" bIns="0" rtlCol="0">
            <a:noAutofit/>
          </a:bodyPr>
          <a:lstStyle/>
          <a:p>
            <a:r>
              <a:rPr lang="en-US" sz="1400">
                <a:solidFill>
                  <a:srgbClr val="0D1117"/>
                </a:solidFill>
                <a:latin typeface="Aptos" panose="020B0004020202020204" pitchFamily="34" charset="0"/>
              </a:rPr>
              <a:t>Apply Gilead classification and least privilege to all context, files, tools and repositories.</a:t>
            </a:r>
          </a:p>
        </p:txBody>
      </p:sp>
      <p:sp>
        <p:nvSpPr>
          <p:cNvPr id="43" name="Rectangle 42">
            <a:extLst>
              <a:ext uri="{FF2B5EF4-FFF2-40B4-BE49-F238E27FC236}">
                <a16:creationId xmlns:a16="http://schemas.microsoft.com/office/drawing/2014/main" id="{EEBD3625-1BD7-B711-BA7F-C84673B5A483}"/>
              </a:ext>
            </a:extLst>
          </p:cNvPr>
          <p:cNvSpPr/>
          <p:nvPr/>
        </p:nvSpPr>
        <p:spPr>
          <a:xfrm>
            <a:off x="533400" y="5905500"/>
            <a:ext cx="11074400" cy="381000"/>
          </a:xfrm>
          <a:prstGeom prst="rect">
            <a:avLst/>
          </a:prstGeom>
          <a:solidFill>
            <a:srgbClr val="F0F3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vision text 44">
            <a:extLst>
              <a:ext uri="{FF2B5EF4-FFF2-40B4-BE49-F238E27FC236}">
                <a16:creationId xmlns:a16="http://schemas.microsoft.com/office/drawing/2014/main" id="{6B299B61-CC16-8CE0-A169-8FC70BDBFD76}"/>
              </a:ext>
            </a:extLst>
          </p:cNvPr>
          <p:cNvSpPr txBox="1"/>
          <p:nvPr/>
        </p:nvSpPr>
        <p:spPr>
          <a:xfrm>
            <a:off x="685800" y="5994400"/>
            <a:ext cx="10769600" cy="254000"/>
          </a:xfrm>
          <a:prstGeom prst="rect">
            <a:avLst/>
          </a:prstGeom>
          <a:noFill/>
        </p:spPr>
        <p:txBody>
          <a:bodyPr vert="horz" wrap="square" lIns="0" tIns="0" rIns="0" bIns="0" rtlCol="0">
            <a:noAutofit/>
          </a:bodyPr>
          <a:lstStyle/>
          <a:p>
            <a:r>
              <a:rPr lang="en-US" sz="1200" b="1">
                <a:solidFill>
                  <a:srgbClr val="8250DF"/>
                </a:solidFill>
                <a:latin typeface="Aptos" panose="020B0004020202020204" pitchFamily="34" charset="0"/>
              </a:rPr>
              <a:t>Cloud Agent is not currently enabled at Gilead. This workshop uses local Agent mode.</a:t>
            </a:r>
          </a:p>
        </p:txBody>
      </p:sp>
    </p:spTree>
    <p:extLst>
      <p:ext uri="{BB962C8B-B14F-4D97-AF65-F5344CB8AC3E}">
        <p14:creationId xmlns:p14="http://schemas.microsoft.com/office/powerpoint/2010/main" val="2445635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SHARED WORKFLOW VOCABULARY</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Five-minute GitHub catch-up</a:t>
            </a:r>
            <a:endParaRPr lang="en-US" sz="3100" dirty="0"/>
          </a:p>
        </p:txBody>
      </p:sp>
      <p:sp>
        <p:nvSpPr>
          <p:cNvPr id="7" name="Shape 4"/>
          <p:cNvSpPr/>
          <p:nvPr/>
        </p:nvSpPr>
        <p:spPr>
          <a:xfrm>
            <a:off x="594360" y="221284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8" name="Text 5"/>
          <p:cNvSpPr/>
          <p:nvPr/>
        </p:nvSpPr>
        <p:spPr>
          <a:xfrm>
            <a:off x="740664" y="235915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Repository</a:t>
            </a:r>
            <a:endParaRPr lang="en-US" sz="1300" dirty="0"/>
          </a:p>
        </p:txBody>
      </p:sp>
      <p:sp>
        <p:nvSpPr>
          <p:cNvPr id="9" name="Text 6"/>
          <p:cNvSpPr/>
          <p:nvPr/>
        </p:nvSpPr>
        <p:spPr>
          <a:xfrm>
            <a:off x="704088" y="267004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context</a:t>
            </a:r>
            <a:endParaRPr lang="en-US" sz="850" dirty="0"/>
          </a:p>
        </p:txBody>
      </p:sp>
      <p:sp>
        <p:nvSpPr>
          <p:cNvPr id="10" name="Shape 7"/>
          <p:cNvSpPr/>
          <p:nvPr/>
        </p:nvSpPr>
        <p:spPr>
          <a:xfrm>
            <a:off x="2311908" y="2615184"/>
            <a:ext cx="128016" cy="0"/>
          </a:xfrm>
          <a:prstGeom prst="line">
            <a:avLst/>
          </a:prstGeom>
          <a:noFill/>
          <a:ln w="19050">
            <a:solidFill>
              <a:srgbClr val="8250DF"/>
            </a:solidFill>
            <a:prstDash val="solid"/>
            <a:tailEnd type="triangle"/>
          </a:ln>
        </p:spPr>
        <p:txBody>
          <a:bodyPr/>
          <a:lstStyle/>
          <a:p>
            <a:endParaRPr lang="en-US"/>
          </a:p>
        </p:txBody>
      </p:sp>
      <p:sp>
        <p:nvSpPr>
          <p:cNvPr id="11" name="Shape 8"/>
          <p:cNvSpPr/>
          <p:nvPr/>
        </p:nvSpPr>
        <p:spPr>
          <a:xfrm>
            <a:off x="2458212" y="221284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2" name="Text 9"/>
          <p:cNvSpPr/>
          <p:nvPr/>
        </p:nvSpPr>
        <p:spPr>
          <a:xfrm>
            <a:off x="2604516" y="235915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Issue</a:t>
            </a:r>
            <a:endParaRPr lang="en-US" sz="1300" dirty="0"/>
          </a:p>
        </p:txBody>
      </p:sp>
      <p:sp>
        <p:nvSpPr>
          <p:cNvPr id="13" name="Text 10"/>
          <p:cNvSpPr/>
          <p:nvPr/>
        </p:nvSpPr>
        <p:spPr>
          <a:xfrm>
            <a:off x="2567940" y="267004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intent</a:t>
            </a:r>
            <a:endParaRPr lang="en-US" sz="850" dirty="0"/>
          </a:p>
        </p:txBody>
      </p:sp>
      <p:sp>
        <p:nvSpPr>
          <p:cNvPr id="14" name="Shape 11"/>
          <p:cNvSpPr/>
          <p:nvPr/>
        </p:nvSpPr>
        <p:spPr>
          <a:xfrm>
            <a:off x="4175760" y="2615184"/>
            <a:ext cx="128016" cy="0"/>
          </a:xfrm>
          <a:prstGeom prst="line">
            <a:avLst/>
          </a:prstGeom>
          <a:noFill/>
          <a:ln w="19050">
            <a:solidFill>
              <a:srgbClr val="8250DF"/>
            </a:solidFill>
            <a:prstDash val="solid"/>
            <a:tailEnd type="triangle"/>
          </a:ln>
        </p:spPr>
        <p:txBody>
          <a:bodyPr/>
          <a:lstStyle/>
          <a:p>
            <a:endParaRPr lang="en-US"/>
          </a:p>
        </p:txBody>
      </p:sp>
      <p:sp>
        <p:nvSpPr>
          <p:cNvPr id="15" name="Shape 12"/>
          <p:cNvSpPr/>
          <p:nvPr/>
        </p:nvSpPr>
        <p:spPr>
          <a:xfrm>
            <a:off x="4322064" y="221284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6" name="Text 13"/>
          <p:cNvSpPr/>
          <p:nvPr/>
        </p:nvSpPr>
        <p:spPr>
          <a:xfrm>
            <a:off x="4468368" y="235915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Branch</a:t>
            </a:r>
            <a:endParaRPr lang="en-US" sz="1300" dirty="0"/>
          </a:p>
        </p:txBody>
      </p:sp>
      <p:sp>
        <p:nvSpPr>
          <p:cNvPr id="17" name="Text 14"/>
          <p:cNvSpPr/>
          <p:nvPr/>
        </p:nvSpPr>
        <p:spPr>
          <a:xfrm>
            <a:off x="4431792" y="267004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proposal</a:t>
            </a:r>
            <a:endParaRPr lang="en-US" sz="850" dirty="0"/>
          </a:p>
        </p:txBody>
      </p:sp>
      <p:sp>
        <p:nvSpPr>
          <p:cNvPr id="18" name="Shape 15"/>
          <p:cNvSpPr/>
          <p:nvPr/>
        </p:nvSpPr>
        <p:spPr>
          <a:xfrm>
            <a:off x="6039612" y="2615184"/>
            <a:ext cx="128016" cy="0"/>
          </a:xfrm>
          <a:prstGeom prst="line">
            <a:avLst/>
          </a:prstGeom>
          <a:noFill/>
          <a:ln w="19050">
            <a:solidFill>
              <a:srgbClr val="8250DF"/>
            </a:solidFill>
            <a:prstDash val="solid"/>
            <a:tailEnd type="triangle"/>
          </a:ln>
        </p:spPr>
        <p:txBody>
          <a:bodyPr/>
          <a:lstStyle/>
          <a:p>
            <a:endParaRPr lang="en-US"/>
          </a:p>
        </p:txBody>
      </p:sp>
      <p:sp>
        <p:nvSpPr>
          <p:cNvPr id="19" name="Shape 16"/>
          <p:cNvSpPr/>
          <p:nvPr/>
        </p:nvSpPr>
        <p:spPr>
          <a:xfrm>
            <a:off x="6185916" y="221284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0" name="Text 17"/>
          <p:cNvSpPr/>
          <p:nvPr/>
        </p:nvSpPr>
        <p:spPr>
          <a:xfrm>
            <a:off x="6332220" y="235915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Commit</a:t>
            </a:r>
            <a:endParaRPr lang="en-US" sz="1300" dirty="0"/>
          </a:p>
        </p:txBody>
      </p:sp>
      <p:sp>
        <p:nvSpPr>
          <p:cNvPr id="21" name="Text 18"/>
          <p:cNvSpPr/>
          <p:nvPr/>
        </p:nvSpPr>
        <p:spPr>
          <a:xfrm>
            <a:off x="6295644" y="267004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checkpoint</a:t>
            </a:r>
            <a:endParaRPr lang="en-US" sz="850" dirty="0"/>
          </a:p>
        </p:txBody>
      </p:sp>
      <p:sp>
        <p:nvSpPr>
          <p:cNvPr id="22" name="Shape 19"/>
          <p:cNvSpPr/>
          <p:nvPr/>
        </p:nvSpPr>
        <p:spPr>
          <a:xfrm>
            <a:off x="7903464" y="2615184"/>
            <a:ext cx="128016" cy="0"/>
          </a:xfrm>
          <a:prstGeom prst="line">
            <a:avLst/>
          </a:prstGeom>
          <a:noFill/>
          <a:ln w="19050">
            <a:solidFill>
              <a:srgbClr val="8250DF"/>
            </a:solidFill>
            <a:prstDash val="solid"/>
            <a:tailEnd type="triangle"/>
          </a:ln>
        </p:spPr>
        <p:txBody>
          <a:bodyPr/>
          <a:lstStyle/>
          <a:p>
            <a:endParaRPr lang="en-US"/>
          </a:p>
        </p:txBody>
      </p:sp>
      <p:sp>
        <p:nvSpPr>
          <p:cNvPr id="23" name="Shape 20"/>
          <p:cNvSpPr/>
          <p:nvPr/>
        </p:nvSpPr>
        <p:spPr>
          <a:xfrm>
            <a:off x="8049768" y="221284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4" name="Text 21"/>
          <p:cNvSpPr/>
          <p:nvPr/>
        </p:nvSpPr>
        <p:spPr>
          <a:xfrm>
            <a:off x="8196072" y="235915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Pull request</a:t>
            </a:r>
            <a:endParaRPr lang="en-US" sz="1300" dirty="0"/>
          </a:p>
        </p:txBody>
      </p:sp>
      <p:sp>
        <p:nvSpPr>
          <p:cNvPr id="25" name="Text 22"/>
          <p:cNvSpPr/>
          <p:nvPr/>
        </p:nvSpPr>
        <p:spPr>
          <a:xfrm>
            <a:off x="8159496" y="267004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evidence</a:t>
            </a:r>
            <a:endParaRPr lang="en-US" sz="850" dirty="0"/>
          </a:p>
        </p:txBody>
      </p:sp>
      <p:sp>
        <p:nvSpPr>
          <p:cNvPr id="26" name="Shape 23"/>
          <p:cNvSpPr/>
          <p:nvPr/>
        </p:nvSpPr>
        <p:spPr>
          <a:xfrm>
            <a:off x="9767316" y="2615184"/>
            <a:ext cx="128016" cy="0"/>
          </a:xfrm>
          <a:prstGeom prst="line">
            <a:avLst/>
          </a:prstGeom>
          <a:noFill/>
          <a:ln w="19050">
            <a:solidFill>
              <a:srgbClr val="8250DF"/>
            </a:solidFill>
            <a:prstDash val="solid"/>
            <a:tailEnd type="triangle"/>
          </a:ln>
        </p:spPr>
        <p:txBody>
          <a:bodyPr/>
          <a:lstStyle/>
          <a:p>
            <a:endParaRPr lang="en-US"/>
          </a:p>
        </p:txBody>
      </p:sp>
      <p:sp>
        <p:nvSpPr>
          <p:cNvPr id="27" name="Shape 24"/>
          <p:cNvSpPr/>
          <p:nvPr/>
        </p:nvSpPr>
        <p:spPr>
          <a:xfrm>
            <a:off x="9913620" y="2212848"/>
            <a:ext cx="1699260" cy="804672"/>
          </a:xfrm>
          <a:prstGeom prst="roundRect">
            <a:avLst>
              <a:gd name="adj" fmla="val 5682"/>
            </a:avLst>
          </a:prstGeom>
          <a:solidFill>
            <a:srgbClr val="FFFFFF"/>
          </a:solidFill>
          <a:ln w="15240">
            <a:solidFill>
              <a:srgbClr val="8250DF"/>
            </a:solidFill>
            <a:prstDash val="solid"/>
          </a:ln>
        </p:spPr>
        <p:txBody>
          <a:bodyPr/>
          <a:lstStyle/>
          <a:p>
            <a:endParaRPr lang="en-US"/>
          </a:p>
        </p:txBody>
      </p:sp>
      <p:sp>
        <p:nvSpPr>
          <p:cNvPr id="28" name="Text 25"/>
          <p:cNvSpPr/>
          <p:nvPr/>
        </p:nvSpPr>
        <p:spPr>
          <a:xfrm>
            <a:off x="10059924" y="235915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Review</a:t>
            </a:r>
            <a:endParaRPr lang="en-US" sz="1300" dirty="0"/>
          </a:p>
        </p:txBody>
      </p:sp>
      <p:sp>
        <p:nvSpPr>
          <p:cNvPr id="29" name="Text 26"/>
          <p:cNvSpPr/>
          <p:nvPr/>
        </p:nvSpPr>
        <p:spPr>
          <a:xfrm>
            <a:off x="10023348" y="267004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decision</a:t>
            </a:r>
            <a:endParaRPr lang="en-US" sz="850" dirty="0"/>
          </a:p>
        </p:txBody>
      </p:sp>
      <p:sp>
        <p:nvSpPr>
          <p:cNvPr id="30" name="Text 27"/>
          <p:cNvSpPr/>
          <p:nvPr/>
        </p:nvSpPr>
        <p:spPr>
          <a:xfrm>
            <a:off x="2103120" y="3749040"/>
            <a:ext cx="3794760" cy="438912"/>
          </a:xfrm>
          <a:prstGeom prst="rect">
            <a:avLst/>
          </a:prstGeom>
          <a:noFill/>
          <a:ln/>
        </p:spPr>
        <p:txBody>
          <a:bodyPr wrap="square" lIns="0" tIns="0" rIns="0" bIns="0" rtlCol="0" anchor="ctr"/>
          <a:lstStyle/>
          <a:p>
            <a:pPr marL="0" indent="0">
              <a:buNone/>
            </a:pPr>
            <a:r>
              <a:rPr lang="en-US" sz="2500" b="1" dirty="0">
                <a:solidFill>
                  <a:srgbClr val="8250DF"/>
                </a:solidFill>
                <a:latin typeface="Aptos Display" pitchFamily="34" charset="0"/>
                <a:ea typeface="Aptos Display" pitchFamily="34" charset="-122"/>
                <a:cs typeface="Aptos Display" pitchFamily="34" charset="-120"/>
              </a:rPr>
              <a:t>Copilot participates in the middle.</a:t>
            </a:r>
            <a:endParaRPr lang="en-US" sz="2500" dirty="0"/>
          </a:p>
        </p:txBody>
      </p:sp>
      <p:sp>
        <p:nvSpPr>
          <p:cNvPr id="31" name="Text 28"/>
          <p:cNvSpPr/>
          <p:nvPr/>
        </p:nvSpPr>
        <p:spPr>
          <a:xfrm>
            <a:off x="2103120" y="4407408"/>
            <a:ext cx="7909560" cy="502920"/>
          </a:xfrm>
          <a:prstGeom prst="rect">
            <a:avLst/>
          </a:prstGeom>
          <a:noFill/>
          <a:ln/>
        </p:spPr>
        <p:txBody>
          <a:bodyPr wrap="square" lIns="0" tIns="0" rIns="0" bIns="0" rtlCol="0" anchor="ctr"/>
          <a:lstStyle/>
          <a:p>
            <a:pPr marL="0" indent="0">
              <a:buNone/>
            </a:pPr>
            <a:r>
              <a:rPr lang="en-US" sz="1800" dirty="0">
                <a:solidFill>
                  <a:srgbClr val="0D1117"/>
                </a:solidFill>
                <a:latin typeface="Aptos" pitchFamily="34" charset="0"/>
                <a:ea typeface="Aptos" pitchFamily="34" charset="-122"/>
                <a:cs typeface="Aptos" pitchFamily="34" charset="-120"/>
              </a:rPr>
              <a:t>Humans define the task, inspect the evidence, and make the decision.</a:t>
            </a:r>
            <a:endParaRPr lang="en-US" sz="1800" dirty="0"/>
          </a:p>
        </p:txBody>
      </p:sp>
      <p:sp>
        <p:nvSpPr>
          <p:cNvPr id="32" name="Text 29"/>
          <p:cNvSpPr/>
          <p:nvPr/>
        </p:nvSpPr>
        <p:spPr>
          <a:xfrm>
            <a:off x="2103120" y="5257800"/>
            <a:ext cx="6766560" cy="292608"/>
          </a:xfrm>
          <a:prstGeom prst="rect">
            <a:avLst/>
          </a:prstGeom>
          <a:noFill/>
          <a:ln/>
        </p:spPr>
        <p:txBody>
          <a:bodyPr wrap="square" lIns="0" tIns="0" rIns="0" bIns="0" rtlCol="0" anchor="ctr"/>
          <a:lstStyle/>
          <a:p>
            <a:pPr marL="0" indent="0">
              <a:buNone/>
            </a:pPr>
            <a:r>
              <a:rPr lang="en-US" sz="1700" b="1" dirty="0">
                <a:solidFill>
                  <a:srgbClr val="1A7F37"/>
                </a:solidFill>
                <a:latin typeface="Aptos Display" pitchFamily="34" charset="0"/>
                <a:ea typeface="Aptos Display" pitchFamily="34" charset="-122"/>
                <a:cs typeface="Aptos Display" pitchFamily="34" charset="-120"/>
              </a:rPr>
              <a:t>Local edits. Durable evidence. Human decision.</a:t>
            </a:r>
            <a:endParaRPr lang="en-US" sz="1700" dirty="0"/>
          </a:p>
        </p:txBody>
      </p:sp>
      <p:sp>
        <p:nvSpPr>
          <p:cNvPr id="33" name="Text 30"/>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34" name="Text 31">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THE SYNTHETIC SCENARIO</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One bounded scientific change</a:t>
            </a:r>
            <a:endParaRPr lang="en-US" sz="3100" dirty="0"/>
          </a:p>
        </p:txBody>
      </p:sp>
      <p:sp>
        <p:nvSpPr>
          <p:cNvPr id="7" name="Shape 4"/>
          <p:cNvSpPr/>
          <p:nvPr/>
        </p:nvSpPr>
        <p:spPr>
          <a:xfrm>
            <a:off x="566928" y="1865376"/>
            <a:ext cx="5532120" cy="4069080"/>
          </a:xfrm>
          <a:prstGeom prst="roundRect">
            <a:avLst>
              <a:gd name="adj" fmla="val 1798"/>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8" name="Shape 5"/>
          <p:cNvSpPr/>
          <p:nvPr/>
        </p:nvSpPr>
        <p:spPr>
          <a:xfrm>
            <a:off x="566928" y="1865376"/>
            <a:ext cx="5532120" cy="457200"/>
          </a:xfrm>
          <a:prstGeom prst="rect">
            <a:avLst/>
          </a:prstGeom>
          <a:solidFill>
            <a:srgbClr val="F6F8FA"/>
          </a:solidFill>
          <a:ln w="8890">
            <a:solidFill>
              <a:srgbClr val="D0D7DE"/>
            </a:solidFill>
            <a:prstDash val="solid"/>
          </a:ln>
        </p:spPr>
        <p:txBody>
          <a:bodyPr/>
          <a:lstStyle/>
          <a:p>
            <a:endParaRPr lang="en-US"/>
          </a:p>
        </p:txBody>
      </p:sp>
      <p:sp>
        <p:nvSpPr>
          <p:cNvPr id="9" name="Shape 6"/>
          <p:cNvSpPr/>
          <p:nvPr/>
        </p:nvSpPr>
        <p:spPr>
          <a:xfrm>
            <a:off x="731520" y="2029968"/>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0" name="Shape 7"/>
          <p:cNvSpPr/>
          <p:nvPr/>
        </p:nvSpPr>
        <p:spPr>
          <a:xfrm>
            <a:off x="932688" y="2029968"/>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1" name="Shape 8"/>
          <p:cNvSpPr/>
          <p:nvPr/>
        </p:nvSpPr>
        <p:spPr>
          <a:xfrm>
            <a:off x="1133856" y="2029968"/>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2" name="Shape 9"/>
          <p:cNvSpPr/>
          <p:nvPr/>
        </p:nvSpPr>
        <p:spPr>
          <a:xfrm>
            <a:off x="1408176" y="1965960"/>
            <a:ext cx="447141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3" name="Text 10"/>
          <p:cNvSpPr/>
          <p:nvPr/>
        </p:nvSpPr>
        <p:spPr>
          <a:xfrm>
            <a:off x="1554480" y="2039112"/>
            <a:ext cx="4178808" cy="91440"/>
          </a:xfrm>
          <a:prstGeom prst="rect">
            <a:avLst/>
          </a:prstGeom>
          <a:noFill/>
          <a:ln/>
        </p:spPr>
        <p:txBody>
          <a:bodyPr wrap="square" lIns="0" tIns="0" rIns="0" bIns="0" rtlCol="0" anchor="ctr"/>
          <a:lstStyle/>
          <a:p>
            <a:pPr marL="0" indent="0">
              <a:buNone/>
            </a:pPr>
            <a:r>
              <a:rPr lang="en-US" sz="720">
                <a:solidFill>
                  <a:srgbClr val="57606A"/>
                </a:solidFill>
                <a:latin typeface="Courier New" pitchFamily="34" charset="0"/>
                <a:ea typeface="Courier New" pitchFamily="34" charset="-122"/>
                <a:cs typeface="Courier New" pitchFamily="34" charset="-120"/>
              </a:rPr>
              <a:t>Public teaching reference</a:t>
            </a:r>
            <a:endParaRPr lang="en-US" sz="720" dirty="0"/>
          </a:p>
        </p:txBody>
      </p:sp>
      <p:sp>
        <p:nvSpPr>
          <p:cNvPr id="14" name="Text 11"/>
          <p:cNvSpPr/>
          <p:nvPr/>
        </p:nvSpPr>
        <p:spPr>
          <a:xfrm>
            <a:off x="886968" y="2578608"/>
            <a:ext cx="4892040" cy="256032"/>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scientific-workflow-workshop</a:t>
            </a:r>
            <a:endParaRPr lang="en-US" sz="1600" dirty="0"/>
          </a:p>
        </p:txBody>
      </p:sp>
      <p:sp>
        <p:nvSpPr>
          <p:cNvPr id="15" name="Shape 12"/>
          <p:cNvSpPr/>
          <p:nvPr/>
        </p:nvSpPr>
        <p:spPr>
          <a:xfrm>
            <a:off x="822960" y="3383280"/>
            <a:ext cx="5020056" cy="0"/>
          </a:xfrm>
          <a:prstGeom prst="line">
            <a:avLst/>
          </a:prstGeom>
          <a:noFill/>
          <a:ln w="6350">
            <a:solidFill>
              <a:srgbClr val="D0D7DE"/>
            </a:solidFill>
            <a:prstDash val="solid"/>
          </a:ln>
        </p:spPr>
        <p:txBody>
          <a:bodyPr/>
          <a:lstStyle/>
          <a:p>
            <a:endParaRPr lang="en-US"/>
          </a:p>
        </p:txBody>
      </p:sp>
      <p:sp>
        <p:nvSpPr>
          <p:cNvPr id="16" name="Text 13"/>
          <p:cNvSpPr/>
          <p:nvPr/>
        </p:nvSpPr>
        <p:spPr>
          <a:xfrm>
            <a:off x="932688" y="3108960"/>
            <a:ext cx="1554480" cy="182880"/>
          </a:xfrm>
          <a:prstGeom prst="rect">
            <a:avLst/>
          </a:prstGeom>
          <a:noFill/>
          <a:ln/>
        </p:spPr>
        <p:txBody>
          <a:bodyPr wrap="square" lIns="0" tIns="0" rIns="0" bIns="0" rtlCol="0" anchor="ctr"/>
          <a:lstStyle/>
          <a:p>
            <a:pPr marL="0" indent="0">
              <a:buNone/>
            </a:pPr>
            <a:r>
              <a:rPr lang="en-US" sz="1150" b="1" dirty="0">
                <a:solidFill>
                  <a:srgbClr val="8250DF"/>
                </a:solidFill>
                <a:latin typeface="Courier New" pitchFamily="34" charset="0"/>
                <a:ea typeface="Courier New" pitchFamily="34" charset="-122"/>
                <a:cs typeface="Courier New" pitchFamily="34" charset="-120"/>
              </a:rPr>
              <a:t>requirements/</a:t>
            </a:r>
            <a:endParaRPr lang="en-US" sz="1150" dirty="0"/>
          </a:p>
        </p:txBody>
      </p:sp>
      <p:sp>
        <p:nvSpPr>
          <p:cNvPr id="17" name="Text 14"/>
          <p:cNvSpPr/>
          <p:nvPr/>
        </p:nvSpPr>
        <p:spPr>
          <a:xfrm>
            <a:off x="2560320" y="3108960"/>
            <a:ext cx="320040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what the analysis must do</a:t>
            </a:r>
            <a:endParaRPr lang="en-US" sz="1120" dirty="0"/>
          </a:p>
        </p:txBody>
      </p:sp>
      <p:sp>
        <p:nvSpPr>
          <p:cNvPr id="18" name="Shape 15"/>
          <p:cNvSpPr/>
          <p:nvPr/>
        </p:nvSpPr>
        <p:spPr>
          <a:xfrm>
            <a:off x="822960" y="3840480"/>
            <a:ext cx="5020056" cy="0"/>
          </a:xfrm>
          <a:prstGeom prst="line">
            <a:avLst/>
          </a:prstGeom>
          <a:noFill/>
          <a:ln w="6350">
            <a:solidFill>
              <a:srgbClr val="D0D7DE"/>
            </a:solidFill>
            <a:prstDash val="solid"/>
          </a:ln>
        </p:spPr>
        <p:txBody>
          <a:bodyPr/>
          <a:lstStyle/>
          <a:p>
            <a:endParaRPr lang="en-US"/>
          </a:p>
        </p:txBody>
      </p:sp>
      <p:sp>
        <p:nvSpPr>
          <p:cNvPr id="19" name="Text 16"/>
          <p:cNvSpPr/>
          <p:nvPr/>
        </p:nvSpPr>
        <p:spPr>
          <a:xfrm>
            <a:off x="932688" y="3566160"/>
            <a:ext cx="1554480" cy="182880"/>
          </a:xfrm>
          <a:prstGeom prst="rect">
            <a:avLst/>
          </a:prstGeom>
          <a:noFill/>
          <a:ln/>
        </p:spPr>
        <p:txBody>
          <a:bodyPr wrap="square" lIns="0" tIns="0" rIns="0" bIns="0" rtlCol="0" anchor="ctr"/>
          <a:lstStyle/>
          <a:p>
            <a:pPr marL="0" indent="0">
              <a:buNone/>
            </a:pPr>
            <a:r>
              <a:rPr lang="en-US" sz="1150" b="1" dirty="0">
                <a:solidFill>
                  <a:srgbClr val="8250DF"/>
                </a:solidFill>
                <a:latin typeface="Courier New" pitchFamily="34" charset="0"/>
                <a:ea typeface="Courier New" pitchFamily="34" charset="-122"/>
                <a:cs typeface="Courier New" pitchFamily="34" charset="-120"/>
              </a:rPr>
              <a:t>analysis/</a:t>
            </a:r>
            <a:endParaRPr lang="en-US" sz="1150" dirty="0"/>
          </a:p>
        </p:txBody>
      </p:sp>
      <p:sp>
        <p:nvSpPr>
          <p:cNvPr id="20" name="Text 17"/>
          <p:cNvSpPr/>
          <p:nvPr/>
        </p:nvSpPr>
        <p:spPr>
          <a:xfrm>
            <a:off x="2560320" y="3566160"/>
            <a:ext cx="320040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SAS, R, and Python examples</a:t>
            </a:r>
            <a:endParaRPr lang="en-US" sz="1120" dirty="0"/>
          </a:p>
        </p:txBody>
      </p:sp>
      <p:sp>
        <p:nvSpPr>
          <p:cNvPr id="21" name="Shape 18"/>
          <p:cNvSpPr/>
          <p:nvPr/>
        </p:nvSpPr>
        <p:spPr>
          <a:xfrm>
            <a:off x="822960" y="4297680"/>
            <a:ext cx="5020056" cy="0"/>
          </a:xfrm>
          <a:prstGeom prst="line">
            <a:avLst/>
          </a:prstGeom>
          <a:noFill/>
          <a:ln w="6350">
            <a:solidFill>
              <a:srgbClr val="D0D7DE"/>
            </a:solidFill>
            <a:prstDash val="solid"/>
          </a:ln>
        </p:spPr>
        <p:txBody>
          <a:bodyPr/>
          <a:lstStyle/>
          <a:p>
            <a:endParaRPr lang="en-US"/>
          </a:p>
        </p:txBody>
      </p:sp>
      <p:sp>
        <p:nvSpPr>
          <p:cNvPr id="22" name="Text 19"/>
          <p:cNvSpPr/>
          <p:nvPr/>
        </p:nvSpPr>
        <p:spPr>
          <a:xfrm>
            <a:off x="932688" y="4023360"/>
            <a:ext cx="1554480" cy="182880"/>
          </a:xfrm>
          <a:prstGeom prst="rect">
            <a:avLst/>
          </a:prstGeom>
          <a:noFill/>
          <a:ln/>
        </p:spPr>
        <p:txBody>
          <a:bodyPr wrap="square" lIns="0" tIns="0" rIns="0" bIns="0" rtlCol="0" anchor="ctr"/>
          <a:lstStyle/>
          <a:p>
            <a:pPr marL="0" indent="0">
              <a:buNone/>
            </a:pPr>
            <a:r>
              <a:rPr lang="en-US" sz="1150" b="1" dirty="0">
                <a:solidFill>
                  <a:srgbClr val="8250DF"/>
                </a:solidFill>
                <a:latin typeface="Courier New" pitchFamily="34" charset="0"/>
                <a:ea typeface="Courier New" pitchFamily="34" charset="-122"/>
                <a:cs typeface="Courier New" pitchFamily="34" charset="-120"/>
              </a:rPr>
              <a:t>reference/</a:t>
            </a:r>
            <a:endParaRPr lang="en-US" sz="1150" dirty="0"/>
          </a:p>
        </p:txBody>
      </p:sp>
      <p:sp>
        <p:nvSpPr>
          <p:cNvPr id="23" name="Text 20"/>
          <p:cNvSpPr/>
          <p:nvPr/>
        </p:nvSpPr>
        <p:spPr>
          <a:xfrm>
            <a:off x="2560320" y="4023360"/>
            <a:ext cx="320040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controlled terminology</a:t>
            </a:r>
            <a:endParaRPr lang="en-US" sz="1120" dirty="0"/>
          </a:p>
        </p:txBody>
      </p:sp>
      <p:sp>
        <p:nvSpPr>
          <p:cNvPr id="24" name="Shape 21"/>
          <p:cNvSpPr/>
          <p:nvPr/>
        </p:nvSpPr>
        <p:spPr>
          <a:xfrm>
            <a:off x="822960" y="4754880"/>
            <a:ext cx="5020056" cy="0"/>
          </a:xfrm>
          <a:prstGeom prst="line">
            <a:avLst/>
          </a:prstGeom>
          <a:noFill/>
          <a:ln w="6350">
            <a:solidFill>
              <a:srgbClr val="D0D7DE"/>
            </a:solidFill>
            <a:prstDash val="solid"/>
          </a:ln>
        </p:spPr>
        <p:txBody>
          <a:bodyPr/>
          <a:lstStyle/>
          <a:p>
            <a:endParaRPr lang="en-US"/>
          </a:p>
        </p:txBody>
      </p:sp>
      <p:sp>
        <p:nvSpPr>
          <p:cNvPr id="25" name="Text 22"/>
          <p:cNvSpPr/>
          <p:nvPr/>
        </p:nvSpPr>
        <p:spPr>
          <a:xfrm>
            <a:off x="932688" y="4480560"/>
            <a:ext cx="1554480" cy="182880"/>
          </a:xfrm>
          <a:prstGeom prst="rect">
            <a:avLst/>
          </a:prstGeom>
          <a:noFill/>
          <a:ln/>
        </p:spPr>
        <p:txBody>
          <a:bodyPr wrap="square" lIns="0" tIns="0" rIns="0" bIns="0" rtlCol="0" anchor="ctr"/>
          <a:lstStyle/>
          <a:p>
            <a:pPr marL="0" indent="0">
              <a:buNone/>
            </a:pPr>
            <a:r>
              <a:rPr lang="en-US" sz="1150" b="1" dirty="0">
                <a:solidFill>
                  <a:srgbClr val="8250DF"/>
                </a:solidFill>
                <a:latin typeface="Courier New" pitchFamily="34" charset="0"/>
                <a:ea typeface="Courier New" pitchFamily="34" charset="-122"/>
                <a:cs typeface="Courier New" pitchFamily="34" charset="-120"/>
              </a:rPr>
              <a:t>checks/</a:t>
            </a:r>
            <a:endParaRPr lang="en-US" sz="1150" dirty="0"/>
          </a:p>
        </p:txBody>
      </p:sp>
      <p:sp>
        <p:nvSpPr>
          <p:cNvPr id="26" name="Text 23"/>
          <p:cNvSpPr/>
          <p:nvPr/>
        </p:nvSpPr>
        <p:spPr>
          <a:xfrm>
            <a:off x="2560320" y="4480560"/>
            <a:ext cx="320040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expected output</a:t>
            </a:r>
            <a:endParaRPr lang="en-US" sz="1120" dirty="0"/>
          </a:p>
        </p:txBody>
      </p:sp>
      <p:sp>
        <p:nvSpPr>
          <p:cNvPr id="27" name="Shape 24"/>
          <p:cNvSpPr/>
          <p:nvPr/>
        </p:nvSpPr>
        <p:spPr>
          <a:xfrm>
            <a:off x="822960" y="5212080"/>
            <a:ext cx="5020056" cy="0"/>
          </a:xfrm>
          <a:prstGeom prst="line">
            <a:avLst/>
          </a:prstGeom>
          <a:noFill/>
          <a:ln w="6350">
            <a:solidFill>
              <a:srgbClr val="D0D7DE"/>
            </a:solidFill>
            <a:prstDash val="solid"/>
          </a:ln>
        </p:spPr>
        <p:txBody>
          <a:bodyPr/>
          <a:lstStyle/>
          <a:p>
            <a:endParaRPr lang="en-US"/>
          </a:p>
        </p:txBody>
      </p:sp>
      <p:sp>
        <p:nvSpPr>
          <p:cNvPr id="28" name="Text 25"/>
          <p:cNvSpPr/>
          <p:nvPr/>
        </p:nvSpPr>
        <p:spPr>
          <a:xfrm>
            <a:off x="932688" y="4937760"/>
            <a:ext cx="1554480" cy="182880"/>
          </a:xfrm>
          <a:prstGeom prst="rect">
            <a:avLst/>
          </a:prstGeom>
          <a:noFill/>
          <a:ln/>
        </p:spPr>
        <p:txBody>
          <a:bodyPr wrap="square" lIns="0" tIns="0" rIns="0" bIns="0" rtlCol="0" anchor="ctr"/>
          <a:lstStyle/>
          <a:p>
            <a:pPr marL="0" indent="0">
              <a:buNone/>
            </a:pPr>
            <a:r>
              <a:rPr lang="en-US" sz="1150" b="1" dirty="0">
                <a:solidFill>
                  <a:srgbClr val="8250DF"/>
                </a:solidFill>
                <a:latin typeface="Courier New" pitchFamily="34" charset="0"/>
                <a:ea typeface="Courier New" pitchFamily="34" charset="-122"/>
                <a:cs typeface="Courier New" pitchFamily="34" charset="-120"/>
              </a:rPr>
              <a:t>tests/</a:t>
            </a:r>
            <a:endParaRPr lang="en-US" sz="1150" dirty="0"/>
          </a:p>
        </p:txBody>
      </p:sp>
      <p:sp>
        <p:nvSpPr>
          <p:cNvPr id="29" name="Text 26"/>
          <p:cNvSpPr/>
          <p:nvPr/>
        </p:nvSpPr>
        <p:spPr>
          <a:xfrm>
            <a:off x="2560320" y="4937760"/>
            <a:ext cx="320040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automated evidence</a:t>
            </a:r>
            <a:endParaRPr lang="en-US" sz="1120" dirty="0"/>
          </a:p>
        </p:txBody>
      </p:sp>
      <p:sp>
        <p:nvSpPr>
          <p:cNvPr id="30" name="Shape 27"/>
          <p:cNvSpPr/>
          <p:nvPr/>
        </p:nvSpPr>
        <p:spPr>
          <a:xfrm>
            <a:off x="822960" y="5669280"/>
            <a:ext cx="5020056" cy="0"/>
          </a:xfrm>
          <a:prstGeom prst="line">
            <a:avLst/>
          </a:prstGeom>
          <a:noFill/>
          <a:ln w="6350">
            <a:solidFill>
              <a:srgbClr val="D0D7DE"/>
            </a:solidFill>
            <a:prstDash val="solid"/>
          </a:ln>
        </p:spPr>
        <p:txBody>
          <a:bodyPr/>
          <a:lstStyle/>
          <a:p>
            <a:endParaRPr lang="en-US"/>
          </a:p>
        </p:txBody>
      </p:sp>
      <p:sp>
        <p:nvSpPr>
          <p:cNvPr id="31" name="Text 28"/>
          <p:cNvSpPr/>
          <p:nvPr/>
        </p:nvSpPr>
        <p:spPr>
          <a:xfrm>
            <a:off x="932688" y="5394960"/>
            <a:ext cx="1554480" cy="182880"/>
          </a:xfrm>
          <a:prstGeom prst="rect">
            <a:avLst/>
          </a:prstGeom>
          <a:noFill/>
          <a:ln/>
        </p:spPr>
        <p:txBody>
          <a:bodyPr wrap="square" lIns="0" tIns="0" rIns="0" bIns="0" rtlCol="0" anchor="ctr"/>
          <a:lstStyle/>
          <a:p>
            <a:pPr marL="0" indent="0">
              <a:buNone/>
            </a:pPr>
            <a:r>
              <a:rPr lang="en-US" sz="1150" b="1" dirty="0">
                <a:solidFill>
                  <a:srgbClr val="8250DF"/>
                </a:solidFill>
                <a:latin typeface="Courier New" pitchFamily="34" charset="0"/>
                <a:ea typeface="Courier New" pitchFamily="34" charset="-122"/>
                <a:cs typeface="Courier New" pitchFamily="34" charset="-120"/>
              </a:rPr>
              <a:t>workshop/</a:t>
            </a:r>
            <a:endParaRPr lang="en-US" sz="1150" dirty="0"/>
          </a:p>
        </p:txBody>
      </p:sp>
      <p:sp>
        <p:nvSpPr>
          <p:cNvPr id="32" name="Text 29"/>
          <p:cNvSpPr/>
          <p:nvPr/>
        </p:nvSpPr>
        <p:spPr>
          <a:xfrm>
            <a:off x="2560320" y="5394960"/>
            <a:ext cx="320040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participant lab instructions</a:t>
            </a:r>
            <a:endParaRPr lang="en-US" sz="1120" dirty="0"/>
          </a:p>
        </p:txBody>
      </p:sp>
      <p:sp>
        <p:nvSpPr>
          <p:cNvPr id="33" name="Shape 30"/>
          <p:cNvSpPr/>
          <p:nvPr/>
        </p:nvSpPr>
        <p:spPr>
          <a:xfrm>
            <a:off x="6565392" y="1901952"/>
            <a:ext cx="5010912" cy="1143000"/>
          </a:xfrm>
          <a:prstGeom prst="roundRect">
            <a:avLst>
              <a:gd name="adj" fmla="val 5600"/>
            </a:avLst>
          </a:prstGeom>
          <a:solidFill>
            <a:srgbClr val="DDF4FF"/>
          </a:solidFill>
          <a:ln w="12700">
            <a:solidFill>
              <a:srgbClr val="0969DA"/>
            </a:solidFill>
            <a:prstDash val="solid"/>
          </a:ln>
        </p:spPr>
        <p:txBody>
          <a:bodyPr/>
          <a:lstStyle/>
          <a:p>
            <a:endParaRPr lang="en-US"/>
          </a:p>
        </p:txBody>
      </p:sp>
      <p:sp>
        <p:nvSpPr>
          <p:cNvPr id="34" name="Text 31"/>
          <p:cNvSpPr/>
          <p:nvPr/>
        </p:nvSpPr>
        <p:spPr>
          <a:xfrm>
            <a:off x="6821424" y="2112264"/>
            <a:ext cx="4498848"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Current requirement</a:t>
            </a:r>
            <a:endParaRPr lang="en-US" sz="1800" dirty="0"/>
          </a:p>
        </p:txBody>
      </p:sp>
      <p:sp>
        <p:nvSpPr>
          <p:cNvPr id="35" name="Text 32"/>
          <p:cNvSpPr/>
          <p:nvPr/>
        </p:nvSpPr>
        <p:spPr>
          <a:xfrm>
            <a:off x="6821424" y="2542032"/>
            <a:ext cx="4498848" cy="29260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Include records where AESEV is exactly SEVERE.</a:t>
            </a:r>
            <a:endParaRPr lang="en-US" sz="1300" dirty="0"/>
          </a:p>
        </p:txBody>
      </p:sp>
      <p:sp>
        <p:nvSpPr>
          <p:cNvPr id="36" name="Shape 33"/>
          <p:cNvSpPr/>
          <p:nvPr/>
        </p:nvSpPr>
        <p:spPr>
          <a:xfrm>
            <a:off x="6565392" y="3273552"/>
            <a:ext cx="5010912" cy="1143000"/>
          </a:xfrm>
          <a:prstGeom prst="roundRect">
            <a:avLst>
              <a:gd name="adj" fmla="val 5600"/>
            </a:avLst>
          </a:prstGeom>
          <a:solidFill>
            <a:srgbClr val="F6F0FF"/>
          </a:solidFill>
          <a:ln w="12700">
            <a:solidFill>
              <a:srgbClr val="8250DF"/>
            </a:solidFill>
            <a:prstDash val="solid"/>
          </a:ln>
        </p:spPr>
        <p:txBody>
          <a:bodyPr/>
          <a:lstStyle/>
          <a:p>
            <a:endParaRPr lang="en-US"/>
          </a:p>
        </p:txBody>
      </p:sp>
      <p:sp>
        <p:nvSpPr>
          <p:cNvPr id="37" name="Text 34"/>
          <p:cNvSpPr/>
          <p:nvPr/>
        </p:nvSpPr>
        <p:spPr>
          <a:xfrm>
            <a:off x="6821424" y="3483864"/>
            <a:ext cx="4498848"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Change request</a:t>
            </a:r>
            <a:endParaRPr lang="en-US" sz="1800" dirty="0"/>
          </a:p>
        </p:txBody>
      </p:sp>
      <p:sp>
        <p:nvSpPr>
          <p:cNvPr id="38" name="Text 35"/>
          <p:cNvSpPr/>
          <p:nvPr/>
        </p:nvSpPr>
        <p:spPr>
          <a:xfrm>
            <a:off x="6821424" y="3913632"/>
            <a:ext cx="4498848" cy="29260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Include both SEVERE and LIFE THREATENING events.</a:t>
            </a:r>
            <a:endParaRPr lang="en-US" sz="1300" dirty="0"/>
          </a:p>
        </p:txBody>
      </p:sp>
      <p:sp>
        <p:nvSpPr>
          <p:cNvPr id="39" name="Shape 36"/>
          <p:cNvSpPr/>
          <p:nvPr/>
        </p:nvSpPr>
        <p:spPr>
          <a:xfrm>
            <a:off x="6565392" y="4645152"/>
            <a:ext cx="5010912" cy="1143000"/>
          </a:xfrm>
          <a:prstGeom prst="roundRect">
            <a:avLst>
              <a:gd name="adj" fmla="val 5600"/>
            </a:avLst>
          </a:prstGeom>
          <a:solidFill>
            <a:srgbClr val="DAFBE1"/>
          </a:solidFill>
          <a:ln w="12700">
            <a:solidFill>
              <a:srgbClr val="1A7F37"/>
            </a:solidFill>
            <a:prstDash val="solid"/>
          </a:ln>
        </p:spPr>
        <p:txBody>
          <a:bodyPr/>
          <a:lstStyle/>
          <a:p>
            <a:endParaRPr lang="en-US"/>
          </a:p>
        </p:txBody>
      </p:sp>
      <p:sp>
        <p:nvSpPr>
          <p:cNvPr id="40" name="Text 37"/>
          <p:cNvSpPr/>
          <p:nvPr/>
        </p:nvSpPr>
        <p:spPr>
          <a:xfrm>
            <a:off x="6821424" y="4855464"/>
            <a:ext cx="4498848"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Human questions</a:t>
            </a:r>
            <a:endParaRPr lang="en-US" sz="1800" dirty="0"/>
          </a:p>
        </p:txBody>
      </p:sp>
      <p:sp>
        <p:nvSpPr>
          <p:cNvPr id="41" name="Text 38"/>
          <p:cNvSpPr/>
          <p:nvPr/>
        </p:nvSpPr>
        <p:spPr>
          <a:xfrm>
            <a:off x="6821424" y="5285232"/>
            <a:ext cx="4498848" cy="29260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Is the terminology correct? Are expected counts right? What validation still applies?</a:t>
            </a:r>
            <a:endParaRPr lang="en-US" sz="1300" dirty="0"/>
          </a:p>
        </p:txBody>
      </p:sp>
      <p:sp>
        <p:nvSpPr>
          <p:cNvPr id="42" name="Text 39"/>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43" name="Text 40">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254000"/>
          </a:xfrm>
          <a:prstGeom prst="rect">
            <a:avLst/>
          </a:prstGeom>
          <a:noFill/>
          <a:ln/>
        </p:spPr>
        <p:txBody>
          <a:bodyPr wrap="square" lIns="0" tIns="0" rIns="0" bIns="0" rtlCol="0" anchor="ctr">
            <a:noAutofit/>
          </a:bodyPr>
          <a:lstStyle/>
          <a:p>
            <a:pPr marL="0" indent="0">
              <a:buNone/>
            </a:pPr>
            <a:r>
              <a:rPr lang="en-US" sz="950" b="1" kern="0" spc="140">
                <a:solidFill>
                  <a:srgbClr val="8250DF"/>
                </a:solidFill>
                <a:latin typeface="Aptos" pitchFamily="34" charset="0"/>
                <a:ea typeface="Aptos" pitchFamily="34" charset="-122"/>
                <a:cs typeface="Aptos" pitchFamily="34" charset="-120"/>
              </a:rPr>
              <a:t>ISSUE LAB | 5 MINUTES</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Agent-ready issues reduce ambiguity</a:t>
            </a:r>
            <a:endParaRPr lang="en-US" sz="3100" dirty="0"/>
          </a:p>
        </p:txBody>
      </p:sp>
      <p:sp>
        <p:nvSpPr>
          <p:cNvPr id="7" name="Shape 4"/>
          <p:cNvSpPr/>
          <p:nvPr/>
        </p:nvSpPr>
        <p:spPr>
          <a:xfrm>
            <a:off x="566928" y="1874520"/>
            <a:ext cx="6583680" cy="4069080"/>
          </a:xfrm>
          <a:prstGeom prst="roundRect">
            <a:avLst>
              <a:gd name="adj" fmla="val 1798"/>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8" name="Shape 5"/>
          <p:cNvSpPr/>
          <p:nvPr/>
        </p:nvSpPr>
        <p:spPr>
          <a:xfrm>
            <a:off x="566928" y="1874520"/>
            <a:ext cx="6583680" cy="457200"/>
          </a:xfrm>
          <a:prstGeom prst="rect">
            <a:avLst/>
          </a:prstGeom>
          <a:solidFill>
            <a:srgbClr val="F6F8FA"/>
          </a:solidFill>
          <a:ln w="8890">
            <a:solidFill>
              <a:srgbClr val="D0D7DE"/>
            </a:solidFill>
            <a:prstDash val="solid"/>
          </a:ln>
        </p:spPr>
        <p:txBody>
          <a:bodyPr/>
          <a:lstStyle/>
          <a:p>
            <a:endParaRPr lang="en-US"/>
          </a:p>
        </p:txBody>
      </p:sp>
      <p:sp>
        <p:nvSpPr>
          <p:cNvPr id="9" name="Shape 6"/>
          <p:cNvSpPr/>
          <p:nvPr/>
        </p:nvSpPr>
        <p:spPr>
          <a:xfrm>
            <a:off x="731520" y="2039112"/>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0" name="Shape 7"/>
          <p:cNvSpPr/>
          <p:nvPr/>
        </p:nvSpPr>
        <p:spPr>
          <a:xfrm>
            <a:off x="932688" y="2039112"/>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1" name="Shape 8"/>
          <p:cNvSpPr/>
          <p:nvPr/>
        </p:nvSpPr>
        <p:spPr>
          <a:xfrm>
            <a:off x="1133856" y="2039112"/>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2" name="Shape 9"/>
          <p:cNvSpPr/>
          <p:nvPr/>
        </p:nvSpPr>
        <p:spPr>
          <a:xfrm>
            <a:off x="1408176" y="1975104"/>
            <a:ext cx="552297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3" name="Text 10"/>
          <p:cNvSpPr/>
          <p:nvPr/>
        </p:nvSpPr>
        <p:spPr>
          <a:xfrm>
            <a:off x="1554480" y="2048256"/>
            <a:ext cx="5230368"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Approved working repo / Issues / New issue</a:t>
            </a:r>
            <a:endParaRPr lang="en-US" sz="720" dirty="0"/>
          </a:p>
        </p:txBody>
      </p:sp>
      <p:sp>
        <p:nvSpPr>
          <p:cNvPr id="14" name="Shape 11"/>
          <p:cNvSpPr/>
          <p:nvPr/>
        </p:nvSpPr>
        <p:spPr>
          <a:xfrm>
            <a:off x="841248" y="2560320"/>
            <a:ext cx="1600200" cy="310896"/>
          </a:xfrm>
          <a:prstGeom prst="roundRect">
            <a:avLst>
              <a:gd name="adj" fmla="val 23529"/>
            </a:avLst>
          </a:prstGeom>
          <a:solidFill>
            <a:srgbClr val="F6F0FF"/>
          </a:solidFill>
          <a:ln w="8890">
            <a:solidFill>
              <a:srgbClr val="8250DF"/>
            </a:solidFill>
            <a:prstDash val="solid"/>
          </a:ln>
        </p:spPr>
        <p:txBody>
          <a:bodyPr/>
          <a:lstStyle/>
          <a:p>
            <a:endParaRPr lang="en-US"/>
          </a:p>
        </p:txBody>
      </p:sp>
      <p:sp>
        <p:nvSpPr>
          <p:cNvPr id="15" name="Text 12"/>
          <p:cNvSpPr/>
          <p:nvPr/>
        </p:nvSpPr>
        <p:spPr>
          <a:xfrm>
            <a:off x="932688" y="2656332"/>
            <a:ext cx="1417320" cy="109728"/>
          </a:xfrm>
          <a:prstGeom prst="rect">
            <a:avLst/>
          </a:prstGeom>
          <a:noFill/>
          <a:ln/>
        </p:spPr>
        <p:txBody>
          <a:bodyPr wrap="square" lIns="0" tIns="0" rIns="0" bIns="0" rtlCol="0" anchor="ctr"/>
          <a:lstStyle/>
          <a:p>
            <a:pPr marL="0" indent="0" algn="ctr">
              <a:buNone/>
            </a:pPr>
            <a:r>
              <a:rPr lang="en-US" sz="850" b="1" kern="0" spc="70" dirty="0">
                <a:solidFill>
                  <a:srgbClr val="8250DF"/>
                </a:solidFill>
                <a:latin typeface="Aptos" pitchFamily="34" charset="0"/>
                <a:ea typeface="Aptos" pitchFamily="34" charset="-122"/>
                <a:cs typeface="Aptos" pitchFamily="34" charset="-120"/>
              </a:rPr>
              <a:t>ANALYSIS CHANGE</a:t>
            </a:r>
            <a:endParaRPr lang="en-US" sz="850" dirty="0"/>
          </a:p>
        </p:txBody>
      </p:sp>
      <p:sp>
        <p:nvSpPr>
          <p:cNvPr id="16" name="Text 13"/>
          <p:cNvSpPr/>
          <p:nvPr/>
        </p:nvSpPr>
        <p:spPr>
          <a:xfrm>
            <a:off x="841248" y="3044952"/>
            <a:ext cx="6035040" cy="292608"/>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[Analysis] Include life-threatening events</a:t>
            </a:r>
            <a:endParaRPr lang="en-US" sz="1600" dirty="0"/>
          </a:p>
        </p:txBody>
      </p:sp>
      <p:sp>
        <p:nvSpPr>
          <p:cNvPr id="17" name="Text 14"/>
          <p:cNvSpPr/>
          <p:nvPr/>
        </p:nvSpPr>
        <p:spPr>
          <a:xfrm>
            <a:off x="859536" y="3557016"/>
            <a:ext cx="1115568" cy="201168"/>
          </a:xfrm>
          <a:prstGeom prst="rect">
            <a:avLst/>
          </a:prstGeom>
          <a:noFill/>
          <a:ln/>
        </p:spPr>
        <p:txBody>
          <a:bodyPr wrap="square" lIns="0" tIns="0" rIns="0" bIns="0" rtlCol="0" anchor="ctr"/>
          <a:lstStyle/>
          <a:p>
            <a:pPr marL="0" indent="0">
              <a:buNone/>
            </a:pPr>
            <a:r>
              <a:rPr lang="en-US" sz="1050" b="1" dirty="0">
                <a:solidFill>
                  <a:srgbClr val="8250DF"/>
                </a:solidFill>
                <a:latin typeface="Aptos" pitchFamily="34" charset="0"/>
                <a:ea typeface="Aptos" pitchFamily="34" charset="-122"/>
                <a:cs typeface="Aptos" pitchFamily="34" charset="-120"/>
              </a:rPr>
              <a:t>Objective</a:t>
            </a:r>
            <a:endParaRPr lang="en-US" sz="1050" dirty="0"/>
          </a:p>
        </p:txBody>
      </p:sp>
      <p:sp>
        <p:nvSpPr>
          <p:cNvPr id="18" name="Text 15"/>
          <p:cNvSpPr/>
          <p:nvPr/>
        </p:nvSpPr>
        <p:spPr>
          <a:xfrm>
            <a:off x="1938528" y="3557016"/>
            <a:ext cx="4919472" cy="310896"/>
          </a:xfrm>
          <a:prstGeom prst="rect">
            <a:avLst/>
          </a:prstGeom>
          <a:noFill/>
          <a:ln/>
        </p:spPr>
        <p:txBody>
          <a:bodyPr wrap="square" lIns="0" tIns="0" rIns="0" bIns="0" rtlCol="0" anchor="ctr"/>
          <a:lstStyle/>
          <a:p>
            <a:pPr marL="0" indent="0">
              <a:buNone/>
            </a:pPr>
            <a:r>
              <a:rPr lang="en-US" sz="1120" dirty="0">
                <a:solidFill>
                  <a:srgbClr val="0D1117"/>
                </a:solidFill>
                <a:latin typeface="Aptos" pitchFamily="34" charset="0"/>
                <a:ea typeface="Aptos" pitchFamily="34" charset="-122"/>
                <a:cs typeface="Aptos" pitchFamily="34" charset="-120"/>
              </a:rPr>
              <a:t>Include SEVERE and LIFE THREATENING events.</a:t>
            </a:r>
            <a:endParaRPr lang="en-US" sz="1120" dirty="0"/>
          </a:p>
        </p:txBody>
      </p:sp>
      <p:sp>
        <p:nvSpPr>
          <p:cNvPr id="19" name="Text 16"/>
          <p:cNvSpPr/>
          <p:nvPr/>
        </p:nvSpPr>
        <p:spPr>
          <a:xfrm>
            <a:off x="859536" y="4215384"/>
            <a:ext cx="1115568" cy="201168"/>
          </a:xfrm>
          <a:prstGeom prst="rect">
            <a:avLst/>
          </a:prstGeom>
          <a:noFill/>
          <a:ln/>
        </p:spPr>
        <p:txBody>
          <a:bodyPr wrap="square" lIns="0" tIns="0" rIns="0" bIns="0" rtlCol="0" anchor="ctr"/>
          <a:lstStyle/>
          <a:p>
            <a:pPr marL="0" indent="0">
              <a:buNone/>
            </a:pPr>
            <a:r>
              <a:rPr lang="en-US" sz="1050" b="1" dirty="0">
                <a:solidFill>
                  <a:srgbClr val="8250DF"/>
                </a:solidFill>
                <a:latin typeface="Aptos" pitchFamily="34" charset="0"/>
                <a:ea typeface="Aptos" pitchFamily="34" charset="-122"/>
                <a:cs typeface="Aptos" pitchFamily="34" charset="-120"/>
              </a:rPr>
              <a:t>Context</a:t>
            </a:r>
            <a:endParaRPr lang="en-US" sz="1050" dirty="0"/>
          </a:p>
        </p:txBody>
      </p:sp>
      <p:sp>
        <p:nvSpPr>
          <p:cNvPr id="20" name="Text 17"/>
          <p:cNvSpPr/>
          <p:nvPr/>
        </p:nvSpPr>
        <p:spPr>
          <a:xfrm>
            <a:off x="1938528" y="4215384"/>
            <a:ext cx="4919472" cy="310896"/>
          </a:xfrm>
          <a:prstGeom prst="rect">
            <a:avLst/>
          </a:prstGeom>
          <a:noFill/>
          <a:ln/>
        </p:spPr>
        <p:txBody>
          <a:bodyPr wrap="square" lIns="0" tIns="0" rIns="0" bIns="0" rtlCol="0" anchor="ctr"/>
          <a:lstStyle/>
          <a:p>
            <a:pPr marL="0" indent="0">
              <a:buNone/>
            </a:pPr>
            <a:r>
              <a:rPr lang="en-US" sz="1120" dirty="0">
                <a:solidFill>
                  <a:srgbClr val="0D1117"/>
                </a:solidFill>
                <a:latin typeface="Aptos" pitchFamily="34" charset="0"/>
                <a:ea typeface="Aptos" pitchFamily="34" charset="-122"/>
                <a:cs typeface="Aptos" pitchFamily="34" charset="-120"/>
              </a:rPr>
              <a:t>Requirement, terminology, code, checks, and tests.</a:t>
            </a:r>
            <a:endParaRPr lang="en-US" sz="1120" dirty="0"/>
          </a:p>
        </p:txBody>
      </p:sp>
      <p:sp>
        <p:nvSpPr>
          <p:cNvPr id="21" name="Text 18"/>
          <p:cNvSpPr/>
          <p:nvPr/>
        </p:nvSpPr>
        <p:spPr>
          <a:xfrm>
            <a:off x="859536" y="4873752"/>
            <a:ext cx="1115568" cy="201168"/>
          </a:xfrm>
          <a:prstGeom prst="rect">
            <a:avLst/>
          </a:prstGeom>
          <a:noFill/>
          <a:ln/>
        </p:spPr>
        <p:txBody>
          <a:bodyPr wrap="square" lIns="0" tIns="0" rIns="0" bIns="0" rtlCol="0" anchor="ctr"/>
          <a:lstStyle/>
          <a:p>
            <a:pPr marL="0" indent="0">
              <a:buNone/>
            </a:pPr>
            <a:r>
              <a:rPr lang="en-US" sz="1050" b="1" dirty="0">
                <a:solidFill>
                  <a:srgbClr val="8250DF"/>
                </a:solidFill>
                <a:latin typeface="Aptos" pitchFamily="34" charset="0"/>
                <a:ea typeface="Aptos" pitchFamily="34" charset="-122"/>
                <a:cs typeface="Aptos" pitchFamily="34" charset="-120"/>
              </a:rPr>
              <a:t>Constraints</a:t>
            </a:r>
            <a:endParaRPr lang="en-US" sz="1050" dirty="0"/>
          </a:p>
        </p:txBody>
      </p:sp>
      <p:sp>
        <p:nvSpPr>
          <p:cNvPr id="22" name="Text 19"/>
          <p:cNvSpPr/>
          <p:nvPr/>
        </p:nvSpPr>
        <p:spPr>
          <a:xfrm>
            <a:off x="1938528" y="4873752"/>
            <a:ext cx="4919472" cy="310896"/>
          </a:xfrm>
          <a:prstGeom prst="rect">
            <a:avLst/>
          </a:prstGeom>
          <a:noFill/>
          <a:ln/>
        </p:spPr>
        <p:txBody>
          <a:bodyPr wrap="square" lIns="0" tIns="0" rIns="0" bIns="0" rtlCol="0" anchor="ctr"/>
          <a:lstStyle/>
          <a:p>
            <a:pPr marL="0" indent="0">
              <a:buNone/>
            </a:pPr>
            <a:r>
              <a:rPr lang="en-US" sz="1120" dirty="0">
                <a:solidFill>
                  <a:srgbClr val="0D1117"/>
                </a:solidFill>
                <a:latin typeface="Aptos" pitchFamily="34" charset="0"/>
                <a:ea typeface="Aptos" pitchFamily="34" charset="-122"/>
                <a:cs typeface="Aptos" pitchFamily="34" charset="-120"/>
              </a:rPr>
              <a:t>Synthetic data; preserve output shape.</a:t>
            </a:r>
            <a:endParaRPr lang="en-US" sz="1120" dirty="0"/>
          </a:p>
        </p:txBody>
      </p:sp>
      <p:sp>
        <p:nvSpPr>
          <p:cNvPr id="23" name="Text 20"/>
          <p:cNvSpPr/>
          <p:nvPr/>
        </p:nvSpPr>
        <p:spPr>
          <a:xfrm>
            <a:off x="859536" y="5532120"/>
            <a:ext cx="1115568" cy="201168"/>
          </a:xfrm>
          <a:prstGeom prst="rect">
            <a:avLst/>
          </a:prstGeom>
          <a:noFill/>
          <a:ln/>
        </p:spPr>
        <p:txBody>
          <a:bodyPr wrap="square" lIns="0" tIns="0" rIns="0" bIns="0" rtlCol="0" anchor="ctr"/>
          <a:lstStyle/>
          <a:p>
            <a:pPr marL="0" indent="0">
              <a:buNone/>
            </a:pPr>
            <a:r>
              <a:rPr lang="en-US" sz="1050" b="1" dirty="0">
                <a:solidFill>
                  <a:srgbClr val="8250DF"/>
                </a:solidFill>
                <a:latin typeface="Aptos" pitchFamily="34" charset="0"/>
                <a:ea typeface="Aptos" pitchFamily="34" charset="-122"/>
                <a:cs typeface="Aptos" pitchFamily="34" charset="-120"/>
              </a:rPr>
              <a:t>Acceptance</a:t>
            </a:r>
            <a:endParaRPr lang="en-US" sz="1050" dirty="0"/>
          </a:p>
        </p:txBody>
      </p:sp>
      <p:sp>
        <p:nvSpPr>
          <p:cNvPr id="24" name="Text 21"/>
          <p:cNvSpPr/>
          <p:nvPr/>
        </p:nvSpPr>
        <p:spPr>
          <a:xfrm>
            <a:off x="1938528" y="5532120"/>
            <a:ext cx="4919472" cy="310896"/>
          </a:xfrm>
          <a:prstGeom prst="rect">
            <a:avLst/>
          </a:prstGeom>
          <a:noFill/>
          <a:ln/>
        </p:spPr>
        <p:txBody>
          <a:bodyPr wrap="square" lIns="0" tIns="0" rIns="0" bIns="0" rtlCol="0" anchor="ctr"/>
          <a:lstStyle/>
          <a:p>
            <a:pPr marL="0" indent="0">
              <a:buNone/>
            </a:pPr>
            <a:r>
              <a:rPr lang="en-US" sz="1120" dirty="0">
                <a:solidFill>
                  <a:srgbClr val="0D1117"/>
                </a:solidFill>
                <a:latin typeface="Aptos" pitchFamily="34" charset="0"/>
                <a:ea typeface="Aptos" pitchFamily="34" charset="-122"/>
                <a:cs typeface="Aptos" pitchFamily="34" charset="-120"/>
              </a:rPr>
              <a:t>Four records; consistent files; checks pass.</a:t>
            </a:r>
            <a:endParaRPr lang="en-US" sz="1120" dirty="0"/>
          </a:p>
        </p:txBody>
      </p:sp>
      <p:sp>
        <p:nvSpPr>
          <p:cNvPr id="25" name="Shape 22"/>
          <p:cNvSpPr/>
          <p:nvPr/>
        </p:nvSpPr>
        <p:spPr>
          <a:xfrm>
            <a:off x="7635240" y="1965960"/>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26" name="Text 23"/>
          <p:cNvSpPr/>
          <p:nvPr/>
        </p:nvSpPr>
        <p:spPr>
          <a:xfrm>
            <a:off x="7635240" y="209854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27" name="Text 24"/>
          <p:cNvSpPr/>
          <p:nvPr/>
        </p:nvSpPr>
        <p:spPr>
          <a:xfrm>
            <a:off x="8302752" y="2002536"/>
            <a:ext cx="1444752" cy="219456"/>
          </a:xfrm>
          <a:prstGeom prst="rect">
            <a:avLst/>
          </a:prstGeom>
          <a:noFill/>
          <a:ln/>
        </p:spPr>
        <p:txBody>
          <a:bodyPr wrap="square" lIns="0" tIns="0" rIns="0" bIns="0" rtlCol="0" anchor="ctr"/>
          <a:lstStyle/>
          <a:p>
            <a:pPr marL="0" indent="0">
              <a:buNone/>
            </a:pPr>
            <a:r>
              <a:rPr lang="en-US" sz="1450" b="1" dirty="0">
                <a:solidFill>
                  <a:srgbClr val="0D1117"/>
                </a:solidFill>
                <a:latin typeface="Aptos Display" pitchFamily="34" charset="0"/>
                <a:ea typeface="Aptos Display" pitchFamily="34" charset="-122"/>
                <a:cs typeface="Aptos Display" pitchFamily="34" charset="-120"/>
              </a:rPr>
              <a:t>Objective</a:t>
            </a:r>
            <a:endParaRPr lang="en-US" sz="1450" dirty="0"/>
          </a:p>
        </p:txBody>
      </p:sp>
      <p:sp>
        <p:nvSpPr>
          <p:cNvPr id="28" name="Text 25"/>
          <p:cNvSpPr/>
          <p:nvPr/>
        </p:nvSpPr>
        <p:spPr>
          <a:xfrm>
            <a:off x="9738360" y="2011680"/>
            <a:ext cx="1737360" cy="256032"/>
          </a:xfrm>
          <a:prstGeom prst="rect">
            <a:avLst/>
          </a:prstGeom>
          <a:noFill/>
          <a:ln/>
        </p:spPr>
        <p:txBody>
          <a:bodyPr wrap="square" lIns="0" tIns="0" rIns="0" bIns="0" rtlCol="0" anchor="ctr"/>
          <a:lstStyle/>
          <a:p>
            <a:pPr marL="0" indent="0">
              <a:buNone/>
            </a:pPr>
            <a:r>
              <a:rPr lang="en-US" sz="1050" dirty="0">
                <a:solidFill>
                  <a:srgbClr val="57606A"/>
                </a:solidFill>
                <a:latin typeface="Aptos" pitchFamily="34" charset="0"/>
                <a:ea typeface="Aptos" pitchFamily="34" charset="-122"/>
                <a:cs typeface="Aptos" pitchFamily="34" charset="-120"/>
              </a:rPr>
              <a:t>What outcome is needed?</a:t>
            </a:r>
            <a:endParaRPr lang="en-US" sz="1050" dirty="0"/>
          </a:p>
        </p:txBody>
      </p:sp>
      <p:sp>
        <p:nvSpPr>
          <p:cNvPr id="29" name="Shape 26"/>
          <p:cNvSpPr/>
          <p:nvPr/>
        </p:nvSpPr>
        <p:spPr>
          <a:xfrm>
            <a:off x="7635240" y="2670048"/>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30" name="Text 27"/>
          <p:cNvSpPr/>
          <p:nvPr/>
        </p:nvSpPr>
        <p:spPr>
          <a:xfrm>
            <a:off x="7635240" y="2802636"/>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31" name="Text 28"/>
          <p:cNvSpPr/>
          <p:nvPr/>
        </p:nvSpPr>
        <p:spPr>
          <a:xfrm>
            <a:off x="8302752" y="2706624"/>
            <a:ext cx="1444752" cy="219456"/>
          </a:xfrm>
          <a:prstGeom prst="rect">
            <a:avLst/>
          </a:prstGeom>
          <a:noFill/>
          <a:ln/>
        </p:spPr>
        <p:txBody>
          <a:bodyPr wrap="square" lIns="0" tIns="0" rIns="0" bIns="0" rtlCol="0" anchor="ctr"/>
          <a:lstStyle/>
          <a:p>
            <a:pPr marL="0" indent="0">
              <a:buNone/>
            </a:pPr>
            <a:r>
              <a:rPr lang="en-US" sz="1450" b="1" dirty="0">
                <a:solidFill>
                  <a:srgbClr val="0D1117"/>
                </a:solidFill>
                <a:latin typeface="Aptos Display" pitchFamily="34" charset="0"/>
                <a:ea typeface="Aptos Display" pitchFamily="34" charset="-122"/>
                <a:cs typeface="Aptos Display" pitchFamily="34" charset="-120"/>
              </a:rPr>
              <a:t>Context</a:t>
            </a:r>
            <a:endParaRPr lang="en-US" sz="1450" dirty="0"/>
          </a:p>
        </p:txBody>
      </p:sp>
      <p:sp>
        <p:nvSpPr>
          <p:cNvPr id="32" name="Text 29"/>
          <p:cNvSpPr/>
          <p:nvPr/>
        </p:nvSpPr>
        <p:spPr>
          <a:xfrm>
            <a:off x="9738360" y="2715768"/>
            <a:ext cx="1737360" cy="256032"/>
          </a:xfrm>
          <a:prstGeom prst="rect">
            <a:avLst/>
          </a:prstGeom>
          <a:noFill/>
          <a:ln/>
        </p:spPr>
        <p:txBody>
          <a:bodyPr wrap="square" lIns="0" tIns="0" rIns="0" bIns="0" rtlCol="0" anchor="ctr"/>
          <a:lstStyle/>
          <a:p>
            <a:pPr marL="0" indent="0">
              <a:buNone/>
            </a:pPr>
            <a:r>
              <a:rPr lang="en-US" sz="1050" dirty="0">
                <a:solidFill>
                  <a:srgbClr val="57606A"/>
                </a:solidFill>
                <a:latin typeface="Aptos" pitchFamily="34" charset="0"/>
                <a:ea typeface="Aptos" pitchFamily="34" charset="-122"/>
                <a:cs typeface="Aptos" pitchFamily="34" charset="-120"/>
              </a:rPr>
              <a:t>Which repository evidence matters?</a:t>
            </a:r>
            <a:endParaRPr lang="en-US" sz="1050" dirty="0"/>
          </a:p>
        </p:txBody>
      </p:sp>
      <p:sp>
        <p:nvSpPr>
          <p:cNvPr id="33" name="Shape 30"/>
          <p:cNvSpPr/>
          <p:nvPr/>
        </p:nvSpPr>
        <p:spPr>
          <a:xfrm>
            <a:off x="7635240" y="3374136"/>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34" name="Text 31"/>
          <p:cNvSpPr/>
          <p:nvPr/>
        </p:nvSpPr>
        <p:spPr>
          <a:xfrm>
            <a:off x="7635240" y="3506724"/>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35" name="Text 32"/>
          <p:cNvSpPr/>
          <p:nvPr/>
        </p:nvSpPr>
        <p:spPr>
          <a:xfrm>
            <a:off x="8302752" y="3410712"/>
            <a:ext cx="1444752" cy="219456"/>
          </a:xfrm>
          <a:prstGeom prst="rect">
            <a:avLst/>
          </a:prstGeom>
          <a:noFill/>
          <a:ln/>
        </p:spPr>
        <p:txBody>
          <a:bodyPr wrap="square" lIns="0" tIns="0" rIns="0" bIns="0" rtlCol="0" anchor="ctr"/>
          <a:lstStyle/>
          <a:p>
            <a:pPr marL="0" indent="0">
              <a:buNone/>
            </a:pPr>
            <a:r>
              <a:rPr lang="en-US" sz="1450" b="1" dirty="0">
                <a:solidFill>
                  <a:srgbClr val="0D1117"/>
                </a:solidFill>
                <a:latin typeface="Aptos Display" pitchFamily="34" charset="0"/>
                <a:ea typeface="Aptos Display" pitchFamily="34" charset="-122"/>
                <a:cs typeface="Aptos Display" pitchFamily="34" charset="-120"/>
              </a:rPr>
              <a:t>Constraints</a:t>
            </a:r>
            <a:endParaRPr lang="en-US" sz="1450" dirty="0"/>
          </a:p>
        </p:txBody>
      </p:sp>
      <p:sp>
        <p:nvSpPr>
          <p:cNvPr id="36" name="Text 33"/>
          <p:cNvSpPr/>
          <p:nvPr/>
        </p:nvSpPr>
        <p:spPr>
          <a:xfrm>
            <a:off x="9738360" y="3419856"/>
            <a:ext cx="1737360" cy="256032"/>
          </a:xfrm>
          <a:prstGeom prst="rect">
            <a:avLst/>
          </a:prstGeom>
          <a:noFill/>
          <a:ln/>
        </p:spPr>
        <p:txBody>
          <a:bodyPr wrap="square" lIns="0" tIns="0" rIns="0" bIns="0" rtlCol="0" anchor="ctr"/>
          <a:lstStyle/>
          <a:p>
            <a:pPr marL="0" indent="0">
              <a:buNone/>
            </a:pPr>
            <a:r>
              <a:rPr lang="en-US" sz="1050" dirty="0">
                <a:solidFill>
                  <a:srgbClr val="57606A"/>
                </a:solidFill>
                <a:latin typeface="Aptos" pitchFamily="34" charset="0"/>
                <a:ea typeface="Aptos" pitchFamily="34" charset="-122"/>
                <a:cs typeface="Aptos" pitchFamily="34" charset="-120"/>
              </a:rPr>
              <a:t>What must stay unchanged?</a:t>
            </a:r>
            <a:endParaRPr lang="en-US" sz="1050" dirty="0"/>
          </a:p>
        </p:txBody>
      </p:sp>
      <p:sp>
        <p:nvSpPr>
          <p:cNvPr id="37" name="Shape 34"/>
          <p:cNvSpPr/>
          <p:nvPr/>
        </p:nvSpPr>
        <p:spPr>
          <a:xfrm>
            <a:off x="7635240" y="4078224"/>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38" name="Text 35"/>
          <p:cNvSpPr/>
          <p:nvPr/>
        </p:nvSpPr>
        <p:spPr>
          <a:xfrm>
            <a:off x="7635240" y="4210812"/>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4</a:t>
            </a:r>
            <a:endParaRPr lang="en-US" sz="1200" dirty="0"/>
          </a:p>
        </p:txBody>
      </p:sp>
      <p:sp>
        <p:nvSpPr>
          <p:cNvPr id="39" name="Text 36"/>
          <p:cNvSpPr/>
          <p:nvPr/>
        </p:nvSpPr>
        <p:spPr>
          <a:xfrm>
            <a:off x="8302752" y="4114800"/>
            <a:ext cx="1444752" cy="219456"/>
          </a:xfrm>
          <a:prstGeom prst="rect">
            <a:avLst/>
          </a:prstGeom>
          <a:noFill/>
          <a:ln/>
        </p:spPr>
        <p:txBody>
          <a:bodyPr wrap="square" lIns="0" tIns="0" rIns="0" bIns="0" rtlCol="0" anchor="ctr"/>
          <a:lstStyle/>
          <a:p>
            <a:pPr marL="0" indent="0">
              <a:buNone/>
            </a:pPr>
            <a:r>
              <a:rPr lang="en-US" sz="1450" b="1" dirty="0">
                <a:solidFill>
                  <a:srgbClr val="0D1117"/>
                </a:solidFill>
                <a:latin typeface="Aptos Display" pitchFamily="34" charset="0"/>
                <a:ea typeface="Aptos Display" pitchFamily="34" charset="-122"/>
                <a:cs typeface="Aptos Display" pitchFamily="34" charset="-120"/>
              </a:rPr>
              <a:t>Acceptance</a:t>
            </a:r>
            <a:endParaRPr lang="en-US" sz="1450" dirty="0"/>
          </a:p>
        </p:txBody>
      </p:sp>
      <p:sp>
        <p:nvSpPr>
          <p:cNvPr id="40" name="Text 37"/>
          <p:cNvSpPr/>
          <p:nvPr/>
        </p:nvSpPr>
        <p:spPr>
          <a:xfrm>
            <a:off x="9738360" y="4123944"/>
            <a:ext cx="1737360" cy="256032"/>
          </a:xfrm>
          <a:prstGeom prst="rect">
            <a:avLst/>
          </a:prstGeom>
          <a:noFill/>
          <a:ln/>
        </p:spPr>
        <p:txBody>
          <a:bodyPr wrap="square" lIns="0" tIns="0" rIns="0" bIns="0" rtlCol="0" anchor="ctr"/>
          <a:lstStyle/>
          <a:p>
            <a:pPr marL="0" indent="0">
              <a:buNone/>
            </a:pPr>
            <a:r>
              <a:rPr lang="en-US" sz="1050" dirty="0">
                <a:solidFill>
                  <a:srgbClr val="57606A"/>
                </a:solidFill>
                <a:latin typeface="Aptos" pitchFamily="34" charset="0"/>
                <a:ea typeface="Aptos" pitchFamily="34" charset="-122"/>
                <a:cs typeface="Aptos" pitchFamily="34" charset="-120"/>
              </a:rPr>
              <a:t>How will reviewers judge it?</a:t>
            </a:r>
            <a:endParaRPr lang="en-US" sz="1050" dirty="0"/>
          </a:p>
        </p:txBody>
      </p:sp>
      <p:sp>
        <p:nvSpPr>
          <p:cNvPr id="41" name="Shape 38"/>
          <p:cNvSpPr/>
          <p:nvPr/>
        </p:nvSpPr>
        <p:spPr>
          <a:xfrm>
            <a:off x="7635240" y="4782312"/>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42" name="Text 39"/>
          <p:cNvSpPr/>
          <p:nvPr/>
        </p:nvSpPr>
        <p:spPr>
          <a:xfrm>
            <a:off x="7635240" y="491490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5</a:t>
            </a:r>
            <a:endParaRPr lang="en-US" sz="1200" dirty="0"/>
          </a:p>
        </p:txBody>
      </p:sp>
      <p:sp>
        <p:nvSpPr>
          <p:cNvPr id="43" name="Text 40"/>
          <p:cNvSpPr/>
          <p:nvPr/>
        </p:nvSpPr>
        <p:spPr>
          <a:xfrm>
            <a:off x="8302752" y="4818888"/>
            <a:ext cx="1444752" cy="219456"/>
          </a:xfrm>
          <a:prstGeom prst="rect">
            <a:avLst/>
          </a:prstGeom>
          <a:noFill/>
          <a:ln/>
        </p:spPr>
        <p:txBody>
          <a:bodyPr wrap="square" lIns="0" tIns="0" rIns="0" bIns="0" rtlCol="0" anchor="ctr"/>
          <a:lstStyle/>
          <a:p>
            <a:pPr marL="0" indent="0">
              <a:buNone/>
            </a:pPr>
            <a:r>
              <a:rPr lang="en-US" sz="1450" b="1" dirty="0">
                <a:solidFill>
                  <a:srgbClr val="0D1117"/>
                </a:solidFill>
                <a:latin typeface="Aptos Display" pitchFamily="34" charset="0"/>
                <a:ea typeface="Aptos Display" pitchFamily="34" charset="-122"/>
                <a:cs typeface="Aptos Display" pitchFamily="34" charset="-120"/>
              </a:rPr>
              <a:t>Human questions</a:t>
            </a:r>
            <a:endParaRPr lang="en-US" sz="1450" dirty="0"/>
          </a:p>
        </p:txBody>
      </p:sp>
      <p:sp>
        <p:nvSpPr>
          <p:cNvPr id="44" name="Text 41"/>
          <p:cNvSpPr/>
          <p:nvPr/>
        </p:nvSpPr>
        <p:spPr>
          <a:xfrm>
            <a:off x="9738360" y="4828032"/>
            <a:ext cx="1737360" cy="256032"/>
          </a:xfrm>
          <a:prstGeom prst="rect">
            <a:avLst/>
          </a:prstGeom>
          <a:noFill/>
          <a:ln/>
        </p:spPr>
        <p:txBody>
          <a:bodyPr wrap="square" lIns="0" tIns="0" rIns="0" bIns="0" rtlCol="0" anchor="ctr"/>
          <a:lstStyle/>
          <a:p>
            <a:pPr marL="0" indent="0">
              <a:buNone/>
            </a:pPr>
            <a:r>
              <a:rPr lang="en-US" sz="1050" dirty="0">
                <a:solidFill>
                  <a:srgbClr val="57606A"/>
                </a:solidFill>
                <a:latin typeface="Aptos" pitchFamily="34" charset="0"/>
                <a:ea typeface="Aptos" pitchFamily="34" charset="-122"/>
                <a:cs typeface="Aptos" pitchFamily="34" charset="-120"/>
              </a:rPr>
              <a:t>What cannot be delegated?</a:t>
            </a:r>
            <a:endParaRPr lang="en-US" sz="1050" dirty="0"/>
          </a:p>
        </p:txBody>
      </p:sp>
      <p:sp>
        <p:nvSpPr>
          <p:cNvPr id="45" name="Text 42"/>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46" name="Text 43">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TextBox 25">
            <a:extLst>
              <a:ext uri="{FF2B5EF4-FFF2-40B4-BE49-F238E27FC236}">
                <a16:creationId xmlns:a16="http://schemas.microsoft.com/office/drawing/2014/main" id="{F6B42038-C3A8-6C5F-8087-B458FA50D828}"/>
              </a:ext>
            </a:extLst>
          </p:cNvPr>
          <p:cNvSpPr txBox="1"/>
          <p:nvPr/>
        </p:nvSpPr>
        <p:spPr>
          <a:xfrm>
            <a:off x="508000" y="927100"/>
            <a:ext cx="11112500" cy="254000"/>
          </a:xfrm>
          <a:prstGeom prst="rect">
            <a:avLst/>
          </a:prstGeom>
          <a:noFill/>
        </p:spPr>
        <p:txBody>
          <a:bodyPr vert="horz" wrap="square" lIns="0" tIns="0" rIns="0" bIns="0" rtlCol="0">
            <a:noAutofit/>
          </a:bodyPr>
          <a:lstStyle/>
          <a:p>
            <a:r>
              <a:rPr lang="en-US" sz="1000" b="1">
                <a:solidFill>
                  <a:srgbClr val="8250DF"/>
                </a:solidFill>
                <a:latin typeface="Aptos" panose="020B0004020202020204" pitchFamily="34" charset="0"/>
              </a:rPr>
              <a:t>PROMPTING A LOCAL AGENT | 3 MINUTES</a:t>
            </a:r>
          </a:p>
        </p:txBody>
      </p:sp>
      <p:sp>
        <p:nvSpPr>
          <p:cNvPr id="27" name="TextBox 26">
            <a:extLst>
              <a:ext uri="{FF2B5EF4-FFF2-40B4-BE49-F238E27FC236}">
                <a16:creationId xmlns:a16="http://schemas.microsoft.com/office/drawing/2014/main" id="{F0491BF4-FF08-95DA-63F4-BBCA98A523CB}"/>
              </a:ext>
            </a:extLst>
          </p:cNvPr>
          <p:cNvSpPr txBox="1"/>
          <p:nvPr/>
        </p:nvSpPr>
        <p:spPr>
          <a:xfrm>
            <a:off x="508000" y="1257299"/>
            <a:ext cx="11112500" cy="723900"/>
          </a:xfrm>
          <a:prstGeom prst="rect">
            <a:avLst/>
          </a:prstGeom>
          <a:noFill/>
        </p:spPr>
        <p:txBody>
          <a:bodyPr vert="horz" wrap="square" lIns="0" tIns="0" rIns="0" bIns="0" rtlCol="0">
            <a:noAutofit/>
          </a:bodyPr>
          <a:lstStyle/>
          <a:p>
            <a:r>
              <a:rPr lang="en-US" sz="3000" b="1">
                <a:solidFill>
                  <a:srgbClr val="0D1117"/>
                </a:solidFill>
                <a:latin typeface="Aptos" panose="020B0004020202020204" pitchFamily="34" charset="0"/>
              </a:rPr>
              <a:t>Give the agent a clear job, not a vague wish.</a:t>
            </a:r>
          </a:p>
        </p:txBody>
      </p:sp>
      <p:sp>
        <p:nvSpPr>
          <p:cNvPr id="28" name="Rectangle 27">
            <a:extLst>
              <a:ext uri="{FF2B5EF4-FFF2-40B4-BE49-F238E27FC236}">
                <a16:creationId xmlns:a16="http://schemas.microsoft.com/office/drawing/2014/main" id="{E6AB9E2B-D845-388C-F363-3511E8A0683F}"/>
              </a:ext>
            </a:extLst>
          </p:cNvPr>
          <p:cNvSpPr/>
          <p:nvPr/>
        </p:nvSpPr>
        <p:spPr>
          <a:xfrm>
            <a:off x="533400" y="2209800"/>
            <a:ext cx="4127500" cy="34544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552D99E-AAC6-4427-F9A0-1172F698247F}"/>
              </a:ext>
            </a:extLst>
          </p:cNvPr>
          <p:cNvSpPr/>
          <p:nvPr/>
        </p:nvSpPr>
        <p:spPr>
          <a:xfrm>
            <a:off x="4914900" y="2209800"/>
            <a:ext cx="6692900" cy="34544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2C53625-50D7-7135-51D1-974B16C0F915}"/>
              </a:ext>
            </a:extLst>
          </p:cNvPr>
          <p:cNvSpPr txBox="1"/>
          <p:nvPr/>
        </p:nvSpPr>
        <p:spPr>
          <a:xfrm>
            <a:off x="698500" y="2400299"/>
            <a:ext cx="3797300" cy="393700"/>
          </a:xfrm>
          <a:prstGeom prst="rect">
            <a:avLst/>
          </a:prstGeom>
          <a:noFill/>
        </p:spPr>
        <p:txBody>
          <a:bodyPr vert="horz" wrap="square" lIns="0" tIns="0" rIns="0" bIns="0" rtlCol="0">
            <a:noAutofit/>
          </a:bodyPr>
          <a:lstStyle/>
          <a:p>
            <a:r>
              <a:rPr lang="en-US" sz="2000" b="1">
                <a:solidFill>
                  <a:srgbClr val="8250DF"/>
                </a:solidFill>
                <a:latin typeface="Aptos" panose="020B0004020202020204" pitchFamily="34" charset="0"/>
              </a:rPr>
              <a:t>A useful prompt names...</a:t>
            </a:r>
          </a:p>
        </p:txBody>
      </p:sp>
      <p:sp>
        <p:nvSpPr>
          <p:cNvPr id="31" name="TextBox 30">
            <a:extLst>
              <a:ext uri="{FF2B5EF4-FFF2-40B4-BE49-F238E27FC236}">
                <a16:creationId xmlns:a16="http://schemas.microsoft.com/office/drawing/2014/main" id="{14B48A31-0A36-02B4-3E4F-B639B5B88125}"/>
              </a:ext>
            </a:extLst>
          </p:cNvPr>
          <p:cNvSpPr txBox="1"/>
          <p:nvPr/>
        </p:nvSpPr>
        <p:spPr>
          <a:xfrm>
            <a:off x="698500" y="3009899"/>
            <a:ext cx="3797300" cy="2413000"/>
          </a:xfrm>
          <a:prstGeom prst="rect">
            <a:avLst/>
          </a:prstGeom>
          <a:noFill/>
        </p:spPr>
        <p:txBody>
          <a:bodyPr vert="horz" wrap="square" lIns="0" tIns="0" rIns="0" bIns="0" rtlCol="0">
            <a:noAutofit/>
          </a:bodyPr>
          <a:lstStyle/>
          <a:p>
            <a:r>
              <a:rPr lang="en-US" sz="1700">
                <a:solidFill>
                  <a:srgbClr val="0D1117"/>
                </a:solidFill>
                <a:latin typeface="Aptos" panose="020B0004020202020204" pitchFamily="34" charset="0"/>
              </a:rPr>
              <a:t>Goal: what should change?</a:t>
            </a:r>
          </a:p>
          <a:p>
            <a:r>
              <a:rPr lang="en-US" sz="1700">
                <a:solidFill>
                  <a:srgbClr val="0D1117"/>
                </a:solidFill>
                <a:latin typeface="Aptos" panose="020B0004020202020204" pitchFamily="34" charset="0"/>
              </a:rPr>
              <a:t>Context: which files are evidence?</a:t>
            </a:r>
          </a:p>
          <a:p>
            <a:r>
              <a:rPr lang="en-US" sz="1700">
                <a:solidFill>
                  <a:srgbClr val="0D1117"/>
                </a:solidFill>
                <a:latin typeface="Aptos" panose="020B0004020202020204" pitchFamily="34" charset="0"/>
              </a:rPr>
              <a:t>Constraints: what must stay fixed?</a:t>
            </a:r>
          </a:p>
          <a:p>
            <a:r>
              <a:rPr lang="en-US" sz="1700">
                <a:solidFill>
                  <a:srgbClr val="0D1117"/>
                </a:solidFill>
                <a:latin typeface="Aptos" panose="020B0004020202020204" pitchFamily="34" charset="0"/>
              </a:rPr>
              <a:t>Success: what output/checks matter?</a:t>
            </a:r>
          </a:p>
          <a:p>
            <a:r>
              <a:rPr lang="en-US" sz="1700">
                <a:solidFill>
                  <a:srgbClr val="0D1117"/>
                </a:solidFill>
                <a:latin typeface="Aptos" panose="020B0004020202020204" pitchFamily="34" charset="0"/>
              </a:rPr>
              <a:t>Checkpoint: plan before edits.</a:t>
            </a:r>
          </a:p>
        </p:txBody>
      </p:sp>
      <p:sp>
        <p:nvSpPr>
          <p:cNvPr id="32" name="TextBox 31">
            <a:extLst>
              <a:ext uri="{FF2B5EF4-FFF2-40B4-BE49-F238E27FC236}">
                <a16:creationId xmlns:a16="http://schemas.microsoft.com/office/drawing/2014/main" id="{002B7FAE-821C-E9A3-1834-A0D1174E7365}"/>
              </a:ext>
            </a:extLst>
          </p:cNvPr>
          <p:cNvSpPr txBox="1"/>
          <p:nvPr/>
        </p:nvSpPr>
        <p:spPr>
          <a:xfrm>
            <a:off x="5092700" y="2400299"/>
            <a:ext cx="6324600" cy="393700"/>
          </a:xfrm>
          <a:prstGeom prst="rect">
            <a:avLst/>
          </a:prstGeom>
          <a:noFill/>
        </p:spPr>
        <p:txBody>
          <a:bodyPr vert="horz" wrap="square" lIns="0" tIns="0" rIns="0" bIns="0" rtlCol="0">
            <a:noAutofit/>
          </a:bodyPr>
          <a:lstStyle/>
          <a:p>
            <a:r>
              <a:rPr lang="en-US" sz="2000" b="1">
                <a:solidFill>
                  <a:srgbClr val="8250DF"/>
                </a:solidFill>
                <a:latin typeface="Aptos" panose="020B0004020202020204" pitchFamily="34" charset="0"/>
              </a:rPr>
              <a:t>Instead of: "Fix this analysis"</a:t>
            </a:r>
          </a:p>
        </p:txBody>
      </p:sp>
      <p:sp>
        <p:nvSpPr>
          <p:cNvPr id="33" name="TextBox 32">
            <a:extLst>
              <a:ext uri="{FF2B5EF4-FFF2-40B4-BE49-F238E27FC236}">
                <a16:creationId xmlns:a16="http://schemas.microsoft.com/office/drawing/2014/main" id="{EF665ADD-F256-71AA-6629-81353C35D9DC}"/>
              </a:ext>
            </a:extLst>
          </p:cNvPr>
          <p:cNvSpPr txBox="1"/>
          <p:nvPr/>
        </p:nvSpPr>
        <p:spPr>
          <a:xfrm>
            <a:off x="5092700" y="3022599"/>
            <a:ext cx="6324600" cy="2362200"/>
          </a:xfrm>
          <a:prstGeom prst="rect">
            <a:avLst/>
          </a:prstGeom>
          <a:noFill/>
        </p:spPr>
        <p:txBody>
          <a:bodyPr vert="horz" wrap="square" lIns="0" tIns="0" rIns="0" bIns="0" rtlCol="0">
            <a:noAutofit/>
          </a:bodyPr>
          <a:lstStyle/>
          <a:p>
            <a:r>
              <a:rPr lang="en-US" sz="1700">
                <a:solidFill>
                  <a:srgbClr val="0D1117"/>
                </a:solidFill>
                <a:latin typeface="Aptos" panose="020B0004020202020204" pitchFamily="34" charset="0"/>
              </a:rPr>
              <a:t>Using the attached task and repo instructions, plan the change to include SEVERE and LIFE THREATENING events.</a:t>
            </a:r>
          </a:p>
          <a:p>
            <a:r>
              <a:rPr lang="en-US" sz="1700">
                <a:solidFill>
                  <a:srgbClr val="0D1117"/>
                </a:solidFill>
                <a:latin typeface="Aptos" panose="020B0004020202020204" pitchFamily="34" charset="0"/>
              </a:rPr>
              <a:t>Preserve output columns/order; use only synthetic data. Identify affected files, expected four records, checks and human questions.</a:t>
            </a:r>
          </a:p>
          <a:p>
            <a:r>
              <a:rPr lang="en-US" sz="1700">
                <a:solidFill>
                  <a:srgbClr val="0D1117"/>
                </a:solidFill>
                <a:latin typeface="Aptos" panose="020B0004020202020204" pitchFamily="34" charset="0"/>
              </a:rPr>
              <a:t>Do not edit files or run commands yet. Wait for my approval.</a:t>
            </a:r>
          </a:p>
        </p:txBody>
      </p:sp>
      <p:sp>
        <p:nvSpPr>
          <p:cNvPr id="34" name="TextBox 33">
            <a:extLst>
              <a:ext uri="{FF2B5EF4-FFF2-40B4-BE49-F238E27FC236}">
                <a16:creationId xmlns:a16="http://schemas.microsoft.com/office/drawing/2014/main" id="{C2C7DBF7-E809-C632-B926-EC4581487CB6}"/>
              </a:ext>
            </a:extLst>
          </p:cNvPr>
          <p:cNvSpPr txBox="1"/>
          <p:nvPr/>
        </p:nvSpPr>
        <p:spPr>
          <a:xfrm>
            <a:off x="558800" y="5905499"/>
            <a:ext cx="110490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Iterate: inspect the plan, clarify gaps, approve a bounded change, then review the evidence.</a:t>
            </a:r>
          </a:p>
        </p:txBody>
      </p:sp>
    </p:spTree>
    <p:extLst>
      <p:ext uri="{BB962C8B-B14F-4D97-AF65-F5344CB8AC3E}">
        <p14:creationId xmlns:p14="http://schemas.microsoft.com/office/powerpoint/2010/main" val="3630472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Audit text 26">
            <a:extLst>
              <a:ext uri="{FF2B5EF4-FFF2-40B4-BE49-F238E27FC236}">
                <a16:creationId xmlns:a16="http://schemas.microsoft.com/office/drawing/2014/main" id="{3D4DBD0E-7729-1CCB-A11C-814F37D1A8B8}"/>
              </a:ext>
            </a:extLst>
          </p:cNvPr>
          <p:cNvSpPr txBox="1"/>
          <p:nvPr/>
        </p:nvSpPr>
        <p:spPr>
          <a:xfrm>
            <a:off x="508000" y="927100"/>
            <a:ext cx="11099800" cy="254000"/>
          </a:xfrm>
          <a:prstGeom prst="rect">
            <a:avLst/>
          </a:prstGeom>
          <a:noFill/>
        </p:spPr>
        <p:txBody>
          <a:bodyPr vert="horz" wrap="square" lIns="0" tIns="0" rIns="0" bIns="0" rtlCol="0">
            <a:noAutofit/>
          </a:bodyPr>
          <a:lstStyle/>
          <a:p>
            <a:r>
              <a:rPr lang="en-US" sz="1000" b="1">
                <a:solidFill>
                  <a:srgbClr val="8250DF"/>
                </a:solidFill>
                <a:latin typeface="Aptos" panose="020B0004020202020204" pitchFamily="34" charset="0"/>
              </a:rPr>
              <a:t>LAB CONTEXT | 4 MINUTES</a:t>
            </a:r>
          </a:p>
        </p:txBody>
      </p:sp>
      <p:sp>
        <p:nvSpPr>
          <p:cNvPr id="27" name="Audit text 27">
            <a:extLst>
              <a:ext uri="{FF2B5EF4-FFF2-40B4-BE49-F238E27FC236}">
                <a16:creationId xmlns:a16="http://schemas.microsoft.com/office/drawing/2014/main" id="{D94AD085-E836-6D34-EE15-79FA4CDE84DA}"/>
              </a:ext>
            </a:extLst>
          </p:cNvPr>
          <p:cNvSpPr txBox="1"/>
          <p:nvPr/>
        </p:nvSpPr>
        <p:spPr>
          <a:xfrm>
            <a:off x="508000" y="1219200"/>
            <a:ext cx="11099800" cy="698500"/>
          </a:xfrm>
          <a:prstGeom prst="rect">
            <a:avLst/>
          </a:prstGeom>
          <a:noFill/>
        </p:spPr>
        <p:txBody>
          <a:bodyPr vert="horz" wrap="square" lIns="0" tIns="0" rIns="0" bIns="0" rtlCol="0">
            <a:noAutofit/>
          </a:bodyPr>
          <a:lstStyle/>
          <a:p>
            <a:r>
              <a:rPr lang="en-US" sz="2900" b="1">
                <a:solidFill>
                  <a:srgbClr val="0D1117"/>
                </a:solidFill>
                <a:latin typeface="Aptos" panose="020B0004020202020204" pitchFamily="34" charset="0"/>
              </a:rPr>
              <a:t>Exactly what to attach in Copilot Chat</a:t>
            </a:r>
          </a:p>
        </p:txBody>
      </p:sp>
      <p:sp>
        <p:nvSpPr>
          <p:cNvPr id="28" name="Audit text 28">
            <a:extLst>
              <a:ext uri="{FF2B5EF4-FFF2-40B4-BE49-F238E27FC236}">
                <a16:creationId xmlns:a16="http://schemas.microsoft.com/office/drawing/2014/main" id="{5BAA8680-0860-A762-E716-59AA5040A150}"/>
              </a:ext>
            </a:extLst>
          </p:cNvPr>
          <p:cNvSpPr txBox="1"/>
          <p:nvPr/>
        </p:nvSpPr>
        <p:spPr>
          <a:xfrm>
            <a:off x="558800" y="1930399"/>
            <a:ext cx="11036300" cy="558800"/>
          </a:xfrm>
          <a:prstGeom prst="rect">
            <a:avLst/>
          </a:prstGeom>
          <a:noFill/>
        </p:spPr>
        <p:txBody>
          <a:bodyPr vert="horz" wrap="square" lIns="0" tIns="0" rIns="0" bIns="0" rtlCol="0">
            <a:noAutofit/>
          </a:bodyPr>
          <a:lstStyle/>
          <a:p>
            <a:r>
              <a:rPr lang="en-US" sz="1600">
                <a:solidFill>
                  <a:srgbClr val="0D1117"/>
                </a:solidFill>
                <a:latin typeface="Aptos" panose="020B0004020202020204" pitchFamily="34" charset="0"/>
              </a:rPr>
              <a:t>Open your approved working clone in VS Code. Chat &gt; Add Context &gt; Files, or drag files from Explorer.</a:t>
            </a:r>
          </a:p>
        </p:txBody>
      </p:sp>
      <p:sp>
        <p:nvSpPr>
          <p:cNvPr id="29" name="Rectangle 28">
            <a:extLst>
              <a:ext uri="{FF2B5EF4-FFF2-40B4-BE49-F238E27FC236}">
                <a16:creationId xmlns:a16="http://schemas.microsoft.com/office/drawing/2014/main" id="{A72A43EF-4F4B-5899-EA2C-C5ACEB69786E}"/>
              </a:ext>
            </a:extLst>
          </p:cNvPr>
          <p:cNvSpPr/>
          <p:nvPr/>
        </p:nvSpPr>
        <p:spPr>
          <a:xfrm>
            <a:off x="533400" y="2603500"/>
            <a:ext cx="5308600" cy="28956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9698792-761F-B684-8674-C6DFEC3F54DB}"/>
              </a:ext>
            </a:extLst>
          </p:cNvPr>
          <p:cNvSpPr/>
          <p:nvPr/>
        </p:nvSpPr>
        <p:spPr>
          <a:xfrm>
            <a:off x="6057900" y="2603500"/>
            <a:ext cx="5549900" cy="28956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udit text 31">
            <a:extLst>
              <a:ext uri="{FF2B5EF4-FFF2-40B4-BE49-F238E27FC236}">
                <a16:creationId xmlns:a16="http://schemas.microsoft.com/office/drawing/2014/main" id="{94CE064A-226D-45ED-E0A6-3194B276EE5E}"/>
              </a:ext>
            </a:extLst>
          </p:cNvPr>
          <p:cNvSpPr txBox="1"/>
          <p:nvPr/>
        </p:nvSpPr>
        <p:spPr>
          <a:xfrm>
            <a:off x="698500" y="2768599"/>
            <a:ext cx="4953000" cy="393700"/>
          </a:xfrm>
          <a:prstGeom prst="rect">
            <a:avLst/>
          </a:prstGeom>
          <a:noFill/>
        </p:spPr>
        <p:txBody>
          <a:bodyPr vert="horz" wrap="square" lIns="0" tIns="0" rIns="0" bIns="0" rtlCol="0">
            <a:noAutofit/>
          </a:bodyPr>
          <a:lstStyle/>
          <a:p>
            <a:r>
              <a:rPr lang="en-US" b="1">
                <a:solidFill>
                  <a:srgbClr val="8250DF"/>
                </a:solidFill>
                <a:latin typeface="Aptos" panose="020B0004020202020204" pitchFamily="34" charset="0"/>
              </a:rPr>
              <a:t>Attach these three repository files</a:t>
            </a:r>
          </a:p>
        </p:txBody>
      </p:sp>
      <p:sp>
        <p:nvSpPr>
          <p:cNvPr id="32" name="Audit text 32">
            <a:extLst>
              <a:ext uri="{FF2B5EF4-FFF2-40B4-BE49-F238E27FC236}">
                <a16:creationId xmlns:a16="http://schemas.microsoft.com/office/drawing/2014/main" id="{D8370EEE-005C-AD36-580D-574984675270}"/>
              </a:ext>
            </a:extLst>
          </p:cNvPr>
          <p:cNvSpPr txBox="1"/>
          <p:nvPr/>
        </p:nvSpPr>
        <p:spPr>
          <a:xfrm>
            <a:off x="698500" y="3390900"/>
            <a:ext cx="4953000" cy="1295400"/>
          </a:xfrm>
          <a:prstGeom prst="rect">
            <a:avLst/>
          </a:prstGeom>
          <a:noFill/>
        </p:spPr>
        <p:txBody>
          <a:bodyPr vert="horz" wrap="square" lIns="0" tIns="0" rIns="0" bIns="0" rtlCol="0">
            <a:noAutofit/>
          </a:bodyPr>
          <a:lstStyle/>
          <a:p>
            <a:r>
              <a:rPr lang="en-US" sz="1700">
                <a:solidFill>
                  <a:srgbClr val="0D1117"/>
                </a:solidFill>
                <a:latin typeface="Aptos" panose="020B0004020202020204" pitchFamily="34" charset="0"/>
              </a:rPr>
              <a:t>AGENTS.md</a:t>
            </a:r>
          </a:p>
          <a:p>
            <a:r>
              <a:rPr lang="en-US" sz="1700">
                <a:solidFill>
                  <a:srgbClr val="0D1117"/>
                </a:solidFill>
                <a:latin typeface="Aptos" panose="020B0004020202020204" pitchFamily="34" charset="0"/>
              </a:rPr>
              <a:t>.github/copilot-instructions.md</a:t>
            </a:r>
          </a:p>
          <a:p>
            <a:r>
              <a:rPr lang="en-US" sz="1700">
                <a:solidFill>
                  <a:srgbClr val="0D1117"/>
                </a:solidFill>
                <a:latin typeface="Aptos" panose="020B0004020202020204" pitchFamily="34" charset="0"/>
              </a:rPr>
              <a:t>workshop/vscode-agent-task.md</a:t>
            </a:r>
          </a:p>
        </p:txBody>
      </p:sp>
      <p:sp>
        <p:nvSpPr>
          <p:cNvPr id="33" name="Audit text 33">
            <a:extLst>
              <a:ext uri="{FF2B5EF4-FFF2-40B4-BE49-F238E27FC236}">
                <a16:creationId xmlns:a16="http://schemas.microsoft.com/office/drawing/2014/main" id="{EF96C3D9-CCA9-2E12-F6D3-2B2BF1F0E100}"/>
              </a:ext>
            </a:extLst>
          </p:cNvPr>
          <p:cNvSpPr txBox="1"/>
          <p:nvPr/>
        </p:nvSpPr>
        <p:spPr>
          <a:xfrm>
            <a:off x="698500" y="4864100"/>
            <a:ext cx="4953000" cy="482600"/>
          </a:xfrm>
          <a:prstGeom prst="rect">
            <a:avLst/>
          </a:prstGeom>
          <a:noFill/>
        </p:spPr>
        <p:txBody>
          <a:bodyPr vert="horz" wrap="square" lIns="0" tIns="0" rIns="0" bIns="0" rtlCol="0">
            <a:noAutofit/>
          </a:bodyPr>
          <a:lstStyle/>
          <a:p>
            <a:r>
              <a:rPr lang="en-US" sz="1500">
                <a:solidFill>
                  <a:srgbClr val="57606A"/>
                </a:solidFill>
                <a:latin typeface="Aptos" panose="020B0004020202020204" pitchFamily="34" charset="0"/>
              </a:rPr>
              <a:t>These are in the repo, not separate downloads.</a:t>
            </a:r>
          </a:p>
        </p:txBody>
      </p:sp>
      <p:sp>
        <p:nvSpPr>
          <p:cNvPr id="34" name="Audit text 34">
            <a:extLst>
              <a:ext uri="{FF2B5EF4-FFF2-40B4-BE49-F238E27FC236}">
                <a16:creationId xmlns:a16="http://schemas.microsoft.com/office/drawing/2014/main" id="{871CDD39-A039-E3F0-9A08-7670EEB6FC69}"/>
              </a:ext>
            </a:extLst>
          </p:cNvPr>
          <p:cNvSpPr txBox="1"/>
          <p:nvPr/>
        </p:nvSpPr>
        <p:spPr>
          <a:xfrm>
            <a:off x="6210300" y="2768599"/>
            <a:ext cx="5194300" cy="393700"/>
          </a:xfrm>
          <a:prstGeom prst="rect">
            <a:avLst/>
          </a:prstGeom>
          <a:noFill/>
        </p:spPr>
        <p:txBody>
          <a:bodyPr vert="horz" wrap="square" lIns="0" tIns="0" rIns="0" bIns="0" rtlCol="0">
            <a:noAutofit/>
          </a:bodyPr>
          <a:lstStyle/>
          <a:p>
            <a:r>
              <a:rPr lang="en-US" b="1">
                <a:solidFill>
                  <a:srgbClr val="8250DF"/>
                </a:solidFill>
                <a:latin typeface="Aptos" panose="020B0004020202020204" pitchFamily="34" charset="0"/>
              </a:rPr>
              <a:t>Ask the agent to read the task evidence</a:t>
            </a:r>
          </a:p>
        </p:txBody>
      </p:sp>
      <p:sp>
        <p:nvSpPr>
          <p:cNvPr id="35" name="Audit text 35">
            <a:extLst>
              <a:ext uri="{FF2B5EF4-FFF2-40B4-BE49-F238E27FC236}">
                <a16:creationId xmlns:a16="http://schemas.microsoft.com/office/drawing/2014/main" id="{00D43B1A-9D69-1A38-DD5B-6A5293E57BA3}"/>
              </a:ext>
            </a:extLst>
          </p:cNvPr>
          <p:cNvSpPr txBox="1"/>
          <p:nvPr/>
        </p:nvSpPr>
        <p:spPr>
          <a:xfrm>
            <a:off x="6210300" y="3314700"/>
            <a:ext cx="5194300" cy="1905000"/>
          </a:xfrm>
          <a:prstGeom prst="rect">
            <a:avLst/>
          </a:prstGeom>
          <a:noFill/>
        </p:spPr>
        <p:txBody>
          <a:bodyPr vert="horz" wrap="square" lIns="0" tIns="0" rIns="0" bIns="0" rtlCol="0">
            <a:noAutofit/>
          </a:bodyPr>
          <a:lstStyle/>
          <a:p>
            <a:r>
              <a:rPr lang="en-US" sz="1500">
                <a:solidFill>
                  <a:srgbClr val="0D1117"/>
                </a:solidFill>
                <a:latin typeface="Aptos" panose="020B0004020202020204" pitchFamily="34" charset="0"/>
              </a:rPr>
              <a:t>requirements/analysis-requirements.md</a:t>
            </a:r>
          </a:p>
          <a:p>
            <a:r>
              <a:rPr lang="en-US" sz="1500">
                <a:solidFill>
                  <a:srgbClr val="0D1117"/>
                </a:solidFill>
                <a:latin typeface="Aptos" panose="020B0004020202020204" pitchFamily="34" charset="0"/>
              </a:rPr>
              <a:t>reference/controlled-terminology.md</a:t>
            </a:r>
          </a:p>
          <a:p>
            <a:r>
              <a:rPr lang="en-US" sz="1500">
                <a:solidFill>
                  <a:srgbClr val="0D1117"/>
                </a:solidFill>
                <a:latin typeface="Aptos" panose="020B0004020202020204" pitchFamily="34" charset="0"/>
              </a:rPr>
              <a:t>analysis/ae_summary.py, .R and .sas</a:t>
            </a:r>
          </a:p>
          <a:p>
            <a:r>
              <a:rPr lang="en-US" sz="1500">
                <a:solidFill>
                  <a:srgbClr val="0D1117"/>
                </a:solidFill>
                <a:latin typeface="Aptos" panose="020B0004020202020204" pitchFamily="34" charset="0"/>
              </a:rPr>
              <a:t>checks/expected-output.md</a:t>
            </a:r>
          </a:p>
          <a:p>
            <a:r>
              <a:rPr lang="en-US" sz="1500">
                <a:solidFill>
                  <a:srgbClr val="0D1117"/>
                </a:solidFill>
                <a:latin typeface="Aptos" panose="020B0004020202020204" pitchFamily="34" charset="0"/>
              </a:rPr>
              <a:t>tests/test_ae_summary.py</a:t>
            </a:r>
          </a:p>
        </p:txBody>
      </p:sp>
      <p:sp>
        <p:nvSpPr>
          <p:cNvPr id="36" name="Audit text 36">
            <a:extLst>
              <a:ext uri="{FF2B5EF4-FFF2-40B4-BE49-F238E27FC236}">
                <a16:creationId xmlns:a16="http://schemas.microsoft.com/office/drawing/2014/main" id="{CFA46AA5-6BEE-28D1-F11F-39C19AD9C552}"/>
              </a:ext>
            </a:extLst>
          </p:cNvPr>
          <p:cNvSpPr txBox="1"/>
          <p:nvPr/>
        </p:nvSpPr>
        <p:spPr>
          <a:xfrm>
            <a:off x="558800" y="5867400"/>
            <a:ext cx="11036300" cy="330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Full walkthrough: workshop/02-copilot-vscode-agent-lab.md (Parts 1-2)</a:t>
            </a:r>
          </a:p>
        </p:txBody>
      </p:sp>
    </p:spTree>
    <p:extLst>
      <p:ext uri="{BB962C8B-B14F-4D97-AF65-F5344CB8AC3E}">
        <p14:creationId xmlns:p14="http://schemas.microsoft.com/office/powerpoint/2010/main" val="338924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6E40C9"/>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Shape 2"/>
          <p:cNvSpPr/>
          <p:nvPr/>
        </p:nvSpPr>
        <p:spPr>
          <a:xfrm>
            <a:off x="566928" y="1051560"/>
            <a:ext cx="2487168" cy="310896"/>
          </a:xfrm>
          <a:prstGeom prst="roundRect">
            <a:avLst>
              <a:gd name="adj" fmla="val 23529"/>
            </a:avLst>
          </a:prstGeom>
          <a:solidFill>
            <a:srgbClr val="FFFFFF"/>
          </a:solidFill>
          <a:ln w="8890">
            <a:solidFill>
              <a:srgbClr val="FFFFFF"/>
            </a:solidFill>
            <a:prstDash val="solid"/>
          </a:ln>
        </p:spPr>
        <p:txBody>
          <a:bodyPr/>
          <a:lstStyle/>
          <a:p>
            <a:endParaRPr lang="en-US"/>
          </a:p>
        </p:txBody>
      </p:sp>
      <p:sp>
        <p:nvSpPr>
          <p:cNvPr id="6" name="Text 3"/>
          <p:cNvSpPr/>
          <p:nvPr/>
        </p:nvSpPr>
        <p:spPr>
          <a:xfrm>
            <a:off x="658368" y="1147572"/>
            <a:ext cx="2304288" cy="109728"/>
          </a:xfrm>
          <a:prstGeom prst="rect">
            <a:avLst/>
          </a:prstGeom>
          <a:noFill/>
          <a:ln/>
        </p:spPr>
        <p:txBody>
          <a:bodyPr wrap="square" lIns="0" tIns="0" rIns="0" bIns="0" rtlCol="0" anchor="ctr"/>
          <a:lstStyle/>
          <a:p>
            <a:pPr marL="0" indent="0" algn="ctr">
              <a:buNone/>
            </a:pPr>
            <a:r>
              <a:rPr lang="en-US" sz="850" b="1" kern="0" spc="70" dirty="0">
                <a:solidFill>
                  <a:srgbClr val="6E40C9"/>
                </a:solidFill>
                <a:latin typeface="Aptos" pitchFamily="34" charset="0"/>
                <a:ea typeface="Aptos" pitchFamily="34" charset="-122"/>
                <a:cs typeface="Aptos" pitchFamily="34" charset="-120"/>
              </a:rPr>
              <a:t>LOCAL AGENT LAB | 8 MINUTES</a:t>
            </a:r>
            <a:endParaRPr lang="en-US" sz="850" dirty="0"/>
          </a:p>
        </p:txBody>
      </p:sp>
      <p:sp>
        <p:nvSpPr>
          <p:cNvPr id="7" name="Text 4"/>
          <p:cNvSpPr/>
          <p:nvPr/>
        </p:nvSpPr>
        <p:spPr>
          <a:xfrm>
            <a:off x="566928" y="1664208"/>
            <a:ext cx="5806440" cy="594360"/>
          </a:xfrm>
          <a:prstGeom prst="rect">
            <a:avLst/>
          </a:prstGeom>
          <a:noFill/>
          <a:ln/>
        </p:spPr>
        <p:txBody>
          <a:bodyPr wrap="square" lIns="0" tIns="0" rIns="0" bIns="0" rtlCol="0" anchor="ctr"/>
          <a:lstStyle/>
          <a:p>
            <a:pPr marL="0" indent="0">
              <a:buNone/>
            </a:pPr>
            <a:r>
              <a:rPr lang="en-US" sz="3700" b="1" dirty="0">
                <a:solidFill>
                  <a:srgbClr val="FFFFFF"/>
                </a:solidFill>
                <a:latin typeface="Aptos Display" pitchFamily="34" charset="0"/>
                <a:ea typeface="Aptos Display" pitchFamily="34" charset="-122"/>
                <a:cs typeface="Aptos Display" pitchFamily="34" charset="-120"/>
              </a:rPr>
              <a:t>Start the agent. Ask for a plan first.</a:t>
            </a:r>
            <a:endParaRPr lang="en-US" sz="3700" dirty="0"/>
          </a:p>
        </p:txBody>
      </p:sp>
      <p:sp>
        <p:nvSpPr>
          <p:cNvPr id="8" name="Shape 5"/>
          <p:cNvSpPr/>
          <p:nvPr/>
        </p:nvSpPr>
        <p:spPr>
          <a:xfrm>
            <a:off x="713232" y="2670048"/>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9" name="Text 6"/>
          <p:cNvSpPr/>
          <p:nvPr/>
        </p:nvSpPr>
        <p:spPr>
          <a:xfrm>
            <a:off x="713232" y="2802636"/>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1</a:t>
            </a:r>
            <a:endParaRPr lang="en-US" sz="1200" dirty="0"/>
          </a:p>
        </p:txBody>
      </p:sp>
      <p:sp>
        <p:nvSpPr>
          <p:cNvPr id="10" name="Text 7"/>
          <p:cNvSpPr/>
          <p:nvPr/>
        </p:nvSpPr>
        <p:spPr>
          <a:xfrm>
            <a:off x="1389888" y="2779776"/>
            <a:ext cx="5047488"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In VS Code Chat, select Agent</a:t>
            </a:r>
            <a:endParaRPr lang="en-US" sz="1600" dirty="0"/>
          </a:p>
        </p:txBody>
      </p:sp>
      <p:sp>
        <p:nvSpPr>
          <p:cNvPr id="11" name="Shape 8"/>
          <p:cNvSpPr/>
          <p:nvPr/>
        </p:nvSpPr>
        <p:spPr>
          <a:xfrm>
            <a:off x="713232" y="3328416"/>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12" name="Text 9"/>
          <p:cNvSpPr/>
          <p:nvPr/>
        </p:nvSpPr>
        <p:spPr>
          <a:xfrm>
            <a:off x="713232" y="3461004"/>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2</a:t>
            </a:r>
            <a:endParaRPr lang="en-US" sz="1200" dirty="0"/>
          </a:p>
        </p:txBody>
      </p:sp>
      <p:sp>
        <p:nvSpPr>
          <p:cNvPr id="13" name="Text 10"/>
          <p:cNvSpPr/>
          <p:nvPr/>
        </p:nvSpPr>
        <p:spPr>
          <a:xfrm>
            <a:off x="1389888" y="3438144"/>
            <a:ext cx="5047488"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Attach the three files on the context slide</a:t>
            </a:r>
            <a:endParaRPr lang="en-US" sz="1600" dirty="0"/>
          </a:p>
        </p:txBody>
      </p:sp>
      <p:sp>
        <p:nvSpPr>
          <p:cNvPr id="14" name="Shape 11"/>
          <p:cNvSpPr/>
          <p:nvPr/>
        </p:nvSpPr>
        <p:spPr>
          <a:xfrm>
            <a:off x="713232" y="3986784"/>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15" name="Text 12"/>
          <p:cNvSpPr/>
          <p:nvPr/>
        </p:nvSpPr>
        <p:spPr>
          <a:xfrm>
            <a:off x="713232" y="4119372"/>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3</a:t>
            </a:r>
            <a:endParaRPr lang="en-US" sz="1200" dirty="0"/>
          </a:p>
        </p:txBody>
      </p:sp>
      <p:sp>
        <p:nvSpPr>
          <p:cNvPr id="16" name="Text 13"/>
          <p:cNvSpPr/>
          <p:nvPr/>
        </p:nvSpPr>
        <p:spPr>
          <a:xfrm>
            <a:off x="1389888" y="4096512"/>
            <a:ext cx="5047488"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Request a plan before any file edits</a:t>
            </a:r>
            <a:endParaRPr lang="en-US" sz="1600" dirty="0"/>
          </a:p>
        </p:txBody>
      </p:sp>
      <p:sp>
        <p:nvSpPr>
          <p:cNvPr id="17" name="Shape 14"/>
          <p:cNvSpPr/>
          <p:nvPr/>
        </p:nvSpPr>
        <p:spPr>
          <a:xfrm>
            <a:off x="713232" y="4645152"/>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18" name="Text 15"/>
          <p:cNvSpPr/>
          <p:nvPr/>
        </p:nvSpPr>
        <p:spPr>
          <a:xfrm>
            <a:off x="713232" y="4777740"/>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4</a:t>
            </a:r>
            <a:endParaRPr lang="en-US" sz="1200" dirty="0"/>
          </a:p>
        </p:txBody>
      </p:sp>
      <p:sp>
        <p:nvSpPr>
          <p:cNvPr id="19" name="Text 16"/>
          <p:cNvSpPr/>
          <p:nvPr/>
        </p:nvSpPr>
        <p:spPr>
          <a:xfrm>
            <a:off x="1389888" y="4754880"/>
            <a:ext cx="5047488"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Approve scope and tool actions deliberately</a:t>
            </a:r>
            <a:endParaRPr lang="en-US" sz="1600" dirty="0"/>
          </a:p>
        </p:txBody>
      </p:sp>
      <p:sp>
        <p:nvSpPr>
          <p:cNvPr id="20" name="Shape 17"/>
          <p:cNvSpPr/>
          <p:nvPr/>
        </p:nvSpPr>
        <p:spPr>
          <a:xfrm>
            <a:off x="6656832" y="1298448"/>
            <a:ext cx="4919472" cy="4553712"/>
          </a:xfrm>
          <a:prstGeom prst="roundRect">
            <a:avLst>
              <a:gd name="adj" fmla="val 1606"/>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21" name="Shape 18"/>
          <p:cNvSpPr/>
          <p:nvPr/>
        </p:nvSpPr>
        <p:spPr>
          <a:xfrm>
            <a:off x="6656832" y="1298448"/>
            <a:ext cx="4919472" cy="457200"/>
          </a:xfrm>
          <a:prstGeom prst="rect">
            <a:avLst/>
          </a:prstGeom>
          <a:solidFill>
            <a:srgbClr val="F6F8FA"/>
          </a:solidFill>
          <a:ln w="8890">
            <a:solidFill>
              <a:srgbClr val="D0D7DE"/>
            </a:solidFill>
            <a:prstDash val="solid"/>
          </a:ln>
        </p:spPr>
        <p:txBody>
          <a:bodyPr/>
          <a:lstStyle/>
          <a:p>
            <a:endParaRPr lang="en-US"/>
          </a:p>
        </p:txBody>
      </p:sp>
      <p:sp>
        <p:nvSpPr>
          <p:cNvPr id="22" name="Shape 19"/>
          <p:cNvSpPr/>
          <p:nvPr/>
        </p:nvSpPr>
        <p:spPr>
          <a:xfrm>
            <a:off x="6821424" y="146304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23" name="Shape 20"/>
          <p:cNvSpPr/>
          <p:nvPr/>
        </p:nvSpPr>
        <p:spPr>
          <a:xfrm>
            <a:off x="7022592" y="146304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24" name="Shape 21"/>
          <p:cNvSpPr/>
          <p:nvPr/>
        </p:nvSpPr>
        <p:spPr>
          <a:xfrm>
            <a:off x="7223760" y="146304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25" name="Shape 22"/>
          <p:cNvSpPr/>
          <p:nvPr/>
        </p:nvSpPr>
        <p:spPr>
          <a:xfrm>
            <a:off x="7498080" y="1399032"/>
            <a:ext cx="3858768"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26" name="Text 23"/>
          <p:cNvSpPr/>
          <p:nvPr/>
        </p:nvSpPr>
        <p:spPr>
          <a:xfrm>
            <a:off x="7644384" y="1472184"/>
            <a:ext cx="3566160"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VS Code / Copilot Chat / Agent</a:t>
            </a:r>
            <a:endParaRPr lang="en-US" sz="720" dirty="0"/>
          </a:p>
        </p:txBody>
      </p:sp>
      <p:sp>
        <p:nvSpPr>
          <p:cNvPr id="27" name="Text 24"/>
          <p:cNvSpPr/>
          <p:nvPr/>
        </p:nvSpPr>
        <p:spPr>
          <a:xfrm>
            <a:off x="6976872" y="2011680"/>
            <a:ext cx="2743200" cy="274320"/>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VS Code Agent mode</a:t>
            </a:r>
            <a:endParaRPr lang="en-US" sz="1700" dirty="0"/>
          </a:p>
        </p:txBody>
      </p:sp>
      <p:sp>
        <p:nvSpPr>
          <p:cNvPr id="28" name="Shape 25"/>
          <p:cNvSpPr/>
          <p:nvPr/>
        </p:nvSpPr>
        <p:spPr>
          <a:xfrm>
            <a:off x="10158984" y="1984248"/>
            <a:ext cx="1078992" cy="310896"/>
          </a:xfrm>
          <a:prstGeom prst="roundRect">
            <a:avLst>
              <a:gd name="adj" fmla="val 23529"/>
            </a:avLst>
          </a:prstGeom>
          <a:solidFill>
            <a:srgbClr val="8250DF"/>
          </a:solidFill>
          <a:ln w="8890">
            <a:solidFill>
              <a:srgbClr val="8250DF"/>
            </a:solidFill>
            <a:prstDash val="solid"/>
          </a:ln>
        </p:spPr>
        <p:txBody>
          <a:bodyPr/>
          <a:lstStyle/>
          <a:p>
            <a:endParaRPr lang="en-US"/>
          </a:p>
        </p:txBody>
      </p:sp>
      <p:sp>
        <p:nvSpPr>
          <p:cNvPr id="29" name="Text 26"/>
          <p:cNvSpPr/>
          <p:nvPr/>
        </p:nvSpPr>
        <p:spPr>
          <a:xfrm>
            <a:off x="10250424" y="2080260"/>
            <a:ext cx="896112"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LOCAL</a:t>
            </a:r>
            <a:endParaRPr lang="en-US" sz="850" dirty="0"/>
          </a:p>
        </p:txBody>
      </p:sp>
      <p:sp>
        <p:nvSpPr>
          <p:cNvPr id="30" name="Shape 27"/>
          <p:cNvSpPr/>
          <p:nvPr/>
        </p:nvSpPr>
        <p:spPr>
          <a:xfrm>
            <a:off x="7040880" y="2715768"/>
            <a:ext cx="219456" cy="219456"/>
          </a:xfrm>
          <a:prstGeom prst="ellipse">
            <a:avLst/>
          </a:prstGeom>
          <a:solidFill>
            <a:srgbClr val="1A7F37"/>
          </a:solidFill>
          <a:ln w="12700">
            <a:solidFill>
              <a:srgbClr val="1A7F37">
                <a:alpha val="0"/>
              </a:srgbClr>
            </a:solidFill>
            <a:prstDash val="solid"/>
          </a:ln>
        </p:spPr>
        <p:txBody>
          <a:bodyPr/>
          <a:lstStyle/>
          <a:p>
            <a:endParaRPr lang="en-US"/>
          </a:p>
        </p:txBody>
      </p:sp>
      <p:sp>
        <p:nvSpPr>
          <p:cNvPr id="31" name="Shape 28"/>
          <p:cNvSpPr/>
          <p:nvPr/>
        </p:nvSpPr>
        <p:spPr>
          <a:xfrm>
            <a:off x="7150608" y="2935224"/>
            <a:ext cx="0" cy="420624"/>
          </a:xfrm>
          <a:prstGeom prst="line">
            <a:avLst/>
          </a:prstGeom>
          <a:noFill/>
          <a:ln w="15240">
            <a:solidFill>
              <a:srgbClr val="D0D7DE"/>
            </a:solidFill>
            <a:prstDash val="solid"/>
          </a:ln>
        </p:spPr>
        <p:txBody>
          <a:bodyPr/>
          <a:lstStyle/>
          <a:p>
            <a:endParaRPr lang="en-US"/>
          </a:p>
        </p:txBody>
      </p:sp>
      <p:sp>
        <p:nvSpPr>
          <p:cNvPr id="32" name="Text 29"/>
          <p:cNvSpPr/>
          <p:nvPr/>
        </p:nvSpPr>
        <p:spPr>
          <a:xfrm>
            <a:off x="7461504" y="2706624"/>
            <a:ext cx="1005840" cy="201168"/>
          </a:xfrm>
          <a:prstGeom prst="rect">
            <a:avLst/>
          </a:prstGeom>
          <a:noFill/>
          <a:ln/>
        </p:spPr>
        <p:txBody>
          <a:bodyPr wrap="square" lIns="0" tIns="0" rIns="0" bIns="0" rtlCol="0" anchor="ctr"/>
          <a:lstStyle/>
          <a:p>
            <a:pPr marL="0" indent="0">
              <a:buNone/>
            </a:pPr>
            <a:r>
              <a:rPr lang="en-US" sz="1300" b="1" dirty="0">
                <a:solidFill>
                  <a:srgbClr val="0D1117"/>
                </a:solidFill>
                <a:latin typeface="Aptos Display" pitchFamily="34" charset="0"/>
                <a:ea typeface="Aptos Display" pitchFamily="34" charset="-122"/>
                <a:cs typeface="Aptos Display" pitchFamily="34" charset="-120"/>
              </a:rPr>
              <a:t>Research</a:t>
            </a:r>
            <a:endParaRPr lang="en-US" sz="1300" dirty="0"/>
          </a:p>
        </p:txBody>
      </p:sp>
      <p:sp>
        <p:nvSpPr>
          <p:cNvPr id="33" name="Text 30"/>
          <p:cNvSpPr/>
          <p:nvPr/>
        </p:nvSpPr>
        <p:spPr>
          <a:xfrm>
            <a:off x="8394192" y="2715768"/>
            <a:ext cx="2889504" cy="310896"/>
          </a:xfrm>
          <a:prstGeom prst="rect">
            <a:avLst/>
          </a:prstGeom>
          <a:noFill/>
          <a:ln/>
        </p:spPr>
        <p:txBody>
          <a:bodyPr wrap="square" lIns="0" tIns="0" rIns="0" bIns="0" rtlCol="0" anchor="ctr"/>
          <a:lstStyle/>
          <a:p>
            <a:pPr marL="0" indent="0">
              <a:buNone/>
            </a:pPr>
            <a:r>
              <a:rPr lang="en-US" sz="1100" dirty="0">
                <a:solidFill>
                  <a:srgbClr val="57606A"/>
                </a:solidFill>
                <a:latin typeface="Aptos" pitchFamily="34" charset="0"/>
                <a:ea typeface="Aptos" pitchFamily="34" charset="-122"/>
                <a:cs typeface="Aptos" pitchFamily="34" charset="-120"/>
              </a:rPr>
              <a:t>Read requirements and repository instructions</a:t>
            </a:r>
            <a:endParaRPr lang="en-US" sz="1100" dirty="0"/>
          </a:p>
        </p:txBody>
      </p:sp>
      <p:sp>
        <p:nvSpPr>
          <p:cNvPr id="34" name="Shape 31"/>
          <p:cNvSpPr/>
          <p:nvPr/>
        </p:nvSpPr>
        <p:spPr>
          <a:xfrm>
            <a:off x="7040880" y="3355848"/>
            <a:ext cx="219456" cy="219456"/>
          </a:xfrm>
          <a:prstGeom prst="ellipse">
            <a:avLst/>
          </a:prstGeom>
          <a:solidFill>
            <a:srgbClr val="1A7F37"/>
          </a:solidFill>
          <a:ln w="12700">
            <a:solidFill>
              <a:srgbClr val="1A7F37">
                <a:alpha val="0"/>
              </a:srgbClr>
            </a:solidFill>
            <a:prstDash val="solid"/>
          </a:ln>
        </p:spPr>
        <p:txBody>
          <a:bodyPr/>
          <a:lstStyle/>
          <a:p>
            <a:endParaRPr lang="en-US"/>
          </a:p>
        </p:txBody>
      </p:sp>
      <p:sp>
        <p:nvSpPr>
          <p:cNvPr id="35" name="Shape 32"/>
          <p:cNvSpPr/>
          <p:nvPr/>
        </p:nvSpPr>
        <p:spPr>
          <a:xfrm>
            <a:off x="7150608" y="3575304"/>
            <a:ext cx="0" cy="420624"/>
          </a:xfrm>
          <a:prstGeom prst="line">
            <a:avLst/>
          </a:prstGeom>
          <a:noFill/>
          <a:ln w="15240">
            <a:solidFill>
              <a:srgbClr val="D0D7DE"/>
            </a:solidFill>
            <a:prstDash val="solid"/>
          </a:ln>
        </p:spPr>
        <p:txBody>
          <a:bodyPr/>
          <a:lstStyle/>
          <a:p>
            <a:endParaRPr lang="en-US"/>
          </a:p>
        </p:txBody>
      </p:sp>
      <p:sp>
        <p:nvSpPr>
          <p:cNvPr id="36" name="Text 33"/>
          <p:cNvSpPr/>
          <p:nvPr/>
        </p:nvSpPr>
        <p:spPr>
          <a:xfrm>
            <a:off x="7461504" y="3346704"/>
            <a:ext cx="1005840" cy="201168"/>
          </a:xfrm>
          <a:prstGeom prst="rect">
            <a:avLst/>
          </a:prstGeom>
          <a:noFill/>
          <a:ln/>
        </p:spPr>
        <p:txBody>
          <a:bodyPr wrap="square" lIns="0" tIns="0" rIns="0" bIns="0" rtlCol="0" anchor="ctr"/>
          <a:lstStyle/>
          <a:p>
            <a:pPr marL="0" indent="0">
              <a:buNone/>
            </a:pPr>
            <a:r>
              <a:rPr lang="en-US" sz="1300" b="1" dirty="0">
                <a:solidFill>
                  <a:srgbClr val="0D1117"/>
                </a:solidFill>
                <a:latin typeface="Aptos Display" pitchFamily="34" charset="0"/>
                <a:ea typeface="Aptos Display" pitchFamily="34" charset="-122"/>
                <a:cs typeface="Aptos Display" pitchFamily="34" charset="-120"/>
              </a:rPr>
              <a:t>Plan</a:t>
            </a:r>
            <a:endParaRPr lang="en-US" sz="1300" dirty="0"/>
          </a:p>
        </p:txBody>
      </p:sp>
      <p:sp>
        <p:nvSpPr>
          <p:cNvPr id="37" name="Text 34"/>
          <p:cNvSpPr/>
          <p:nvPr/>
        </p:nvSpPr>
        <p:spPr>
          <a:xfrm>
            <a:off x="8394192" y="3355848"/>
            <a:ext cx="2889504" cy="310896"/>
          </a:xfrm>
          <a:prstGeom prst="rect">
            <a:avLst/>
          </a:prstGeom>
          <a:noFill/>
          <a:ln/>
        </p:spPr>
        <p:txBody>
          <a:bodyPr wrap="square" lIns="0" tIns="0" rIns="0" bIns="0" rtlCol="0" anchor="ctr"/>
          <a:lstStyle/>
          <a:p>
            <a:pPr marL="0" indent="0">
              <a:buNone/>
            </a:pPr>
            <a:r>
              <a:rPr lang="en-US" sz="1100" dirty="0">
                <a:solidFill>
                  <a:srgbClr val="57606A"/>
                </a:solidFill>
                <a:latin typeface="Aptos" pitchFamily="34" charset="0"/>
                <a:ea typeface="Aptos" pitchFamily="34" charset="-122"/>
                <a:cs typeface="Aptos" pitchFamily="34" charset="-120"/>
              </a:rPr>
              <a:t>Propose scoped edits and validation</a:t>
            </a:r>
            <a:endParaRPr lang="en-US" sz="1100" dirty="0"/>
          </a:p>
        </p:txBody>
      </p:sp>
      <p:sp>
        <p:nvSpPr>
          <p:cNvPr id="38" name="Shape 35"/>
          <p:cNvSpPr/>
          <p:nvPr/>
        </p:nvSpPr>
        <p:spPr>
          <a:xfrm>
            <a:off x="7040880" y="3995928"/>
            <a:ext cx="219456" cy="219456"/>
          </a:xfrm>
          <a:prstGeom prst="ellipse">
            <a:avLst/>
          </a:prstGeom>
          <a:solidFill>
            <a:srgbClr val="8250DF"/>
          </a:solidFill>
          <a:ln w="12700">
            <a:solidFill>
              <a:srgbClr val="8250DF">
                <a:alpha val="0"/>
              </a:srgbClr>
            </a:solidFill>
            <a:prstDash val="solid"/>
          </a:ln>
        </p:spPr>
        <p:txBody>
          <a:bodyPr/>
          <a:lstStyle/>
          <a:p>
            <a:endParaRPr lang="en-US"/>
          </a:p>
        </p:txBody>
      </p:sp>
      <p:sp>
        <p:nvSpPr>
          <p:cNvPr id="39" name="Shape 36"/>
          <p:cNvSpPr/>
          <p:nvPr/>
        </p:nvSpPr>
        <p:spPr>
          <a:xfrm>
            <a:off x="7150608" y="4215384"/>
            <a:ext cx="0" cy="420624"/>
          </a:xfrm>
          <a:prstGeom prst="line">
            <a:avLst/>
          </a:prstGeom>
          <a:noFill/>
          <a:ln w="15240">
            <a:solidFill>
              <a:srgbClr val="D0D7DE"/>
            </a:solidFill>
            <a:prstDash val="solid"/>
          </a:ln>
        </p:spPr>
        <p:txBody>
          <a:bodyPr/>
          <a:lstStyle/>
          <a:p>
            <a:endParaRPr lang="en-US"/>
          </a:p>
        </p:txBody>
      </p:sp>
      <p:sp>
        <p:nvSpPr>
          <p:cNvPr id="40" name="Text 37"/>
          <p:cNvSpPr/>
          <p:nvPr/>
        </p:nvSpPr>
        <p:spPr>
          <a:xfrm>
            <a:off x="7461504" y="3986784"/>
            <a:ext cx="1005840" cy="201168"/>
          </a:xfrm>
          <a:prstGeom prst="rect">
            <a:avLst/>
          </a:prstGeom>
          <a:noFill/>
          <a:ln/>
        </p:spPr>
        <p:txBody>
          <a:bodyPr wrap="square" lIns="0" tIns="0" rIns="0" bIns="0" rtlCol="0" anchor="ctr"/>
          <a:lstStyle/>
          <a:p>
            <a:pPr marL="0" indent="0">
              <a:buNone/>
            </a:pPr>
            <a:r>
              <a:rPr lang="en-US" sz="1300" b="1" dirty="0">
                <a:solidFill>
                  <a:srgbClr val="0D1117"/>
                </a:solidFill>
                <a:latin typeface="Aptos Display" pitchFamily="34" charset="0"/>
                <a:ea typeface="Aptos Display" pitchFamily="34" charset="-122"/>
                <a:cs typeface="Aptos Display" pitchFamily="34" charset="-120"/>
              </a:rPr>
              <a:t>Implement</a:t>
            </a:r>
            <a:endParaRPr lang="en-US" sz="1300" dirty="0"/>
          </a:p>
        </p:txBody>
      </p:sp>
      <p:sp>
        <p:nvSpPr>
          <p:cNvPr id="41" name="Text 38"/>
          <p:cNvSpPr/>
          <p:nvPr/>
        </p:nvSpPr>
        <p:spPr>
          <a:xfrm>
            <a:off x="8394192" y="3995928"/>
            <a:ext cx="2889504" cy="310896"/>
          </a:xfrm>
          <a:prstGeom prst="rect">
            <a:avLst/>
          </a:prstGeom>
          <a:noFill/>
          <a:ln/>
        </p:spPr>
        <p:txBody>
          <a:bodyPr wrap="square" lIns="0" tIns="0" rIns="0" bIns="0" rtlCol="0" anchor="ctr"/>
          <a:lstStyle/>
          <a:p>
            <a:pPr marL="0" indent="0">
              <a:buNone/>
            </a:pPr>
            <a:r>
              <a:rPr lang="en-US" sz="1100" dirty="0">
                <a:solidFill>
                  <a:srgbClr val="57606A"/>
                </a:solidFill>
                <a:latin typeface="Aptos" pitchFamily="34" charset="0"/>
                <a:ea typeface="Aptos" pitchFamily="34" charset="-122"/>
                <a:cs typeface="Aptos" pitchFamily="34" charset="-120"/>
              </a:rPr>
              <a:t>Edit locally on your existing branch</a:t>
            </a:r>
            <a:endParaRPr lang="en-US" sz="1100" dirty="0"/>
          </a:p>
        </p:txBody>
      </p:sp>
      <p:sp>
        <p:nvSpPr>
          <p:cNvPr id="42" name="Shape 39"/>
          <p:cNvSpPr/>
          <p:nvPr/>
        </p:nvSpPr>
        <p:spPr>
          <a:xfrm>
            <a:off x="7040880" y="4636008"/>
            <a:ext cx="219456" cy="219456"/>
          </a:xfrm>
          <a:prstGeom prst="ellipse">
            <a:avLst/>
          </a:prstGeom>
          <a:solidFill>
            <a:srgbClr val="D0D7DE"/>
          </a:solidFill>
          <a:ln w="12700">
            <a:solidFill>
              <a:srgbClr val="D0D7DE">
                <a:alpha val="0"/>
              </a:srgbClr>
            </a:solidFill>
            <a:prstDash val="solid"/>
          </a:ln>
        </p:spPr>
        <p:txBody>
          <a:bodyPr/>
          <a:lstStyle/>
          <a:p>
            <a:endParaRPr lang="en-US"/>
          </a:p>
        </p:txBody>
      </p:sp>
      <p:sp>
        <p:nvSpPr>
          <p:cNvPr id="43" name="Text 40"/>
          <p:cNvSpPr/>
          <p:nvPr/>
        </p:nvSpPr>
        <p:spPr>
          <a:xfrm>
            <a:off x="7461504" y="4626864"/>
            <a:ext cx="1005840" cy="201168"/>
          </a:xfrm>
          <a:prstGeom prst="rect">
            <a:avLst/>
          </a:prstGeom>
          <a:noFill/>
          <a:ln/>
        </p:spPr>
        <p:txBody>
          <a:bodyPr wrap="square" lIns="0" tIns="0" rIns="0" bIns="0" rtlCol="0" anchor="ctr"/>
          <a:lstStyle/>
          <a:p>
            <a:pPr marL="0" indent="0">
              <a:buNone/>
            </a:pPr>
            <a:r>
              <a:rPr lang="en-US" sz="1300" b="1" dirty="0">
                <a:solidFill>
                  <a:srgbClr val="0D1117"/>
                </a:solidFill>
                <a:latin typeface="Aptos Display" pitchFamily="34" charset="0"/>
                <a:ea typeface="Aptos Display" pitchFamily="34" charset="-122"/>
                <a:cs typeface="Aptos Display" pitchFamily="34" charset="-120"/>
              </a:rPr>
              <a:t>Handoff</a:t>
            </a:r>
            <a:endParaRPr lang="en-US" sz="1300" dirty="0"/>
          </a:p>
        </p:txBody>
      </p:sp>
      <p:sp>
        <p:nvSpPr>
          <p:cNvPr id="44" name="Text 41"/>
          <p:cNvSpPr/>
          <p:nvPr/>
        </p:nvSpPr>
        <p:spPr>
          <a:xfrm>
            <a:off x="8394192" y="4636008"/>
            <a:ext cx="2889504" cy="310896"/>
          </a:xfrm>
          <a:prstGeom prst="rect">
            <a:avLst/>
          </a:prstGeom>
          <a:noFill/>
          <a:ln/>
        </p:spPr>
        <p:txBody>
          <a:bodyPr wrap="square" lIns="0" tIns="0" rIns="0" bIns="0" rtlCol="0" anchor="ctr"/>
          <a:lstStyle/>
          <a:p>
            <a:pPr marL="0" indent="0">
              <a:buNone/>
            </a:pPr>
            <a:r>
              <a:rPr lang="en-US" sz="1100" dirty="0">
                <a:solidFill>
                  <a:srgbClr val="57606A"/>
                </a:solidFill>
                <a:latin typeface="Aptos" pitchFamily="34" charset="0"/>
                <a:ea typeface="Aptos" pitchFamily="34" charset="-122"/>
                <a:cs typeface="Aptos" pitchFamily="34" charset="-120"/>
              </a:rPr>
              <a:t>Human commits, pushes and opens PR</a:t>
            </a:r>
            <a:endParaRPr lang="en-US" sz="1100" dirty="0"/>
          </a:p>
        </p:txBody>
      </p:sp>
      <p:sp>
        <p:nvSpPr>
          <p:cNvPr id="45" name="Text 42"/>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Copilot for Data Scientists | Gilead DSS</a:t>
            </a:r>
            <a:endParaRPr lang="en-US" sz="800" dirty="0"/>
          </a:p>
        </p:txBody>
      </p:sp>
      <p:sp>
        <p:nvSpPr>
          <p:cNvPr id="46" name="Text 43">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REVIEW BEFORE IMPLEMENTATION</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The plan is the first human checkpoint</a:t>
            </a:r>
            <a:endParaRPr lang="en-US" sz="3100" dirty="0"/>
          </a:p>
        </p:txBody>
      </p:sp>
      <p:sp>
        <p:nvSpPr>
          <p:cNvPr id="7" name="Shape 4"/>
          <p:cNvSpPr/>
          <p:nvPr/>
        </p:nvSpPr>
        <p:spPr>
          <a:xfrm>
            <a:off x="658368" y="1947672"/>
            <a:ext cx="7178040" cy="694944"/>
          </a:xfrm>
          <a:prstGeom prst="roundRect">
            <a:avLst>
              <a:gd name="adj" fmla="val 6579"/>
            </a:avLst>
          </a:prstGeom>
          <a:solidFill>
            <a:srgbClr val="FFFFFF"/>
          </a:solidFill>
          <a:ln w="12700">
            <a:solidFill>
              <a:srgbClr val="8250DF"/>
            </a:solidFill>
            <a:prstDash val="solid"/>
          </a:ln>
        </p:spPr>
        <p:txBody>
          <a:bodyPr/>
          <a:lstStyle/>
          <a:p>
            <a:endParaRPr lang="en-US"/>
          </a:p>
        </p:txBody>
      </p:sp>
      <p:sp>
        <p:nvSpPr>
          <p:cNvPr id="8" name="Text 5"/>
          <p:cNvSpPr/>
          <p:nvPr/>
        </p:nvSpPr>
        <p:spPr>
          <a:xfrm>
            <a:off x="932688" y="2148840"/>
            <a:ext cx="1325880" cy="219456"/>
          </a:xfrm>
          <a:prstGeom prst="rect">
            <a:avLst/>
          </a:prstGeom>
          <a:noFill/>
          <a:ln/>
        </p:spPr>
        <p:txBody>
          <a:bodyPr wrap="square" lIns="0" tIns="0" rIns="0" bIns="0" rtlCol="0" anchor="ctr"/>
          <a:lstStyle/>
          <a:p>
            <a:pPr marL="0" indent="0">
              <a:buNone/>
            </a:pPr>
            <a:r>
              <a:rPr lang="en-US" sz="1600" b="1" dirty="0">
                <a:solidFill>
                  <a:srgbClr val="8250DF"/>
                </a:solidFill>
                <a:latin typeface="Aptos Display" pitchFamily="34" charset="0"/>
                <a:ea typeface="Aptos Display" pitchFamily="34" charset="-122"/>
                <a:cs typeface="Aptos Display" pitchFamily="34" charset="-120"/>
              </a:rPr>
              <a:t>Scope</a:t>
            </a:r>
            <a:endParaRPr lang="en-US" sz="1600" dirty="0"/>
          </a:p>
        </p:txBody>
      </p:sp>
      <p:sp>
        <p:nvSpPr>
          <p:cNvPr id="9" name="Text 6"/>
          <p:cNvSpPr/>
          <p:nvPr/>
        </p:nvSpPr>
        <p:spPr>
          <a:xfrm>
            <a:off x="2359152" y="2130552"/>
            <a:ext cx="5029200" cy="310896"/>
          </a:xfrm>
          <a:prstGeom prst="rect">
            <a:avLst/>
          </a:prstGeom>
          <a:noFill/>
          <a:ln/>
        </p:spPr>
        <p:txBody>
          <a:bodyPr wrap="square" lIns="0" tIns="0" rIns="0" bIns="0" rtlCol="0" anchor="ctr"/>
          <a:lstStyle/>
          <a:p>
            <a:pPr marL="0" indent="0">
              <a:buNone/>
            </a:pPr>
            <a:r>
              <a:rPr lang="en-US" sz="1350" dirty="0">
                <a:solidFill>
                  <a:srgbClr val="0D1117"/>
                </a:solidFill>
                <a:latin typeface="Aptos" pitchFamily="34" charset="0"/>
                <a:ea typeface="Aptos" pitchFamily="34" charset="-122"/>
                <a:cs typeface="Aptos" pitchFamily="34" charset="-120"/>
              </a:rPr>
              <a:t>Does it name every required file—and only those files?</a:t>
            </a:r>
            <a:endParaRPr lang="en-US" sz="1350" dirty="0"/>
          </a:p>
        </p:txBody>
      </p:sp>
      <p:sp>
        <p:nvSpPr>
          <p:cNvPr id="10" name="Shape 7"/>
          <p:cNvSpPr/>
          <p:nvPr/>
        </p:nvSpPr>
        <p:spPr>
          <a:xfrm>
            <a:off x="658368" y="2889504"/>
            <a:ext cx="7178040" cy="694944"/>
          </a:xfrm>
          <a:prstGeom prst="roundRect">
            <a:avLst>
              <a:gd name="adj" fmla="val 6579"/>
            </a:avLst>
          </a:prstGeom>
          <a:solidFill>
            <a:srgbClr val="FFFFFF"/>
          </a:solidFill>
          <a:ln w="12700">
            <a:solidFill>
              <a:srgbClr val="0969DA"/>
            </a:solidFill>
            <a:prstDash val="solid"/>
          </a:ln>
        </p:spPr>
        <p:txBody>
          <a:bodyPr/>
          <a:lstStyle/>
          <a:p>
            <a:endParaRPr lang="en-US"/>
          </a:p>
        </p:txBody>
      </p:sp>
      <p:sp>
        <p:nvSpPr>
          <p:cNvPr id="11" name="Text 8"/>
          <p:cNvSpPr/>
          <p:nvPr/>
        </p:nvSpPr>
        <p:spPr>
          <a:xfrm>
            <a:off x="932688" y="3090672"/>
            <a:ext cx="1325880" cy="219456"/>
          </a:xfrm>
          <a:prstGeom prst="rect">
            <a:avLst/>
          </a:prstGeom>
          <a:noFill/>
          <a:ln/>
        </p:spPr>
        <p:txBody>
          <a:bodyPr wrap="square" lIns="0" tIns="0" rIns="0" bIns="0" rtlCol="0" anchor="ctr"/>
          <a:lstStyle/>
          <a:p>
            <a:pPr marL="0" indent="0">
              <a:buNone/>
            </a:pPr>
            <a:r>
              <a:rPr lang="en-US" sz="1600" b="1" dirty="0">
                <a:solidFill>
                  <a:srgbClr val="0969DA"/>
                </a:solidFill>
                <a:latin typeface="Aptos Display" pitchFamily="34" charset="0"/>
                <a:ea typeface="Aptos Display" pitchFamily="34" charset="-122"/>
                <a:cs typeface="Aptos Display" pitchFamily="34" charset="-120"/>
              </a:rPr>
              <a:t>Consistency</a:t>
            </a:r>
            <a:endParaRPr lang="en-US" sz="1600" dirty="0"/>
          </a:p>
        </p:txBody>
      </p:sp>
      <p:sp>
        <p:nvSpPr>
          <p:cNvPr id="12" name="Text 9"/>
          <p:cNvSpPr/>
          <p:nvPr/>
        </p:nvSpPr>
        <p:spPr>
          <a:xfrm>
            <a:off x="2359152" y="3072384"/>
            <a:ext cx="5029200" cy="310896"/>
          </a:xfrm>
          <a:prstGeom prst="rect">
            <a:avLst/>
          </a:prstGeom>
          <a:noFill/>
          <a:ln/>
        </p:spPr>
        <p:txBody>
          <a:bodyPr wrap="square" lIns="0" tIns="0" rIns="0" bIns="0" rtlCol="0" anchor="ctr"/>
          <a:lstStyle/>
          <a:p>
            <a:pPr marL="0" indent="0">
              <a:buNone/>
            </a:pPr>
            <a:r>
              <a:rPr lang="en-US" sz="1350" dirty="0">
                <a:solidFill>
                  <a:srgbClr val="0D1117"/>
                </a:solidFill>
                <a:latin typeface="Aptos" pitchFamily="34" charset="0"/>
                <a:ea typeface="Aptos" pitchFamily="34" charset="-122"/>
                <a:cs typeface="Aptos" pitchFamily="34" charset="-120"/>
              </a:rPr>
              <a:t>Will SAS, R, Python, requirements, checks, and tests agree?</a:t>
            </a:r>
            <a:endParaRPr lang="en-US" sz="1350" dirty="0"/>
          </a:p>
        </p:txBody>
      </p:sp>
      <p:sp>
        <p:nvSpPr>
          <p:cNvPr id="13" name="Shape 10"/>
          <p:cNvSpPr/>
          <p:nvPr/>
        </p:nvSpPr>
        <p:spPr>
          <a:xfrm>
            <a:off x="658368" y="3831336"/>
            <a:ext cx="7178040" cy="694944"/>
          </a:xfrm>
          <a:prstGeom prst="roundRect">
            <a:avLst>
              <a:gd name="adj" fmla="val 6579"/>
            </a:avLst>
          </a:prstGeom>
          <a:solidFill>
            <a:srgbClr val="FFFFFF"/>
          </a:solidFill>
          <a:ln w="12700">
            <a:solidFill>
              <a:srgbClr val="1A7F37"/>
            </a:solidFill>
            <a:prstDash val="solid"/>
          </a:ln>
        </p:spPr>
        <p:txBody>
          <a:bodyPr/>
          <a:lstStyle/>
          <a:p>
            <a:endParaRPr lang="en-US"/>
          </a:p>
        </p:txBody>
      </p:sp>
      <p:sp>
        <p:nvSpPr>
          <p:cNvPr id="14" name="Text 11"/>
          <p:cNvSpPr/>
          <p:nvPr/>
        </p:nvSpPr>
        <p:spPr>
          <a:xfrm>
            <a:off x="932688" y="4032504"/>
            <a:ext cx="1325880" cy="219456"/>
          </a:xfrm>
          <a:prstGeom prst="rect">
            <a:avLst/>
          </a:prstGeom>
          <a:noFill/>
          <a:ln/>
        </p:spPr>
        <p:txBody>
          <a:bodyPr wrap="square" lIns="0" tIns="0" rIns="0" bIns="0" rtlCol="0" anchor="ctr"/>
          <a:lstStyle/>
          <a:p>
            <a:pPr marL="0" indent="0">
              <a:buNone/>
            </a:pPr>
            <a:r>
              <a:rPr lang="en-US" sz="1600" b="1" dirty="0">
                <a:solidFill>
                  <a:srgbClr val="1A7F37"/>
                </a:solidFill>
                <a:latin typeface="Aptos Display" pitchFamily="34" charset="0"/>
                <a:ea typeface="Aptos Display" pitchFamily="34" charset="-122"/>
                <a:cs typeface="Aptos Display" pitchFamily="34" charset="-120"/>
              </a:rPr>
              <a:t>Validation</a:t>
            </a:r>
            <a:endParaRPr lang="en-US" sz="1600" dirty="0"/>
          </a:p>
        </p:txBody>
      </p:sp>
      <p:sp>
        <p:nvSpPr>
          <p:cNvPr id="15" name="Text 12"/>
          <p:cNvSpPr/>
          <p:nvPr/>
        </p:nvSpPr>
        <p:spPr>
          <a:xfrm>
            <a:off x="2359152" y="4014216"/>
            <a:ext cx="5029200" cy="310896"/>
          </a:xfrm>
          <a:prstGeom prst="rect">
            <a:avLst/>
          </a:prstGeom>
          <a:noFill/>
          <a:ln/>
        </p:spPr>
        <p:txBody>
          <a:bodyPr wrap="square" lIns="0" tIns="0" rIns="0" bIns="0" rtlCol="0" anchor="ctr"/>
          <a:lstStyle/>
          <a:p>
            <a:pPr marL="0" indent="0">
              <a:buNone/>
            </a:pPr>
            <a:r>
              <a:rPr lang="en-US" sz="1350" dirty="0">
                <a:solidFill>
                  <a:srgbClr val="0D1117"/>
                </a:solidFill>
                <a:latin typeface="Aptos" pitchFamily="34" charset="0"/>
                <a:ea typeface="Aptos" pitchFamily="34" charset="-122"/>
                <a:cs typeface="Aptos" pitchFamily="34" charset="-120"/>
              </a:rPr>
              <a:t>Run python scripts/validate.py; inspect real results.</a:t>
            </a:r>
            <a:endParaRPr lang="en-US" sz="1350" dirty="0"/>
          </a:p>
        </p:txBody>
      </p:sp>
      <p:sp>
        <p:nvSpPr>
          <p:cNvPr id="16" name="Shape 13"/>
          <p:cNvSpPr/>
          <p:nvPr/>
        </p:nvSpPr>
        <p:spPr>
          <a:xfrm>
            <a:off x="658368" y="4773168"/>
            <a:ext cx="7178040" cy="694944"/>
          </a:xfrm>
          <a:prstGeom prst="roundRect">
            <a:avLst>
              <a:gd name="adj" fmla="val 6579"/>
            </a:avLst>
          </a:prstGeom>
          <a:solidFill>
            <a:srgbClr val="FFFFFF"/>
          </a:solidFill>
          <a:ln w="12700">
            <a:solidFill>
              <a:srgbClr val="BC4C00"/>
            </a:solidFill>
            <a:prstDash val="solid"/>
          </a:ln>
        </p:spPr>
        <p:txBody>
          <a:bodyPr/>
          <a:lstStyle/>
          <a:p>
            <a:endParaRPr lang="en-US"/>
          </a:p>
        </p:txBody>
      </p:sp>
      <p:sp>
        <p:nvSpPr>
          <p:cNvPr id="17" name="Text 14"/>
          <p:cNvSpPr/>
          <p:nvPr/>
        </p:nvSpPr>
        <p:spPr>
          <a:xfrm>
            <a:off x="932688" y="4974336"/>
            <a:ext cx="1325880" cy="219456"/>
          </a:xfrm>
          <a:prstGeom prst="rect">
            <a:avLst/>
          </a:prstGeom>
          <a:noFill/>
          <a:ln/>
        </p:spPr>
        <p:txBody>
          <a:bodyPr wrap="square" lIns="0" tIns="0" rIns="0" bIns="0" rtlCol="0" anchor="ctr"/>
          <a:lstStyle/>
          <a:p>
            <a:pPr marL="0" indent="0">
              <a:buNone/>
            </a:pPr>
            <a:r>
              <a:rPr lang="en-US" sz="1600" b="1" dirty="0">
                <a:solidFill>
                  <a:srgbClr val="BC4C00"/>
                </a:solidFill>
                <a:latin typeface="Aptos Display" pitchFamily="34" charset="0"/>
                <a:ea typeface="Aptos Display" pitchFamily="34" charset="-122"/>
                <a:cs typeface="Aptos Display" pitchFamily="34" charset="-120"/>
              </a:rPr>
              <a:t>Unknowns</a:t>
            </a:r>
            <a:endParaRPr lang="en-US" sz="1600" dirty="0"/>
          </a:p>
        </p:txBody>
      </p:sp>
      <p:sp>
        <p:nvSpPr>
          <p:cNvPr id="18" name="Text 15"/>
          <p:cNvSpPr/>
          <p:nvPr/>
        </p:nvSpPr>
        <p:spPr>
          <a:xfrm>
            <a:off x="2359152" y="4956048"/>
            <a:ext cx="5029200" cy="310896"/>
          </a:xfrm>
          <a:prstGeom prst="rect">
            <a:avLst/>
          </a:prstGeom>
          <a:noFill/>
          <a:ln/>
        </p:spPr>
        <p:txBody>
          <a:bodyPr wrap="square" lIns="0" tIns="0" rIns="0" bIns="0" rtlCol="0" anchor="ctr"/>
          <a:lstStyle/>
          <a:p>
            <a:pPr marL="0" indent="0">
              <a:buNone/>
            </a:pPr>
            <a:r>
              <a:rPr lang="en-US" sz="1350" dirty="0">
                <a:solidFill>
                  <a:srgbClr val="0D1117"/>
                </a:solidFill>
                <a:latin typeface="Aptos" pitchFamily="34" charset="0"/>
                <a:ea typeface="Aptos" pitchFamily="34" charset="-122"/>
                <a:cs typeface="Aptos" pitchFamily="34" charset="-120"/>
              </a:rPr>
              <a:t>Are scientific and terminology questions still visible?</a:t>
            </a:r>
            <a:endParaRPr lang="en-US" sz="1350" dirty="0"/>
          </a:p>
        </p:txBody>
      </p:sp>
      <p:sp>
        <p:nvSpPr>
          <p:cNvPr id="19" name="Shape 16"/>
          <p:cNvSpPr/>
          <p:nvPr/>
        </p:nvSpPr>
        <p:spPr>
          <a:xfrm>
            <a:off x="8275320" y="2103120"/>
            <a:ext cx="3246120" cy="1828800"/>
          </a:xfrm>
          <a:prstGeom prst="roundRect">
            <a:avLst>
              <a:gd name="adj" fmla="val 3500"/>
            </a:avLst>
          </a:prstGeom>
          <a:solidFill>
            <a:srgbClr val="F6F0FF"/>
          </a:solidFill>
          <a:ln w="12700">
            <a:solidFill>
              <a:srgbClr val="8250DF"/>
            </a:solidFill>
            <a:prstDash val="solid"/>
          </a:ln>
        </p:spPr>
        <p:txBody>
          <a:bodyPr/>
          <a:lstStyle/>
          <a:p>
            <a:endParaRPr lang="en-US"/>
          </a:p>
        </p:txBody>
      </p:sp>
      <p:sp>
        <p:nvSpPr>
          <p:cNvPr id="20" name="Text 17"/>
          <p:cNvSpPr/>
          <p:nvPr/>
        </p:nvSpPr>
        <p:spPr>
          <a:xfrm>
            <a:off x="8531352" y="2313432"/>
            <a:ext cx="27340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Refine when needed</a:t>
            </a:r>
            <a:endParaRPr lang="en-US" sz="1800" dirty="0"/>
          </a:p>
        </p:txBody>
      </p:sp>
      <p:sp>
        <p:nvSpPr>
          <p:cNvPr id="21" name="Text 18"/>
          <p:cNvSpPr/>
          <p:nvPr/>
        </p:nvSpPr>
        <p:spPr>
          <a:xfrm>
            <a:off x="8531352" y="2743200"/>
            <a:ext cx="2734056" cy="97840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Tell the agent what is missing, which constraint was violated, or which file is out of scope.</a:t>
            </a:r>
            <a:endParaRPr lang="en-US" sz="1300" dirty="0"/>
          </a:p>
        </p:txBody>
      </p:sp>
      <p:sp>
        <p:nvSpPr>
          <p:cNvPr id="22" name="Shape 19"/>
          <p:cNvSpPr/>
          <p:nvPr/>
        </p:nvSpPr>
        <p:spPr>
          <a:xfrm>
            <a:off x="8275320" y="4224528"/>
            <a:ext cx="3246120" cy="1508760"/>
          </a:xfrm>
          <a:prstGeom prst="roundRect">
            <a:avLst>
              <a:gd name="adj" fmla="val 4242"/>
            </a:avLst>
          </a:prstGeom>
          <a:solidFill>
            <a:srgbClr val="DAFBE1"/>
          </a:solidFill>
          <a:ln w="12700">
            <a:solidFill>
              <a:srgbClr val="1A7F37"/>
            </a:solidFill>
            <a:prstDash val="solid"/>
          </a:ln>
        </p:spPr>
        <p:txBody>
          <a:bodyPr/>
          <a:lstStyle/>
          <a:p>
            <a:endParaRPr lang="en-US"/>
          </a:p>
        </p:txBody>
      </p:sp>
      <p:sp>
        <p:nvSpPr>
          <p:cNvPr id="23" name="Text 20"/>
          <p:cNvSpPr/>
          <p:nvPr/>
        </p:nvSpPr>
        <p:spPr>
          <a:xfrm>
            <a:off x="8531352" y="4434840"/>
            <a:ext cx="27340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Approve deliberately</a:t>
            </a:r>
            <a:endParaRPr lang="en-US" sz="1800" dirty="0"/>
          </a:p>
        </p:txBody>
      </p:sp>
      <p:sp>
        <p:nvSpPr>
          <p:cNvPr id="24" name="Text 21"/>
          <p:cNvSpPr/>
          <p:nvPr/>
        </p:nvSpPr>
        <p:spPr>
          <a:xfrm>
            <a:off x="8531352" y="4864608"/>
            <a:ext cx="2734056" cy="65836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A plausible plan is not enough. It must map to the issue and repository evidence.</a:t>
            </a:r>
            <a:endParaRPr lang="en-US" sz="1300" dirty="0"/>
          </a:p>
        </p:txBody>
      </p:sp>
      <p:sp>
        <p:nvSpPr>
          <p:cNvPr id="25" name="Text 22"/>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6" name="Text 23">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Audit text 26">
            <a:extLst>
              <a:ext uri="{FF2B5EF4-FFF2-40B4-BE49-F238E27FC236}">
                <a16:creationId xmlns:a16="http://schemas.microsoft.com/office/drawing/2014/main" id="{5E0D3C52-819E-B716-66CC-E5A22DC6A3B0}"/>
              </a:ext>
            </a:extLst>
          </p:cNvPr>
          <p:cNvSpPr txBox="1"/>
          <p:nvPr/>
        </p:nvSpPr>
        <p:spPr>
          <a:xfrm>
            <a:off x="508000" y="927100"/>
            <a:ext cx="11099800" cy="254000"/>
          </a:xfrm>
          <a:prstGeom prst="rect">
            <a:avLst/>
          </a:prstGeom>
          <a:noFill/>
        </p:spPr>
        <p:txBody>
          <a:bodyPr vert="horz" wrap="square" lIns="0" tIns="0" rIns="0" bIns="0" rtlCol="0">
            <a:noAutofit/>
          </a:bodyPr>
          <a:lstStyle/>
          <a:p>
            <a:r>
              <a:rPr lang="en-US" sz="1000" b="1">
                <a:solidFill>
                  <a:srgbClr val="8250DF"/>
                </a:solidFill>
                <a:latin typeface="Aptos" panose="020B0004020202020204" pitchFamily="34" charset="0"/>
              </a:rPr>
              <a:t>LOCAL LAB | 7 MINUTES</a:t>
            </a:r>
          </a:p>
        </p:txBody>
      </p:sp>
      <p:sp>
        <p:nvSpPr>
          <p:cNvPr id="27" name="Audit text 27">
            <a:extLst>
              <a:ext uri="{FF2B5EF4-FFF2-40B4-BE49-F238E27FC236}">
                <a16:creationId xmlns:a16="http://schemas.microsoft.com/office/drawing/2014/main" id="{9B48142A-9543-26EE-DC4B-9D7520EBBB06}"/>
              </a:ext>
            </a:extLst>
          </p:cNvPr>
          <p:cNvSpPr txBox="1"/>
          <p:nvPr/>
        </p:nvSpPr>
        <p:spPr>
          <a:xfrm>
            <a:off x="508000" y="1219200"/>
            <a:ext cx="11099800" cy="698500"/>
          </a:xfrm>
          <a:prstGeom prst="rect">
            <a:avLst/>
          </a:prstGeom>
          <a:noFill/>
        </p:spPr>
        <p:txBody>
          <a:bodyPr vert="horz" wrap="square" lIns="0" tIns="0" rIns="0" bIns="0" rtlCol="0">
            <a:noAutofit/>
          </a:bodyPr>
          <a:lstStyle/>
          <a:p>
            <a:r>
              <a:rPr lang="en-US" sz="2900" b="1">
                <a:solidFill>
                  <a:srgbClr val="0D1117"/>
                </a:solidFill>
                <a:latin typeface="Aptos" panose="020B0004020202020204" pitchFamily="34" charset="0"/>
              </a:rPr>
              <a:t>Implement locally. Inspect real evidence.</a:t>
            </a:r>
          </a:p>
        </p:txBody>
      </p:sp>
      <p:sp>
        <p:nvSpPr>
          <p:cNvPr id="28" name="Rectangle 27">
            <a:extLst>
              <a:ext uri="{FF2B5EF4-FFF2-40B4-BE49-F238E27FC236}">
                <a16:creationId xmlns:a16="http://schemas.microsoft.com/office/drawing/2014/main" id="{959304EA-6E14-9632-42E1-674F75B30888}"/>
              </a:ext>
            </a:extLst>
          </p:cNvPr>
          <p:cNvSpPr/>
          <p:nvPr/>
        </p:nvSpPr>
        <p:spPr>
          <a:xfrm>
            <a:off x="533400" y="2260600"/>
            <a:ext cx="5334000" cy="32639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93BA7D3-899D-D918-5576-5A0257EF83D5}"/>
              </a:ext>
            </a:extLst>
          </p:cNvPr>
          <p:cNvSpPr/>
          <p:nvPr/>
        </p:nvSpPr>
        <p:spPr>
          <a:xfrm>
            <a:off x="6096000" y="2260600"/>
            <a:ext cx="5511800" cy="32639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udit text 30">
            <a:extLst>
              <a:ext uri="{FF2B5EF4-FFF2-40B4-BE49-F238E27FC236}">
                <a16:creationId xmlns:a16="http://schemas.microsoft.com/office/drawing/2014/main" id="{9BF8EFE4-8A44-B699-1CD8-8AC33A727E9A}"/>
              </a:ext>
            </a:extLst>
          </p:cNvPr>
          <p:cNvSpPr txBox="1"/>
          <p:nvPr/>
        </p:nvSpPr>
        <p:spPr>
          <a:xfrm>
            <a:off x="698500" y="2451099"/>
            <a:ext cx="4978400" cy="381000"/>
          </a:xfrm>
          <a:prstGeom prst="rect">
            <a:avLst/>
          </a:prstGeom>
          <a:noFill/>
        </p:spPr>
        <p:txBody>
          <a:bodyPr vert="horz" wrap="square" lIns="0" tIns="0" rIns="0" bIns="0" rtlCol="0">
            <a:noAutofit/>
          </a:bodyPr>
          <a:lstStyle/>
          <a:p>
            <a:r>
              <a:rPr lang="en-US" sz="2000" b="1">
                <a:solidFill>
                  <a:srgbClr val="8250DF"/>
                </a:solidFill>
                <a:latin typeface="Aptos" panose="020B0004020202020204" pitchFamily="34" charset="0"/>
              </a:rPr>
              <a:t>After the plan is approved</a:t>
            </a:r>
          </a:p>
        </p:txBody>
      </p:sp>
      <p:sp>
        <p:nvSpPr>
          <p:cNvPr id="31" name="Audit text 31">
            <a:extLst>
              <a:ext uri="{FF2B5EF4-FFF2-40B4-BE49-F238E27FC236}">
                <a16:creationId xmlns:a16="http://schemas.microsoft.com/office/drawing/2014/main" id="{E98BE8D3-D506-34D7-53DD-1B5DC2412136}"/>
              </a:ext>
            </a:extLst>
          </p:cNvPr>
          <p:cNvSpPr txBox="1"/>
          <p:nvPr/>
        </p:nvSpPr>
        <p:spPr>
          <a:xfrm>
            <a:off x="698500" y="3073400"/>
            <a:ext cx="4978400" cy="2171700"/>
          </a:xfrm>
          <a:prstGeom prst="rect">
            <a:avLst/>
          </a:prstGeom>
          <a:noFill/>
        </p:spPr>
        <p:txBody>
          <a:bodyPr vert="horz" wrap="square" lIns="0" tIns="0" rIns="0" bIns="0" rtlCol="0">
            <a:noAutofit/>
          </a:bodyPr>
          <a:lstStyle/>
          <a:p>
            <a:r>
              <a:rPr lang="en-US">
                <a:solidFill>
                  <a:srgbClr val="0D1117"/>
                </a:solidFill>
                <a:latin typeface="Aptos" panose="020B0004020202020204" pitchFamily="34" charset="0"/>
              </a:rPr>
              <a:t>Approve only scoped edits and permitted tools.</a:t>
            </a:r>
          </a:p>
          <a:p>
            <a:r>
              <a:rPr lang="en-US">
                <a:solidFill>
                  <a:srgbClr val="0D1117"/>
                </a:solidFill>
                <a:latin typeface="Aptos" panose="020B0004020202020204" pitchFamily="34" charset="0"/>
              </a:rPr>
              <a:t>Read every change in Source Control.</a:t>
            </a:r>
          </a:p>
          <a:p>
            <a:r>
              <a:rPr lang="en-US">
                <a:solidFill>
                  <a:srgbClr val="0D1117"/>
                </a:solidFill>
                <a:latin typeface="Aptos" panose="020B0004020202020204" pitchFamily="34" charset="0"/>
              </a:rPr>
              <a:t>Keep all six task files consistent.</a:t>
            </a:r>
          </a:p>
          <a:p>
            <a:r>
              <a:rPr lang="en-US">
                <a:solidFill>
                  <a:srgbClr val="0D1117"/>
                </a:solidFill>
                <a:latin typeface="Aptos" panose="020B0004020202020204" pitchFamily="34" charset="0"/>
              </a:rPr>
              <a:t>Human owns commit, push and PR.</a:t>
            </a:r>
          </a:p>
        </p:txBody>
      </p:sp>
      <p:sp>
        <p:nvSpPr>
          <p:cNvPr id="32" name="Audit text 32">
            <a:extLst>
              <a:ext uri="{FF2B5EF4-FFF2-40B4-BE49-F238E27FC236}">
                <a16:creationId xmlns:a16="http://schemas.microsoft.com/office/drawing/2014/main" id="{D9E5EE33-A0F9-47E9-6321-084E7F5C4639}"/>
              </a:ext>
            </a:extLst>
          </p:cNvPr>
          <p:cNvSpPr txBox="1"/>
          <p:nvPr/>
        </p:nvSpPr>
        <p:spPr>
          <a:xfrm>
            <a:off x="6261100" y="2451099"/>
            <a:ext cx="5156200" cy="381000"/>
          </a:xfrm>
          <a:prstGeom prst="rect">
            <a:avLst/>
          </a:prstGeom>
          <a:noFill/>
        </p:spPr>
        <p:txBody>
          <a:bodyPr vert="horz" wrap="square" lIns="0" tIns="0" rIns="0" bIns="0" rtlCol="0">
            <a:noAutofit/>
          </a:bodyPr>
          <a:lstStyle/>
          <a:p>
            <a:r>
              <a:rPr lang="en-US" sz="2000" b="1">
                <a:solidFill>
                  <a:srgbClr val="8250DF"/>
                </a:solidFill>
                <a:latin typeface="Aptos" panose="020B0004020202020204" pitchFamily="34" charset="0"/>
              </a:rPr>
              <a:t>Run in the repository root</a:t>
            </a:r>
          </a:p>
        </p:txBody>
      </p:sp>
      <p:sp>
        <p:nvSpPr>
          <p:cNvPr id="33" name="Audit text 33">
            <a:extLst>
              <a:ext uri="{FF2B5EF4-FFF2-40B4-BE49-F238E27FC236}">
                <a16:creationId xmlns:a16="http://schemas.microsoft.com/office/drawing/2014/main" id="{0A2950AD-6D9F-DA78-D42C-E6741E7B6103}"/>
              </a:ext>
            </a:extLst>
          </p:cNvPr>
          <p:cNvSpPr txBox="1"/>
          <p:nvPr/>
        </p:nvSpPr>
        <p:spPr>
          <a:xfrm>
            <a:off x="6261100" y="3073400"/>
            <a:ext cx="5156200" cy="1498600"/>
          </a:xfrm>
          <a:prstGeom prst="rect">
            <a:avLst/>
          </a:prstGeom>
          <a:noFill/>
        </p:spPr>
        <p:txBody>
          <a:bodyPr vert="horz" wrap="square" lIns="0" tIns="0" rIns="0" bIns="0" rtlCol="0">
            <a:noAutofit/>
          </a:bodyPr>
          <a:lstStyle/>
          <a:p>
            <a:r>
              <a:rPr lang="en-US">
                <a:solidFill>
                  <a:srgbClr val="0D1117"/>
                </a:solidFill>
                <a:latin typeface="Aptos" panose="020B0004020202020204" pitchFamily="34" charset="0"/>
              </a:rPr>
              <a:t>python scripts/validate.py</a:t>
            </a:r>
          </a:p>
          <a:p>
            <a:r>
              <a:rPr lang="en-US">
                <a:solidFill>
                  <a:srgbClr val="0D1117"/>
                </a:solidFill>
                <a:latin typeface="Aptos" panose="020B0004020202020204" pitchFamily="34" charset="0"/>
              </a:rPr>
              <a:t>python analysis/ae_summary.py</a:t>
            </a:r>
          </a:p>
          <a:p>
            <a:r>
              <a:rPr lang="en-US">
                <a:solidFill>
                  <a:srgbClr val="0D1117"/>
                </a:solidFill>
                <a:latin typeface="Aptos" panose="020B0004020202020204" pitchFamily="34" charset="0"/>
              </a:rPr>
              <a:t>git diff --check</a:t>
            </a:r>
          </a:p>
          <a:p>
            <a:r>
              <a:rPr lang="en-US">
                <a:solidFill>
                  <a:srgbClr val="0D1117"/>
                </a:solidFill>
                <a:latin typeface="Aptos" panose="020B0004020202020204" pitchFamily="34" charset="0"/>
              </a:rPr>
              <a:t>git diff</a:t>
            </a:r>
          </a:p>
        </p:txBody>
      </p:sp>
      <p:sp>
        <p:nvSpPr>
          <p:cNvPr id="34" name="Audit text 34">
            <a:extLst>
              <a:ext uri="{FF2B5EF4-FFF2-40B4-BE49-F238E27FC236}">
                <a16:creationId xmlns:a16="http://schemas.microsoft.com/office/drawing/2014/main" id="{C01AA843-9C3A-6856-3EEF-C627EDF4EB10}"/>
              </a:ext>
            </a:extLst>
          </p:cNvPr>
          <p:cNvSpPr txBox="1"/>
          <p:nvPr/>
        </p:nvSpPr>
        <p:spPr>
          <a:xfrm>
            <a:off x="6261100" y="4851399"/>
            <a:ext cx="5156200" cy="495300"/>
          </a:xfrm>
          <a:prstGeom prst="rect">
            <a:avLst/>
          </a:prstGeom>
          <a:noFill/>
        </p:spPr>
        <p:txBody>
          <a:bodyPr vert="horz" wrap="square" lIns="0" tIns="0" rIns="0" bIns="0" rtlCol="0">
            <a:noAutofit/>
          </a:bodyPr>
          <a:lstStyle/>
          <a:p>
            <a:r>
              <a:rPr lang="en-US" sz="1600">
                <a:solidFill>
                  <a:srgbClr val="0D1117"/>
                </a:solidFill>
                <a:latin typeface="Aptos" panose="020B0004020202020204" pitchFamily="34" charset="0"/>
              </a:rPr>
              <a:t>Task result: 4 records, subjects 003, 004, 006, 007.</a:t>
            </a:r>
          </a:p>
        </p:txBody>
      </p:sp>
      <p:sp>
        <p:nvSpPr>
          <p:cNvPr id="35" name="Audit text 35">
            <a:extLst>
              <a:ext uri="{FF2B5EF4-FFF2-40B4-BE49-F238E27FC236}">
                <a16:creationId xmlns:a16="http://schemas.microsoft.com/office/drawing/2014/main" id="{2E0E8C8D-5987-7842-1475-CCE7821A05D3}"/>
              </a:ext>
            </a:extLst>
          </p:cNvPr>
          <p:cNvSpPr txBox="1"/>
          <p:nvPr/>
        </p:nvSpPr>
        <p:spPr>
          <a:xfrm>
            <a:off x="558800" y="5829300"/>
            <a:ext cx="11036300" cy="457200"/>
          </a:xfrm>
          <a:prstGeom prst="rect">
            <a:avLst/>
          </a:prstGeom>
          <a:noFill/>
        </p:spPr>
        <p:txBody>
          <a:bodyPr vert="horz" wrap="square" lIns="0" tIns="0" rIns="0" bIns="0" rtlCol="0">
            <a:noAutofit/>
          </a:bodyPr>
          <a:lstStyle/>
          <a:p>
            <a:r>
              <a:rPr lang="en-US" sz="1500" b="1">
                <a:solidFill>
                  <a:srgbClr val="8250DF"/>
                </a:solidFill>
                <a:latin typeface="Aptos" panose="020B0004020202020204" pitchFamily="34" charset="0"/>
              </a:rPr>
              <a:t>Python checks do not run SAS/R or replace required security scans or scientific validation.</a:t>
            </a:r>
          </a:p>
        </p:txBody>
      </p:sp>
    </p:spTree>
    <p:extLst>
      <p:ext uri="{BB962C8B-B14F-4D97-AF65-F5344CB8AC3E}">
        <p14:creationId xmlns:p14="http://schemas.microsoft.com/office/powerpoint/2010/main" val="3986684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INSPECT DURABLE EVIDENCE</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You publish the reviewed local changes</a:t>
            </a:r>
            <a:endParaRPr lang="en-US" sz="3100" dirty="0"/>
          </a:p>
        </p:txBody>
      </p:sp>
      <p:sp>
        <p:nvSpPr>
          <p:cNvPr id="7" name="Shape 4"/>
          <p:cNvSpPr/>
          <p:nvPr/>
        </p:nvSpPr>
        <p:spPr>
          <a:xfrm>
            <a:off x="566928" y="1847088"/>
            <a:ext cx="6446520" cy="4160520"/>
          </a:xfrm>
          <a:prstGeom prst="roundRect">
            <a:avLst>
              <a:gd name="adj" fmla="val 1758"/>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8" name="Shape 5"/>
          <p:cNvSpPr/>
          <p:nvPr/>
        </p:nvSpPr>
        <p:spPr>
          <a:xfrm>
            <a:off x="566928" y="1847088"/>
            <a:ext cx="6446520" cy="457200"/>
          </a:xfrm>
          <a:prstGeom prst="rect">
            <a:avLst/>
          </a:prstGeom>
          <a:solidFill>
            <a:srgbClr val="F6F8FA"/>
          </a:solidFill>
          <a:ln w="8890">
            <a:solidFill>
              <a:srgbClr val="D0D7DE"/>
            </a:solidFill>
            <a:prstDash val="solid"/>
          </a:ln>
        </p:spPr>
        <p:txBody>
          <a:bodyPr/>
          <a:lstStyle/>
          <a:p>
            <a:endParaRPr lang="en-US"/>
          </a:p>
        </p:txBody>
      </p:sp>
      <p:sp>
        <p:nvSpPr>
          <p:cNvPr id="9" name="Shape 6"/>
          <p:cNvSpPr/>
          <p:nvPr/>
        </p:nvSpPr>
        <p:spPr>
          <a:xfrm>
            <a:off x="731520" y="201168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0" name="Shape 7"/>
          <p:cNvSpPr/>
          <p:nvPr/>
        </p:nvSpPr>
        <p:spPr>
          <a:xfrm>
            <a:off x="932688" y="201168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1" name="Shape 8"/>
          <p:cNvSpPr/>
          <p:nvPr/>
        </p:nvSpPr>
        <p:spPr>
          <a:xfrm>
            <a:off x="1133856" y="201168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2" name="Shape 9"/>
          <p:cNvSpPr/>
          <p:nvPr/>
        </p:nvSpPr>
        <p:spPr>
          <a:xfrm>
            <a:off x="1408176" y="1947672"/>
            <a:ext cx="538581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3" name="Text 10"/>
          <p:cNvSpPr/>
          <p:nvPr/>
        </p:nvSpPr>
        <p:spPr>
          <a:xfrm>
            <a:off x="1554480" y="2020824"/>
            <a:ext cx="5093208"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Illustrative PR in your approved working repository</a:t>
            </a:r>
            <a:endParaRPr lang="en-US" sz="720" dirty="0"/>
          </a:p>
        </p:txBody>
      </p:sp>
      <p:sp>
        <p:nvSpPr>
          <p:cNvPr id="14" name="Shape 11"/>
          <p:cNvSpPr/>
          <p:nvPr/>
        </p:nvSpPr>
        <p:spPr>
          <a:xfrm>
            <a:off x="841248" y="2532888"/>
            <a:ext cx="694944" cy="310896"/>
          </a:xfrm>
          <a:prstGeom prst="roundRect">
            <a:avLst>
              <a:gd name="adj" fmla="val 23529"/>
            </a:avLst>
          </a:prstGeom>
          <a:solidFill>
            <a:srgbClr val="1A7F37"/>
          </a:solidFill>
          <a:ln w="8890">
            <a:solidFill>
              <a:srgbClr val="1A7F37"/>
            </a:solidFill>
            <a:prstDash val="solid"/>
          </a:ln>
        </p:spPr>
        <p:txBody>
          <a:bodyPr/>
          <a:lstStyle/>
          <a:p>
            <a:endParaRPr lang="en-US"/>
          </a:p>
        </p:txBody>
      </p:sp>
      <p:sp>
        <p:nvSpPr>
          <p:cNvPr id="15" name="Text 12"/>
          <p:cNvSpPr/>
          <p:nvPr/>
        </p:nvSpPr>
        <p:spPr>
          <a:xfrm>
            <a:off x="932688" y="2628900"/>
            <a:ext cx="512064"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OPEN</a:t>
            </a:r>
            <a:endParaRPr lang="en-US" sz="850" dirty="0"/>
          </a:p>
        </p:txBody>
      </p:sp>
      <p:sp>
        <p:nvSpPr>
          <p:cNvPr id="16" name="Text 13"/>
          <p:cNvSpPr/>
          <p:nvPr/>
        </p:nvSpPr>
        <p:spPr>
          <a:xfrm>
            <a:off x="1737360" y="2532888"/>
            <a:ext cx="5001768" cy="31089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Include life-threatening events in the AE summary</a:t>
            </a:r>
            <a:endParaRPr lang="en-US" sz="1600" dirty="0"/>
          </a:p>
        </p:txBody>
      </p:sp>
      <p:sp>
        <p:nvSpPr>
          <p:cNvPr id="17" name="Text 14"/>
          <p:cNvSpPr/>
          <p:nvPr/>
        </p:nvSpPr>
        <p:spPr>
          <a:xfrm>
            <a:off x="5093208" y="3127248"/>
            <a:ext cx="914400" cy="164592"/>
          </a:xfrm>
          <a:prstGeom prst="rect">
            <a:avLst/>
          </a:prstGeom>
          <a:noFill/>
          <a:ln/>
        </p:spPr>
        <p:txBody>
          <a:bodyPr wrap="square" lIns="0" tIns="0" rIns="0" bIns="0" rtlCol="0" anchor="ctr"/>
          <a:lstStyle/>
          <a:p>
            <a:pPr marL="0" indent="0">
              <a:buNone/>
            </a:pPr>
            <a:r>
              <a:rPr lang="en-US" sz="900" b="1" dirty="0">
                <a:solidFill>
                  <a:srgbClr val="57606A"/>
                </a:solidFill>
                <a:latin typeface="Aptos" pitchFamily="34" charset="0"/>
                <a:ea typeface="Aptos" pitchFamily="34" charset="-122"/>
                <a:cs typeface="Aptos" pitchFamily="34" charset="-120"/>
              </a:rPr>
              <a:t>Reviewers</a:t>
            </a:r>
            <a:endParaRPr lang="en-US" sz="900" dirty="0"/>
          </a:p>
        </p:txBody>
      </p:sp>
      <p:sp>
        <p:nvSpPr>
          <p:cNvPr id="18" name="Shape 15"/>
          <p:cNvSpPr/>
          <p:nvPr/>
        </p:nvSpPr>
        <p:spPr>
          <a:xfrm>
            <a:off x="5020056" y="3383280"/>
            <a:ext cx="1645920" cy="310896"/>
          </a:xfrm>
          <a:prstGeom prst="roundRect">
            <a:avLst>
              <a:gd name="adj" fmla="val 23529"/>
            </a:avLst>
          </a:prstGeom>
          <a:solidFill>
            <a:srgbClr val="F6F0FF"/>
          </a:solidFill>
          <a:ln w="8890">
            <a:solidFill>
              <a:srgbClr val="8250DF"/>
            </a:solidFill>
            <a:prstDash val="solid"/>
          </a:ln>
        </p:spPr>
        <p:txBody>
          <a:bodyPr/>
          <a:lstStyle/>
          <a:p>
            <a:endParaRPr lang="en-US"/>
          </a:p>
        </p:txBody>
      </p:sp>
      <p:sp>
        <p:nvSpPr>
          <p:cNvPr id="19" name="Text 16"/>
          <p:cNvSpPr/>
          <p:nvPr/>
        </p:nvSpPr>
        <p:spPr>
          <a:xfrm>
            <a:off x="5111496" y="3479292"/>
            <a:ext cx="1463040" cy="109728"/>
          </a:xfrm>
          <a:prstGeom prst="rect">
            <a:avLst/>
          </a:prstGeom>
          <a:noFill/>
          <a:ln/>
        </p:spPr>
        <p:txBody>
          <a:bodyPr wrap="square" lIns="0" tIns="0" rIns="0" bIns="0" rtlCol="0" anchor="ctr"/>
          <a:lstStyle/>
          <a:p>
            <a:pPr marL="0" indent="0" algn="ctr">
              <a:buNone/>
            </a:pPr>
            <a:r>
              <a:rPr lang="en-US" sz="850" b="1" kern="0" spc="70" dirty="0">
                <a:solidFill>
                  <a:srgbClr val="8250DF"/>
                </a:solidFill>
                <a:latin typeface="Aptos" pitchFamily="34" charset="0"/>
                <a:ea typeface="Aptos" pitchFamily="34" charset="-122"/>
                <a:cs typeface="Aptos" pitchFamily="34" charset="-120"/>
              </a:rPr>
              <a:t>COPILOT  REQUEST</a:t>
            </a:r>
            <a:endParaRPr lang="en-US" sz="850" dirty="0"/>
          </a:p>
        </p:txBody>
      </p:sp>
      <p:sp>
        <p:nvSpPr>
          <p:cNvPr id="20" name="Shape 17"/>
          <p:cNvSpPr/>
          <p:nvPr/>
        </p:nvSpPr>
        <p:spPr>
          <a:xfrm>
            <a:off x="886968" y="3145536"/>
            <a:ext cx="3794760" cy="2240280"/>
          </a:xfrm>
          <a:prstGeom prst="roundRect">
            <a:avLst>
              <a:gd name="adj" fmla="val 2041"/>
            </a:avLst>
          </a:prstGeom>
          <a:solidFill>
            <a:srgbClr val="F6F8FA"/>
          </a:solidFill>
          <a:ln w="10160">
            <a:solidFill>
              <a:srgbClr val="D0D7DE"/>
            </a:solidFill>
            <a:prstDash val="solid"/>
          </a:ln>
        </p:spPr>
        <p:txBody>
          <a:bodyPr/>
          <a:lstStyle/>
          <a:p>
            <a:endParaRPr lang="en-US"/>
          </a:p>
        </p:txBody>
      </p:sp>
      <p:sp>
        <p:nvSpPr>
          <p:cNvPr id="21" name="Text 18"/>
          <p:cNvSpPr/>
          <p:nvPr/>
        </p:nvSpPr>
        <p:spPr>
          <a:xfrm>
            <a:off x="1133856" y="3419856"/>
            <a:ext cx="1463040" cy="182880"/>
          </a:xfrm>
          <a:prstGeom prst="rect">
            <a:avLst/>
          </a:prstGeom>
          <a:noFill/>
          <a:ln/>
        </p:spPr>
        <p:txBody>
          <a:bodyPr wrap="square" lIns="0" tIns="0" rIns="0" bIns="0" rtlCol="0" anchor="ctr"/>
          <a:lstStyle/>
          <a:p>
            <a:pPr marL="0" indent="0">
              <a:buNone/>
            </a:pPr>
            <a:r>
              <a:rPr lang="en-US" sz="1250" b="1" dirty="0">
                <a:solidFill>
                  <a:srgbClr val="1A7F37"/>
                </a:solidFill>
                <a:latin typeface="Aptos Display" pitchFamily="34" charset="0"/>
                <a:ea typeface="Aptos Display" pitchFamily="34" charset="-122"/>
                <a:cs typeface="Aptos Display" pitchFamily="34" charset="-120"/>
              </a:rPr>
              <a:t>Inspect checks</a:t>
            </a:r>
            <a:endParaRPr lang="en-US" sz="1250" dirty="0"/>
          </a:p>
        </p:txBody>
      </p:sp>
      <p:sp>
        <p:nvSpPr>
          <p:cNvPr id="22" name="Text 19"/>
          <p:cNvSpPr/>
          <p:nvPr/>
        </p:nvSpPr>
        <p:spPr>
          <a:xfrm>
            <a:off x="2715768" y="3438144"/>
            <a:ext cx="2057400" cy="164592"/>
          </a:xfrm>
          <a:prstGeom prst="rect">
            <a:avLst/>
          </a:prstGeom>
          <a:noFill/>
          <a:ln/>
        </p:spPr>
        <p:txBody>
          <a:bodyPr wrap="square" lIns="0" tIns="0" rIns="0" bIns="0" rtlCol="0" anchor="ctr"/>
          <a:lstStyle/>
          <a:p>
            <a:pPr marL="0" indent="0">
              <a:buNone/>
            </a:pPr>
            <a:r>
              <a:rPr lang="en-US" sz="880" dirty="0">
                <a:solidFill>
                  <a:srgbClr val="57606A"/>
                </a:solidFill>
                <a:latin typeface="Courier New" pitchFamily="34" charset="0"/>
                <a:ea typeface="Courier New" pitchFamily="34" charset="-122"/>
                <a:cs typeface="Courier New" pitchFamily="34" charset="-120"/>
              </a:rPr>
              <a:t>Example diff - verify actual changes</a:t>
            </a:r>
            <a:endParaRPr lang="en-US" sz="880" dirty="0"/>
          </a:p>
        </p:txBody>
      </p:sp>
      <p:sp>
        <p:nvSpPr>
          <p:cNvPr id="23" name="Text 20"/>
          <p:cNvSpPr/>
          <p:nvPr/>
        </p:nvSpPr>
        <p:spPr>
          <a:xfrm>
            <a:off x="1133856" y="3995928"/>
            <a:ext cx="1828800" cy="182880"/>
          </a:xfrm>
          <a:prstGeom prst="rect">
            <a:avLst/>
          </a:prstGeom>
          <a:noFill/>
          <a:ln/>
        </p:spPr>
        <p:txBody>
          <a:bodyPr wrap="square" lIns="0" tIns="0" rIns="0" bIns="0" rtlCol="0" anchor="ctr"/>
          <a:lstStyle/>
          <a:p>
            <a:pPr marL="0" indent="0">
              <a:buNone/>
            </a:pPr>
            <a:r>
              <a:rPr lang="en-US" sz="1250" b="1" dirty="0">
                <a:solidFill>
                  <a:srgbClr val="8250DF"/>
                </a:solidFill>
                <a:latin typeface="Aptos Display" pitchFamily="34" charset="0"/>
                <a:ea typeface="Aptos Display" pitchFamily="34" charset="-122"/>
                <a:cs typeface="Aptos Display" pitchFamily="34" charset="-120"/>
              </a:rPr>
              <a:t>Copilot review comment</a:t>
            </a:r>
            <a:endParaRPr lang="en-US" sz="1250" dirty="0"/>
          </a:p>
        </p:txBody>
      </p:sp>
      <p:sp>
        <p:nvSpPr>
          <p:cNvPr id="24" name="Text 21"/>
          <p:cNvSpPr/>
          <p:nvPr/>
        </p:nvSpPr>
        <p:spPr>
          <a:xfrm>
            <a:off x="1133856" y="4361688"/>
            <a:ext cx="3383280" cy="658368"/>
          </a:xfrm>
          <a:prstGeom prst="rect">
            <a:avLst/>
          </a:prstGeom>
          <a:noFill/>
          <a:ln/>
        </p:spPr>
        <p:txBody>
          <a:bodyPr wrap="square" lIns="0" tIns="0" rIns="0" bIns="0" rtlCol="0" anchor="ctr"/>
          <a:lstStyle/>
          <a:p>
            <a:pPr marL="0" indent="0">
              <a:buNone/>
            </a:pPr>
            <a:r>
              <a:rPr lang="en-US" sz="1150" dirty="0">
                <a:solidFill>
                  <a:srgbClr val="0D1117"/>
                </a:solidFill>
                <a:latin typeface="Aptos" pitchFamily="34" charset="0"/>
                <a:ea typeface="Aptos" pitchFamily="34" charset="-122"/>
                <a:cs typeface="Aptos" pitchFamily="34" charset="-120"/>
              </a:rPr>
              <a:t>Confirm that every language implementation uses the same exact controlled-terminology values.</a:t>
            </a:r>
            <a:endParaRPr lang="en-US" sz="1150" dirty="0"/>
          </a:p>
        </p:txBody>
      </p:sp>
      <p:sp>
        <p:nvSpPr>
          <p:cNvPr id="25" name="Shape 22"/>
          <p:cNvSpPr/>
          <p:nvPr/>
        </p:nvSpPr>
        <p:spPr>
          <a:xfrm>
            <a:off x="7333488" y="1874520"/>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26" name="Text 23"/>
          <p:cNvSpPr/>
          <p:nvPr/>
        </p:nvSpPr>
        <p:spPr>
          <a:xfrm>
            <a:off x="7333488" y="200710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27" name="Text 24"/>
          <p:cNvSpPr/>
          <p:nvPr/>
        </p:nvSpPr>
        <p:spPr>
          <a:xfrm>
            <a:off x="8001000" y="1920240"/>
            <a:ext cx="1481328" cy="21945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Review</a:t>
            </a:r>
            <a:endParaRPr lang="en-US" sz="1600" dirty="0"/>
          </a:p>
        </p:txBody>
      </p:sp>
      <p:sp>
        <p:nvSpPr>
          <p:cNvPr id="28" name="Text 25"/>
          <p:cNvSpPr/>
          <p:nvPr/>
        </p:nvSpPr>
        <p:spPr>
          <a:xfrm>
            <a:off x="9509760" y="1901952"/>
            <a:ext cx="1965960" cy="533400"/>
          </a:xfrm>
          <a:prstGeom prst="rect">
            <a:avLst/>
          </a:prstGeom>
          <a:noFill/>
          <a:ln/>
        </p:spPr>
        <p:txBody>
          <a:bodyPr wrap="square" lIns="0" tIns="0" rIns="0" bIns="0" rtlCol="0" anchor="ctr">
            <a:noAutofit/>
          </a:bodyPr>
          <a:lstStyle/>
          <a:p>
            <a:pPr marL="0" indent="0">
              <a:buNone/>
            </a:pPr>
            <a:r>
              <a:rPr lang="en-US" sz="1200" dirty="0">
                <a:solidFill>
                  <a:srgbClr val="57606A"/>
                </a:solidFill>
                <a:latin typeface="Aptos" pitchFamily="34" charset="0"/>
                <a:ea typeface="Aptos" pitchFamily="34" charset="-122"/>
                <a:cs typeface="Aptos" pitchFamily="34" charset="-120"/>
              </a:rPr>
              <a:t>Inspect every local change and actual test result.</a:t>
            </a:r>
            <a:endParaRPr lang="en-US" sz="1200" dirty="0"/>
          </a:p>
        </p:txBody>
      </p:sp>
      <p:sp>
        <p:nvSpPr>
          <p:cNvPr id="29" name="Shape 26"/>
          <p:cNvSpPr/>
          <p:nvPr/>
        </p:nvSpPr>
        <p:spPr>
          <a:xfrm>
            <a:off x="7333488" y="2587752"/>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30" name="Text 27"/>
          <p:cNvSpPr/>
          <p:nvPr/>
        </p:nvSpPr>
        <p:spPr>
          <a:xfrm>
            <a:off x="7333488" y="272034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31" name="Text 28"/>
          <p:cNvSpPr/>
          <p:nvPr/>
        </p:nvSpPr>
        <p:spPr>
          <a:xfrm>
            <a:off x="8001000" y="2633472"/>
            <a:ext cx="1481328" cy="21945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Commit</a:t>
            </a:r>
            <a:endParaRPr lang="en-US" sz="1600" dirty="0"/>
          </a:p>
        </p:txBody>
      </p:sp>
      <p:sp>
        <p:nvSpPr>
          <p:cNvPr id="32" name="Text 29"/>
          <p:cNvSpPr/>
          <p:nvPr/>
        </p:nvSpPr>
        <p:spPr>
          <a:xfrm>
            <a:off x="9509760" y="2615184"/>
            <a:ext cx="1965960" cy="533400"/>
          </a:xfrm>
          <a:prstGeom prst="rect">
            <a:avLst/>
          </a:prstGeom>
          <a:noFill/>
          <a:ln/>
        </p:spPr>
        <p:txBody>
          <a:bodyPr wrap="square" lIns="0" tIns="0" rIns="0" bIns="0" rtlCol="0" anchor="ctr">
            <a:noAutofit/>
          </a:bodyPr>
          <a:lstStyle/>
          <a:p>
            <a:pPr marL="0" indent="0">
              <a:buNone/>
            </a:pPr>
            <a:r>
              <a:rPr lang="en-US" sz="1200" dirty="0">
                <a:solidFill>
                  <a:srgbClr val="57606A"/>
                </a:solidFill>
                <a:latin typeface="Aptos" pitchFamily="34" charset="0"/>
                <a:ea typeface="Aptos" pitchFamily="34" charset="-122"/>
                <a:cs typeface="Aptos" pitchFamily="34" charset="-120"/>
              </a:rPr>
              <a:t>Stage intended files; write the commit message.</a:t>
            </a:r>
            <a:endParaRPr lang="en-US" sz="1200" dirty="0"/>
          </a:p>
        </p:txBody>
      </p:sp>
      <p:sp>
        <p:nvSpPr>
          <p:cNvPr id="33" name="Shape 30"/>
          <p:cNvSpPr/>
          <p:nvPr/>
        </p:nvSpPr>
        <p:spPr>
          <a:xfrm>
            <a:off x="7333488" y="3300984"/>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34" name="Text 31"/>
          <p:cNvSpPr/>
          <p:nvPr/>
        </p:nvSpPr>
        <p:spPr>
          <a:xfrm>
            <a:off x="7333488" y="3433572"/>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35" name="Text 32"/>
          <p:cNvSpPr/>
          <p:nvPr/>
        </p:nvSpPr>
        <p:spPr>
          <a:xfrm>
            <a:off x="8001000" y="3346704"/>
            <a:ext cx="1481328" cy="21945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Push</a:t>
            </a:r>
            <a:endParaRPr lang="en-US" sz="1600" dirty="0"/>
          </a:p>
        </p:txBody>
      </p:sp>
      <p:sp>
        <p:nvSpPr>
          <p:cNvPr id="36" name="Text 33"/>
          <p:cNvSpPr/>
          <p:nvPr/>
        </p:nvSpPr>
        <p:spPr>
          <a:xfrm>
            <a:off x="9509760" y="3328416"/>
            <a:ext cx="1965960" cy="533400"/>
          </a:xfrm>
          <a:prstGeom prst="rect">
            <a:avLst/>
          </a:prstGeom>
          <a:noFill/>
          <a:ln/>
        </p:spPr>
        <p:txBody>
          <a:bodyPr wrap="square" lIns="0" tIns="0" rIns="0" bIns="0" rtlCol="0" anchor="ctr">
            <a:noAutofit/>
          </a:bodyPr>
          <a:lstStyle/>
          <a:p>
            <a:pPr marL="0" indent="0">
              <a:buNone/>
            </a:pPr>
            <a:r>
              <a:rPr lang="en-US" sz="1200" dirty="0">
                <a:solidFill>
                  <a:srgbClr val="57606A"/>
                </a:solidFill>
                <a:latin typeface="Aptos" pitchFamily="34" charset="0"/>
                <a:ea typeface="Aptos" pitchFamily="34" charset="-122"/>
                <a:cs typeface="Aptos" pitchFamily="34" charset="-120"/>
              </a:rPr>
              <a:t>Verify origin; push your branch to the approved repo.</a:t>
            </a:r>
            <a:endParaRPr lang="en-US" sz="1200" dirty="0"/>
          </a:p>
        </p:txBody>
      </p:sp>
      <p:sp>
        <p:nvSpPr>
          <p:cNvPr id="37" name="Shape 34"/>
          <p:cNvSpPr/>
          <p:nvPr/>
        </p:nvSpPr>
        <p:spPr>
          <a:xfrm>
            <a:off x="7333488" y="4014216"/>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38" name="Text 35"/>
          <p:cNvSpPr/>
          <p:nvPr/>
        </p:nvSpPr>
        <p:spPr>
          <a:xfrm>
            <a:off x="7333488" y="4146804"/>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4</a:t>
            </a:r>
            <a:endParaRPr lang="en-US" sz="1200" dirty="0"/>
          </a:p>
        </p:txBody>
      </p:sp>
      <p:sp>
        <p:nvSpPr>
          <p:cNvPr id="39" name="Text 36"/>
          <p:cNvSpPr/>
          <p:nvPr/>
        </p:nvSpPr>
        <p:spPr>
          <a:xfrm>
            <a:off x="8001000" y="4059936"/>
            <a:ext cx="1481328" cy="21945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Open PR</a:t>
            </a:r>
            <a:endParaRPr lang="en-US" sz="1600" dirty="0"/>
          </a:p>
        </p:txBody>
      </p:sp>
      <p:sp>
        <p:nvSpPr>
          <p:cNvPr id="40" name="Text 37"/>
          <p:cNvSpPr/>
          <p:nvPr/>
        </p:nvSpPr>
        <p:spPr>
          <a:xfrm>
            <a:off x="9509760" y="4041648"/>
            <a:ext cx="1965960" cy="533400"/>
          </a:xfrm>
          <a:prstGeom prst="rect">
            <a:avLst/>
          </a:prstGeom>
          <a:noFill/>
          <a:ln/>
        </p:spPr>
        <p:txBody>
          <a:bodyPr wrap="square" lIns="0" tIns="0" rIns="0" bIns="0" rtlCol="0" anchor="ctr">
            <a:noAutofit/>
          </a:bodyPr>
          <a:lstStyle/>
          <a:p>
            <a:pPr marL="0" indent="0">
              <a:buNone/>
            </a:pPr>
            <a:r>
              <a:rPr lang="en-US" sz="1200" dirty="0">
                <a:solidFill>
                  <a:srgbClr val="57606A"/>
                </a:solidFill>
                <a:latin typeface="Aptos" pitchFamily="34" charset="0"/>
                <a:ea typeface="Aptos" pitchFamily="34" charset="-122"/>
                <a:cs typeface="Aptos" pitchFamily="34" charset="-120"/>
              </a:rPr>
              <a:t>Select the correct base; link your issue.</a:t>
            </a:r>
            <a:endParaRPr lang="en-US" sz="1200" dirty="0"/>
          </a:p>
        </p:txBody>
      </p:sp>
      <p:sp>
        <p:nvSpPr>
          <p:cNvPr id="41" name="Shape 38"/>
          <p:cNvSpPr/>
          <p:nvPr/>
        </p:nvSpPr>
        <p:spPr>
          <a:xfrm>
            <a:off x="7333488" y="4727448"/>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42" name="Text 39"/>
          <p:cNvSpPr/>
          <p:nvPr/>
        </p:nvSpPr>
        <p:spPr>
          <a:xfrm>
            <a:off x="7333488" y="4860036"/>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5</a:t>
            </a:r>
            <a:endParaRPr lang="en-US" sz="1200" dirty="0"/>
          </a:p>
        </p:txBody>
      </p:sp>
      <p:sp>
        <p:nvSpPr>
          <p:cNvPr id="43" name="Text 40"/>
          <p:cNvSpPr/>
          <p:nvPr/>
        </p:nvSpPr>
        <p:spPr>
          <a:xfrm>
            <a:off x="8001000" y="4773168"/>
            <a:ext cx="1481328" cy="21945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Evidence</a:t>
            </a:r>
            <a:endParaRPr lang="en-US" sz="1600" dirty="0"/>
          </a:p>
        </p:txBody>
      </p:sp>
      <p:sp>
        <p:nvSpPr>
          <p:cNvPr id="44" name="Text 41"/>
          <p:cNvSpPr/>
          <p:nvPr/>
        </p:nvSpPr>
        <p:spPr>
          <a:xfrm>
            <a:off x="9509760" y="4754880"/>
            <a:ext cx="1965960" cy="533400"/>
          </a:xfrm>
          <a:prstGeom prst="rect">
            <a:avLst/>
          </a:prstGeom>
          <a:noFill/>
          <a:ln/>
        </p:spPr>
        <p:txBody>
          <a:bodyPr wrap="square" lIns="0" tIns="0" rIns="0" bIns="0" rtlCol="0" anchor="ctr">
            <a:noAutofit/>
          </a:bodyPr>
          <a:lstStyle/>
          <a:p>
            <a:pPr marL="0" indent="0">
              <a:buNone/>
            </a:pPr>
            <a:r>
              <a:rPr lang="en-US" sz="1200" dirty="0">
                <a:solidFill>
                  <a:srgbClr val="57606A"/>
                </a:solidFill>
                <a:latin typeface="Aptos" pitchFamily="34" charset="0"/>
                <a:ea typeface="Aptos" pitchFamily="34" charset="-122"/>
                <a:cs typeface="Aptos" pitchFamily="34" charset="-120"/>
              </a:rPr>
              <a:t>Record checks and open questions. Do not merge.</a:t>
            </a:r>
            <a:endParaRPr lang="en-US" sz="1200" dirty="0"/>
          </a:p>
        </p:txBody>
      </p:sp>
      <p:sp>
        <p:nvSpPr>
          <p:cNvPr id="45" name="Text 42"/>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46" name="Text 43">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GITHUB COPILOT CODE REVIEW</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Request a second AI perspective</a:t>
            </a:r>
            <a:endParaRPr lang="en-US" sz="3100" dirty="0"/>
          </a:p>
        </p:txBody>
      </p:sp>
      <p:sp>
        <p:nvSpPr>
          <p:cNvPr id="7" name="Shape 4"/>
          <p:cNvSpPr/>
          <p:nvPr/>
        </p:nvSpPr>
        <p:spPr>
          <a:xfrm>
            <a:off x="566928" y="1847088"/>
            <a:ext cx="7635240" cy="4206240"/>
          </a:xfrm>
          <a:prstGeom prst="roundRect">
            <a:avLst>
              <a:gd name="adj" fmla="val 1739"/>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8" name="Shape 5"/>
          <p:cNvSpPr/>
          <p:nvPr/>
        </p:nvSpPr>
        <p:spPr>
          <a:xfrm>
            <a:off x="566928" y="1847088"/>
            <a:ext cx="7635240" cy="457200"/>
          </a:xfrm>
          <a:prstGeom prst="rect">
            <a:avLst/>
          </a:prstGeom>
          <a:solidFill>
            <a:srgbClr val="F6F8FA"/>
          </a:solidFill>
          <a:ln w="8890">
            <a:solidFill>
              <a:srgbClr val="D0D7DE"/>
            </a:solidFill>
            <a:prstDash val="solid"/>
          </a:ln>
        </p:spPr>
        <p:txBody>
          <a:bodyPr/>
          <a:lstStyle/>
          <a:p>
            <a:endParaRPr lang="en-US"/>
          </a:p>
        </p:txBody>
      </p:sp>
      <p:sp>
        <p:nvSpPr>
          <p:cNvPr id="9" name="Shape 6"/>
          <p:cNvSpPr/>
          <p:nvPr/>
        </p:nvSpPr>
        <p:spPr>
          <a:xfrm>
            <a:off x="731520" y="201168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0" name="Shape 7"/>
          <p:cNvSpPr/>
          <p:nvPr/>
        </p:nvSpPr>
        <p:spPr>
          <a:xfrm>
            <a:off x="932688" y="201168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1" name="Shape 8"/>
          <p:cNvSpPr/>
          <p:nvPr/>
        </p:nvSpPr>
        <p:spPr>
          <a:xfrm>
            <a:off x="1133856" y="201168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2" name="Shape 9"/>
          <p:cNvSpPr/>
          <p:nvPr/>
        </p:nvSpPr>
        <p:spPr>
          <a:xfrm>
            <a:off x="1408176" y="1947672"/>
            <a:ext cx="657453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3" name="Text 10"/>
          <p:cNvSpPr/>
          <p:nvPr/>
        </p:nvSpPr>
        <p:spPr>
          <a:xfrm>
            <a:off x="1554480" y="2020824"/>
            <a:ext cx="6281928"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Illustrative PR in your approved working repository</a:t>
            </a:r>
            <a:endParaRPr lang="en-US" sz="720" dirty="0"/>
          </a:p>
        </p:txBody>
      </p:sp>
      <p:sp>
        <p:nvSpPr>
          <p:cNvPr id="14" name="Shape 11"/>
          <p:cNvSpPr/>
          <p:nvPr/>
        </p:nvSpPr>
        <p:spPr>
          <a:xfrm>
            <a:off x="841248" y="2532888"/>
            <a:ext cx="694944" cy="310896"/>
          </a:xfrm>
          <a:prstGeom prst="roundRect">
            <a:avLst>
              <a:gd name="adj" fmla="val 23529"/>
            </a:avLst>
          </a:prstGeom>
          <a:solidFill>
            <a:srgbClr val="1A7F37"/>
          </a:solidFill>
          <a:ln w="8890">
            <a:solidFill>
              <a:srgbClr val="1A7F37"/>
            </a:solidFill>
            <a:prstDash val="solid"/>
          </a:ln>
        </p:spPr>
        <p:txBody>
          <a:bodyPr/>
          <a:lstStyle/>
          <a:p>
            <a:endParaRPr lang="en-US"/>
          </a:p>
        </p:txBody>
      </p:sp>
      <p:sp>
        <p:nvSpPr>
          <p:cNvPr id="15" name="Text 12"/>
          <p:cNvSpPr/>
          <p:nvPr/>
        </p:nvSpPr>
        <p:spPr>
          <a:xfrm>
            <a:off x="932688" y="2628900"/>
            <a:ext cx="512064"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OPEN</a:t>
            </a:r>
            <a:endParaRPr lang="en-US" sz="850" dirty="0"/>
          </a:p>
        </p:txBody>
      </p:sp>
      <p:sp>
        <p:nvSpPr>
          <p:cNvPr id="16" name="Text 13"/>
          <p:cNvSpPr/>
          <p:nvPr/>
        </p:nvSpPr>
        <p:spPr>
          <a:xfrm>
            <a:off x="1737360" y="2532888"/>
            <a:ext cx="6190488" cy="310896"/>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Include life-threatening events in the AE summary</a:t>
            </a:r>
            <a:endParaRPr lang="en-US" sz="1600" dirty="0"/>
          </a:p>
        </p:txBody>
      </p:sp>
      <p:sp>
        <p:nvSpPr>
          <p:cNvPr id="17" name="Text 14"/>
          <p:cNvSpPr/>
          <p:nvPr/>
        </p:nvSpPr>
        <p:spPr>
          <a:xfrm>
            <a:off x="6281928" y="3127248"/>
            <a:ext cx="914400" cy="164592"/>
          </a:xfrm>
          <a:prstGeom prst="rect">
            <a:avLst/>
          </a:prstGeom>
          <a:noFill/>
          <a:ln/>
        </p:spPr>
        <p:txBody>
          <a:bodyPr wrap="square" lIns="0" tIns="0" rIns="0" bIns="0" rtlCol="0" anchor="ctr"/>
          <a:lstStyle/>
          <a:p>
            <a:pPr marL="0" indent="0">
              <a:buNone/>
            </a:pPr>
            <a:r>
              <a:rPr lang="en-US" sz="900" b="1" dirty="0">
                <a:solidFill>
                  <a:srgbClr val="57606A"/>
                </a:solidFill>
                <a:latin typeface="Aptos" pitchFamily="34" charset="0"/>
                <a:ea typeface="Aptos" pitchFamily="34" charset="-122"/>
                <a:cs typeface="Aptos" pitchFamily="34" charset="-120"/>
              </a:rPr>
              <a:t>Reviewers</a:t>
            </a:r>
            <a:endParaRPr lang="en-US" sz="900" dirty="0"/>
          </a:p>
        </p:txBody>
      </p:sp>
      <p:sp>
        <p:nvSpPr>
          <p:cNvPr id="18" name="Shape 15"/>
          <p:cNvSpPr/>
          <p:nvPr/>
        </p:nvSpPr>
        <p:spPr>
          <a:xfrm>
            <a:off x="6208776" y="3383280"/>
            <a:ext cx="1645920" cy="310896"/>
          </a:xfrm>
          <a:prstGeom prst="roundRect">
            <a:avLst>
              <a:gd name="adj" fmla="val 23529"/>
            </a:avLst>
          </a:prstGeom>
          <a:solidFill>
            <a:srgbClr val="F6F0FF"/>
          </a:solidFill>
          <a:ln w="8890">
            <a:solidFill>
              <a:srgbClr val="8250DF"/>
            </a:solidFill>
            <a:prstDash val="solid"/>
          </a:ln>
        </p:spPr>
        <p:txBody>
          <a:bodyPr/>
          <a:lstStyle/>
          <a:p>
            <a:endParaRPr lang="en-US"/>
          </a:p>
        </p:txBody>
      </p:sp>
      <p:sp>
        <p:nvSpPr>
          <p:cNvPr id="19" name="Text 16"/>
          <p:cNvSpPr/>
          <p:nvPr/>
        </p:nvSpPr>
        <p:spPr>
          <a:xfrm>
            <a:off x="6300216" y="3479292"/>
            <a:ext cx="1463040" cy="109728"/>
          </a:xfrm>
          <a:prstGeom prst="rect">
            <a:avLst/>
          </a:prstGeom>
          <a:noFill/>
          <a:ln/>
        </p:spPr>
        <p:txBody>
          <a:bodyPr wrap="square" lIns="0" tIns="0" rIns="0" bIns="0" rtlCol="0" anchor="ctr"/>
          <a:lstStyle/>
          <a:p>
            <a:pPr marL="0" indent="0" algn="ctr">
              <a:buNone/>
            </a:pPr>
            <a:r>
              <a:rPr lang="en-US" sz="850" b="1" kern="0" spc="70" dirty="0">
                <a:solidFill>
                  <a:srgbClr val="8250DF"/>
                </a:solidFill>
                <a:latin typeface="Aptos" pitchFamily="34" charset="0"/>
                <a:ea typeface="Aptos" pitchFamily="34" charset="-122"/>
                <a:cs typeface="Aptos" pitchFamily="34" charset="-120"/>
              </a:rPr>
              <a:t>COPILOT  REQUEST</a:t>
            </a:r>
            <a:endParaRPr lang="en-US" sz="850" dirty="0"/>
          </a:p>
        </p:txBody>
      </p:sp>
      <p:sp>
        <p:nvSpPr>
          <p:cNvPr id="20" name="Shape 17"/>
          <p:cNvSpPr/>
          <p:nvPr/>
        </p:nvSpPr>
        <p:spPr>
          <a:xfrm>
            <a:off x="886968" y="3145536"/>
            <a:ext cx="4983480" cy="2240280"/>
          </a:xfrm>
          <a:prstGeom prst="roundRect">
            <a:avLst>
              <a:gd name="adj" fmla="val 2041"/>
            </a:avLst>
          </a:prstGeom>
          <a:solidFill>
            <a:srgbClr val="F6F8FA"/>
          </a:solidFill>
          <a:ln w="10160">
            <a:solidFill>
              <a:srgbClr val="D0D7DE"/>
            </a:solidFill>
            <a:prstDash val="solid"/>
          </a:ln>
        </p:spPr>
        <p:txBody>
          <a:bodyPr/>
          <a:lstStyle/>
          <a:p>
            <a:endParaRPr lang="en-US"/>
          </a:p>
        </p:txBody>
      </p:sp>
      <p:sp>
        <p:nvSpPr>
          <p:cNvPr id="21" name="Text 18"/>
          <p:cNvSpPr/>
          <p:nvPr/>
        </p:nvSpPr>
        <p:spPr>
          <a:xfrm>
            <a:off x="1133856" y="3419856"/>
            <a:ext cx="1463040" cy="182880"/>
          </a:xfrm>
          <a:prstGeom prst="rect">
            <a:avLst/>
          </a:prstGeom>
          <a:noFill/>
          <a:ln/>
        </p:spPr>
        <p:txBody>
          <a:bodyPr wrap="square" lIns="0" tIns="0" rIns="0" bIns="0" rtlCol="0" anchor="ctr"/>
          <a:lstStyle/>
          <a:p>
            <a:pPr marL="0" indent="0">
              <a:buNone/>
            </a:pPr>
            <a:r>
              <a:rPr lang="en-US" sz="1250" b="1" dirty="0">
                <a:solidFill>
                  <a:srgbClr val="1A7F37"/>
                </a:solidFill>
                <a:latin typeface="Aptos Display" pitchFamily="34" charset="0"/>
                <a:ea typeface="Aptos Display" pitchFamily="34" charset="-122"/>
                <a:cs typeface="Aptos Display" pitchFamily="34" charset="-120"/>
              </a:rPr>
              <a:t>Inspect checks</a:t>
            </a:r>
            <a:endParaRPr lang="en-US" sz="1250" dirty="0"/>
          </a:p>
        </p:txBody>
      </p:sp>
      <p:sp>
        <p:nvSpPr>
          <p:cNvPr id="22" name="Text 19"/>
          <p:cNvSpPr/>
          <p:nvPr/>
        </p:nvSpPr>
        <p:spPr>
          <a:xfrm>
            <a:off x="2715768" y="3438144"/>
            <a:ext cx="2057400" cy="164592"/>
          </a:xfrm>
          <a:prstGeom prst="rect">
            <a:avLst/>
          </a:prstGeom>
          <a:noFill/>
          <a:ln/>
        </p:spPr>
        <p:txBody>
          <a:bodyPr wrap="square" lIns="0" tIns="0" rIns="0" bIns="0" rtlCol="0" anchor="ctr"/>
          <a:lstStyle/>
          <a:p>
            <a:pPr marL="0" indent="0">
              <a:buNone/>
            </a:pPr>
            <a:r>
              <a:rPr lang="en-US" sz="880" dirty="0">
                <a:solidFill>
                  <a:srgbClr val="57606A"/>
                </a:solidFill>
                <a:latin typeface="Courier New" pitchFamily="34" charset="0"/>
                <a:ea typeface="Courier New" pitchFamily="34" charset="-122"/>
                <a:cs typeface="Courier New" pitchFamily="34" charset="-120"/>
              </a:rPr>
              <a:t>Example diff - verify actual changes</a:t>
            </a:r>
            <a:endParaRPr lang="en-US" sz="880" dirty="0"/>
          </a:p>
        </p:txBody>
      </p:sp>
      <p:sp>
        <p:nvSpPr>
          <p:cNvPr id="23" name="Text 20"/>
          <p:cNvSpPr/>
          <p:nvPr/>
        </p:nvSpPr>
        <p:spPr>
          <a:xfrm>
            <a:off x="1133856" y="3995928"/>
            <a:ext cx="1828800" cy="182880"/>
          </a:xfrm>
          <a:prstGeom prst="rect">
            <a:avLst/>
          </a:prstGeom>
          <a:noFill/>
          <a:ln/>
        </p:spPr>
        <p:txBody>
          <a:bodyPr wrap="square" lIns="0" tIns="0" rIns="0" bIns="0" rtlCol="0" anchor="ctr"/>
          <a:lstStyle/>
          <a:p>
            <a:pPr marL="0" indent="0">
              <a:buNone/>
            </a:pPr>
            <a:r>
              <a:rPr lang="en-US" sz="1250" b="1" dirty="0">
                <a:solidFill>
                  <a:srgbClr val="8250DF"/>
                </a:solidFill>
                <a:latin typeface="Aptos Display" pitchFamily="34" charset="0"/>
                <a:ea typeface="Aptos Display" pitchFamily="34" charset="-122"/>
                <a:cs typeface="Aptos Display" pitchFamily="34" charset="-120"/>
              </a:rPr>
              <a:t>Copilot review comment</a:t>
            </a:r>
            <a:endParaRPr lang="en-US" sz="1250" dirty="0"/>
          </a:p>
        </p:txBody>
      </p:sp>
      <p:sp>
        <p:nvSpPr>
          <p:cNvPr id="24" name="Text 21"/>
          <p:cNvSpPr/>
          <p:nvPr/>
        </p:nvSpPr>
        <p:spPr>
          <a:xfrm>
            <a:off x="1133856" y="4361688"/>
            <a:ext cx="4572000" cy="658368"/>
          </a:xfrm>
          <a:prstGeom prst="rect">
            <a:avLst/>
          </a:prstGeom>
          <a:noFill/>
          <a:ln/>
        </p:spPr>
        <p:txBody>
          <a:bodyPr wrap="square" lIns="0" tIns="0" rIns="0" bIns="0" rtlCol="0" anchor="ctr"/>
          <a:lstStyle/>
          <a:p>
            <a:pPr marL="0" indent="0">
              <a:buNone/>
            </a:pPr>
            <a:r>
              <a:rPr lang="en-US" sz="1150" dirty="0">
                <a:solidFill>
                  <a:srgbClr val="0D1117"/>
                </a:solidFill>
                <a:latin typeface="Aptos" pitchFamily="34" charset="0"/>
                <a:ea typeface="Aptos" pitchFamily="34" charset="-122"/>
                <a:cs typeface="Aptos" pitchFamily="34" charset="-120"/>
              </a:rPr>
              <a:t>Confirm that every language implementation uses the same exact controlled-terminology values.</a:t>
            </a:r>
            <a:endParaRPr lang="en-US" sz="1150" dirty="0"/>
          </a:p>
        </p:txBody>
      </p:sp>
      <p:sp>
        <p:nvSpPr>
          <p:cNvPr id="25" name="Text 22"/>
          <p:cNvSpPr/>
          <p:nvPr/>
        </p:nvSpPr>
        <p:spPr>
          <a:xfrm>
            <a:off x="8705088" y="2011680"/>
            <a:ext cx="2651760" cy="384048"/>
          </a:xfrm>
          <a:prstGeom prst="rect">
            <a:avLst/>
          </a:prstGeom>
          <a:noFill/>
          <a:ln/>
        </p:spPr>
        <p:txBody>
          <a:bodyPr wrap="square" lIns="0" tIns="0" rIns="0" bIns="0" rtlCol="0" anchor="ctr"/>
          <a:lstStyle/>
          <a:p>
            <a:pPr marL="0" indent="0">
              <a:buNone/>
            </a:pPr>
            <a:r>
              <a:rPr lang="en-US" sz="2400" b="1" dirty="0">
                <a:solidFill>
                  <a:srgbClr val="0D1117"/>
                </a:solidFill>
                <a:latin typeface="Aptos Display" pitchFamily="34" charset="0"/>
                <a:ea typeface="Aptos Display" pitchFamily="34" charset="-122"/>
                <a:cs typeface="Aptos Display" pitchFamily="34" charset="-120"/>
              </a:rPr>
              <a:t>Request Copilot</a:t>
            </a:r>
            <a:endParaRPr lang="en-US" sz="2400" dirty="0"/>
          </a:p>
        </p:txBody>
      </p:sp>
      <p:sp>
        <p:nvSpPr>
          <p:cNvPr id="26" name="Text 23"/>
          <p:cNvSpPr/>
          <p:nvPr/>
        </p:nvSpPr>
        <p:spPr>
          <a:xfrm>
            <a:off x="8705088" y="2633472"/>
            <a:ext cx="2651760" cy="621792"/>
          </a:xfrm>
          <a:prstGeom prst="rect">
            <a:avLst/>
          </a:prstGeom>
          <a:noFill/>
          <a:ln/>
        </p:spPr>
        <p:txBody>
          <a:bodyPr wrap="square" lIns="0" tIns="0" rIns="0" bIns="0" rtlCol="0" anchor="ctr"/>
          <a:lstStyle/>
          <a:p>
            <a:pPr marL="0" indent="0">
              <a:buNone/>
            </a:pPr>
            <a:r>
              <a:rPr lang="en-US" sz="1400" dirty="0">
                <a:solidFill>
                  <a:srgbClr val="57606A"/>
                </a:solidFill>
                <a:latin typeface="Aptos" pitchFamily="34" charset="0"/>
                <a:ea typeface="Aptos" pitchFamily="34" charset="-122"/>
                <a:cs typeface="Aptos" pitchFamily="34" charset="-120"/>
              </a:rPr>
              <a:t>Select Copilot in Reviewers. Keep normal human review.</a:t>
            </a:r>
            <a:endParaRPr lang="en-US" sz="1400" dirty="0"/>
          </a:p>
        </p:txBody>
      </p:sp>
      <p:sp>
        <p:nvSpPr>
          <p:cNvPr id="27" name="Shape 24"/>
          <p:cNvSpPr/>
          <p:nvPr/>
        </p:nvSpPr>
        <p:spPr>
          <a:xfrm>
            <a:off x="8705088" y="3584448"/>
            <a:ext cx="2148840" cy="310896"/>
          </a:xfrm>
          <a:prstGeom prst="roundRect">
            <a:avLst>
              <a:gd name="adj" fmla="val 23529"/>
            </a:avLst>
          </a:prstGeom>
          <a:solidFill>
            <a:srgbClr val="F6F0FF"/>
          </a:solidFill>
          <a:ln w="8890">
            <a:solidFill>
              <a:srgbClr val="8250DF"/>
            </a:solidFill>
            <a:prstDash val="solid"/>
          </a:ln>
        </p:spPr>
        <p:txBody>
          <a:bodyPr/>
          <a:lstStyle/>
          <a:p>
            <a:endParaRPr lang="en-US"/>
          </a:p>
        </p:txBody>
      </p:sp>
      <p:sp>
        <p:nvSpPr>
          <p:cNvPr id="28" name="Text 25"/>
          <p:cNvSpPr/>
          <p:nvPr/>
        </p:nvSpPr>
        <p:spPr>
          <a:xfrm>
            <a:off x="8796528" y="3680460"/>
            <a:ext cx="1965960" cy="109728"/>
          </a:xfrm>
          <a:prstGeom prst="rect">
            <a:avLst/>
          </a:prstGeom>
          <a:noFill/>
          <a:ln/>
        </p:spPr>
        <p:txBody>
          <a:bodyPr wrap="square" lIns="0" tIns="0" rIns="0" bIns="0" rtlCol="0" anchor="ctr"/>
          <a:lstStyle/>
          <a:p>
            <a:pPr marL="0" indent="0" algn="ctr">
              <a:buNone/>
            </a:pPr>
            <a:r>
              <a:rPr lang="en-US" sz="850" b="1" kern="0" spc="70" dirty="0">
                <a:solidFill>
                  <a:srgbClr val="8250DF"/>
                </a:solidFill>
                <a:latin typeface="Aptos" pitchFamily="34" charset="0"/>
                <a:ea typeface="Aptos" pitchFamily="34" charset="-122"/>
                <a:cs typeface="Aptos" pitchFamily="34" charset="-120"/>
              </a:rPr>
              <a:t>ADDITIONAL INPUT</a:t>
            </a:r>
            <a:endParaRPr lang="en-US" sz="850" dirty="0"/>
          </a:p>
        </p:txBody>
      </p:sp>
      <p:sp>
        <p:nvSpPr>
          <p:cNvPr id="29" name="Text 26"/>
          <p:cNvSpPr/>
          <p:nvPr/>
        </p:nvSpPr>
        <p:spPr>
          <a:xfrm>
            <a:off x="8705088" y="4224528"/>
            <a:ext cx="2697480" cy="822960"/>
          </a:xfrm>
          <a:prstGeom prst="rect">
            <a:avLst/>
          </a:prstGeom>
          <a:noFill/>
          <a:ln/>
        </p:spPr>
        <p:txBody>
          <a:bodyPr wrap="square" lIns="0" tIns="0" rIns="0" bIns="0" rtlCol="0" anchor="ctr"/>
          <a:lstStyle/>
          <a:p>
            <a:pPr marL="0" indent="0">
              <a:buNone/>
            </a:pPr>
            <a:r>
              <a:rPr lang="en-US" sz="1800" b="1" dirty="0">
                <a:solidFill>
                  <a:srgbClr val="8250DF"/>
                </a:solidFill>
                <a:latin typeface="Aptos Display" pitchFamily="34" charset="0"/>
                <a:ea typeface="Aptos Display" pitchFamily="34" charset="-122"/>
                <a:cs typeface="Aptos Display" pitchFamily="34" charset="-120"/>
              </a:rPr>
              <a:t>Copilot comments do not remove the need for human review.</a:t>
            </a:r>
            <a:endParaRPr lang="en-US" sz="1800" dirty="0"/>
          </a:p>
        </p:txBody>
      </p:sp>
      <p:sp>
        <p:nvSpPr>
          <p:cNvPr id="30" name="Text 27"/>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31" name="Text 28">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TRIAGE BEFORE ACTION</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Not every AI comment is right</a:t>
            </a:r>
            <a:endParaRPr lang="en-US" sz="3100" dirty="0"/>
          </a:p>
        </p:txBody>
      </p:sp>
      <p:sp>
        <p:nvSpPr>
          <p:cNvPr id="7" name="Shape 4"/>
          <p:cNvSpPr/>
          <p:nvPr/>
        </p:nvSpPr>
        <p:spPr>
          <a:xfrm>
            <a:off x="594360" y="1993392"/>
            <a:ext cx="3474720" cy="3611880"/>
          </a:xfrm>
          <a:prstGeom prst="roundRect">
            <a:avLst>
              <a:gd name="adj" fmla="val 2105"/>
            </a:avLst>
          </a:prstGeom>
          <a:solidFill>
            <a:srgbClr val="DAFBE1"/>
          </a:solidFill>
          <a:ln w="15240">
            <a:solidFill>
              <a:srgbClr val="1A7F37"/>
            </a:solidFill>
            <a:prstDash val="solid"/>
          </a:ln>
        </p:spPr>
        <p:txBody>
          <a:bodyPr/>
          <a:lstStyle/>
          <a:p>
            <a:endParaRPr lang="en-US"/>
          </a:p>
        </p:txBody>
      </p:sp>
      <p:sp>
        <p:nvSpPr>
          <p:cNvPr id="8" name="Text 5"/>
          <p:cNvSpPr/>
          <p:nvPr/>
        </p:nvSpPr>
        <p:spPr>
          <a:xfrm>
            <a:off x="914400" y="2395728"/>
            <a:ext cx="2834640" cy="384048"/>
          </a:xfrm>
          <a:prstGeom prst="rect">
            <a:avLst/>
          </a:prstGeom>
          <a:noFill/>
          <a:ln/>
        </p:spPr>
        <p:txBody>
          <a:bodyPr wrap="square" lIns="0" tIns="0" rIns="0" bIns="0" rtlCol="0" anchor="ctr"/>
          <a:lstStyle/>
          <a:p>
            <a:pPr marL="0" indent="0">
              <a:buNone/>
            </a:pPr>
            <a:r>
              <a:rPr lang="en-US" sz="2500" b="1" dirty="0">
                <a:solidFill>
                  <a:srgbClr val="1A7F37"/>
                </a:solidFill>
                <a:latin typeface="Aptos Display" pitchFamily="34" charset="0"/>
                <a:ea typeface="Aptos Display" pitchFamily="34" charset="-122"/>
                <a:cs typeface="Aptos Display" pitchFamily="34" charset="-120"/>
              </a:rPr>
              <a:t>Useful</a:t>
            </a:r>
            <a:endParaRPr lang="en-US" sz="2500" dirty="0"/>
          </a:p>
        </p:txBody>
      </p:sp>
      <p:sp>
        <p:nvSpPr>
          <p:cNvPr id="9" name="Text 6"/>
          <p:cNvSpPr/>
          <p:nvPr/>
        </p:nvSpPr>
        <p:spPr>
          <a:xfrm>
            <a:off x="914400" y="3108960"/>
            <a:ext cx="2788920" cy="1600200"/>
          </a:xfrm>
          <a:prstGeom prst="rect">
            <a:avLst/>
          </a:prstGeom>
          <a:noFill/>
          <a:ln/>
        </p:spPr>
        <p:txBody>
          <a:bodyPr wrap="square" lIns="0" tIns="0" rIns="0" bIns="0" rtlCol="0" anchor="ctr"/>
          <a:lstStyle/>
          <a:p>
            <a:pPr marL="0" indent="0">
              <a:buNone/>
            </a:pPr>
            <a:r>
              <a:rPr lang="en-US" sz="1400" dirty="0">
                <a:solidFill>
                  <a:srgbClr val="0D1117"/>
                </a:solidFill>
                <a:latin typeface="Aptos" pitchFamily="34" charset="0"/>
                <a:ea typeface="Aptos" pitchFamily="34" charset="-122"/>
                <a:cs typeface="Aptos" pitchFamily="34" charset="-120"/>
              </a:rPr>
              <a:t>Supported by the requirement and repository evidence.</a:t>
            </a:r>
            <a:endParaRPr lang="en-US" sz="1400" dirty="0"/>
          </a:p>
          <a:p>
            <a:pPr marL="0" indent="0">
              <a:buNone/>
            </a:pPr>
            <a:endParaRPr lang="en-US" sz="1400" dirty="0"/>
          </a:p>
          <a:p>
            <a:pPr marL="0" indent="0">
              <a:buNone/>
            </a:pPr>
            <a:r>
              <a:rPr lang="en-US" sz="1400" dirty="0">
                <a:solidFill>
                  <a:srgbClr val="0D1117"/>
                </a:solidFill>
                <a:latin typeface="Aptos" pitchFamily="34" charset="0"/>
                <a:ea typeface="Aptos" pitchFamily="34" charset="-122"/>
                <a:cs typeface="Aptos" pitchFamily="34" charset="-120"/>
              </a:rPr>
              <a:t>Act after confirming the suggestion preserves scope.</a:t>
            </a:r>
            <a:endParaRPr lang="en-US" sz="1400" dirty="0"/>
          </a:p>
        </p:txBody>
      </p:sp>
      <p:sp>
        <p:nvSpPr>
          <p:cNvPr id="10" name="Shape 7"/>
          <p:cNvSpPr/>
          <p:nvPr/>
        </p:nvSpPr>
        <p:spPr>
          <a:xfrm>
            <a:off x="4361688" y="1993392"/>
            <a:ext cx="3474720" cy="3611880"/>
          </a:xfrm>
          <a:prstGeom prst="roundRect">
            <a:avLst>
              <a:gd name="adj" fmla="val 2105"/>
            </a:avLst>
          </a:prstGeom>
          <a:solidFill>
            <a:srgbClr val="FFF8C5"/>
          </a:solidFill>
          <a:ln w="15240">
            <a:solidFill>
              <a:srgbClr val="9A6700"/>
            </a:solidFill>
            <a:prstDash val="solid"/>
          </a:ln>
        </p:spPr>
        <p:txBody>
          <a:bodyPr/>
          <a:lstStyle/>
          <a:p>
            <a:endParaRPr lang="en-US"/>
          </a:p>
        </p:txBody>
      </p:sp>
      <p:sp>
        <p:nvSpPr>
          <p:cNvPr id="11" name="Text 8"/>
          <p:cNvSpPr/>
          <p:nvPr/>
        </p:nvSpPr>
        <p:spPr>
          <a:xfrm>
            <a:off x="4681728" y="2395728"/>
            <a:ext cx="2834640" cy="384048"/>
          </a:xfrm>
          <a:prstGeom prst="rect">
            <a:avLst/>
          </a:prstGeom>
          <a:noFill/>
          <a:ln/>
        </p:spPr>
        <p:txBody>
          <a:bodyPr wrap="square" lIns="0" tIns="0" rIns="0" bIns="0" rtlCol="0" anchor="ctr"/>
          <a:lstStyle/>
          <a:p>
            <a:pPr marL="0" indent="0">
              <a:buNone/>
            </a:pPr>
            <a:r>
              <a:rPr lang="en-US" sz="2500" b="1" dirty="0">
                <a:solidFill>
                  <a:srgbClr val="9A6700"/>
                </a:solidFill>
                <a:latin typeface="Aptos Display" pitchFamily="34" charset="0"/>
                <a:ea typeface="Aptos Display" pitchFamily="34" charset="-122"/>
                <a:cs typeface="Aptos Display" pitchFamily="34" charset="-120"/>
              </a:rPr>
              <a:t>Plausible</a:t>
            </a:r>
            <a:endParaRPr lang="en-US" sz="2500" dirty="0"/>
          </a:p>
        </p:txBody>
      </p:sp>
      <p:sp>
        <p:nvSpPr>
          <p:cNvPr id="12" name="Text 9"/>
          <p:cNvSpPr/>
          <p:nvPr/>
        </p:nvSpPr>
        <p:spPr>
          <a:xfrm>
            <a:off x="4681728" y="3108960"/>
            <a:ext cx="2788920" cy="1600200"/>
          </a:xfrm>
          <a:prstGeom prst="rect">
            <a:avLst/>
          </a:prstGeom>
          <a:noFill/>
          <a:ln/>
        </p:spPr>
        <p:txBody>
          <a:bodyPr wrap="square" lIns="0" tIns="0" rIns="0" bIns="0" rtlCol="0" anchor="ctr"/>
          <a:lstStyle/>
          <a:p>
            <a:pPr marL="0" indent="0">
              <a:buNone/>
            </a:pPr>
            <a:r>
              <a:rPr lang="en-US" sz="1400" dirty="0">
                <a:solidFill>
                  <a:srgbClr val="0D1117"/>
                </a:solidFill>
                <a:latin typeface="Aptos" pitchFamily="34" charset="0"/>
                <a:ea typeface="Aptos" pitchFamily="34" charset="-122"/>
                <a:cs typeface="Aptos" pitchFamily="34" charset="-120"/>
              </a:rPr>
              <a:t>Worth investigating, but missing evidence.</a:t>
            </a:r>
            <a:endParaRPr lang="en-US" sz="1400" dirty="0"/>
          </a:p>
          <a:p>
            <a:pPr marL="0" indent="0">
              <a:buNone/>
            </a:pPr>
            <a:endParaRPr lang="en-US" sz="1400" dirty="0"/>
          </a:p>
          <a:p>
            <a:pPr marL="0" indent="0">
              <a:buNone/>
            </a:pPr>
            <a:r>
              <a:rPr lang="en-US" sz="1400" dirty="0">
                <a:solidFill>
                  <a:srgbClr val="0D1117"/>
                </a:solidFill>
                <a:latin typeface="Aptos" pitchFamily="34" charset="0"/>
                <a:ea typeface="Aptos" pitchFamily="34" charset="-122"/>
                <a:cs typeface="Aptos" pitchFamily="34" charset="-120"/>
              </a:rPr>
              <a:t>Ask for a source or involve a domain expert.</a:t>
            </a:r>
            <a:endParaRPr lang="en-US" sz="1400" dirty="0"/>
          </a:p>
        </p:txBody>
      </p:sp>
      <p:sp>
        <p:nvSpPr>
          <p:cNvPr id="13" name="Shape 10"/>
          <p:cNvSpPr/>
          <p:nvPr/>
        </p:nvSpPr>
        <p:spPr>
          <a:xfrm>
            <a:off x="8129016" y="1993392"/>
            <a:ext cx="3474720" cy="3611880"/>
          </a:xfrm>
          <a:prstGeom prst="roundRect">
            <a:avLst>
              <a:gd name="adj" fmla="val 2105"/>
            </a:avLst>
          </a:prstGeom>
          <a:solidFill>
            <a:srgbClr val="FFEBE9"/>
          </a:solidFill>
          <a:ln w="15240">
            <a:solidFill>
              <a:srgbClr val="CF222E"/>
            </a:solidFill>
            <a:prstDash val="solid"/>
          </a:ln>
        </p:spPr>
        <p:txBody>
          <a:bodyPr/>
          <a:lstStyle/>
          <a:p>
            <a:endParaRPr lang="en-US"/>
          </a:p>
        </p:txBody>
      </p:sp>
      <p:sp>
        <p:nvSpPr>
          <p:cNvPr id="14" name="Text 11"/>
          <p:cNvSpPr/>
          <p:nvPr/>
        </p:nvSpPr>
        <p:spPr>
          <a:xfrm>
            <a:off x="8449056" y="2395728"/>
            <a:ext cx="2834640" cy="384048"/>
          </a:xfrm>
          <a:prstGeom prst="rect">
            <a:avLst/>
          </a:prstGeom>
          <a:noFill/>
          <a:ln/>
        </p:spPr>
        <p:txBody>
          <a:bodyPr wrap="square" lIns="0" tIns="0" rIns="0" bIns="0" rtlCol="0" anchor="ctr"/>
          <a:lstStyle/>
          <a:p>
            <a:pPr marL="0" indent="0">
              <a:buNone/>
            </a:pPr>
            <a:r>
              <a:rPr lang="en-US" sz="2500" b="1" dirty="0">
                <a:solidFill>
                  <a:srgbClr val="CF222E"/>
                </a:solidFill>
                <a:latin typeface="Aptos Display" pitchFamily="34" charset="0"/>
                <a:ea typeface="Aptos Display" pitchFamily="34" charset="-122"/>
                <a:cs typeface="Aptos Display" pitchFamily="34" charset="-120"/>
              </a:rPr>
              <a:t>Not relevant</a:t>
            </a:r>
            <a:endParaRPr lang="en-US" sz="2500" dirty="0"/>
          </a:p>
        </p:txBody>
      </p:sp>
      <p:sp>
        <p:nvSpPr>
          <p:cNvPr id="15" name="Text 12"/>
          <p:cNvSpPr/>
          <p:nvPr/>
        </p:nvSpPr>
        <p:spPr>
          <a:xfrm>
            <a:off x="8449056" y="3108960"/>
            <a:ext cx="2788920" cy="1600200"/>
          </a:xfrm>
          <a:prstGeom prst="rect">
            <a:avLst/>
          </a:prstGeom>
          <a:noFill/>
          <a:ln/>
        </p:spPr>
        <p:txBody>
          <a:bodyPr wrap="square" lIns="0" tIns="0" rIns="0" bIns="0" rtlCol="0" anchor="ctr"/>
          <a:lstStyle/>
          <a:p>
            <a:pPr marL="0" indent="0">
              <a:buNone/>
            </a:pPr>
            <a:r>
              <a:rPr lang="en-US" sz="1400" dirty="0">
                <a:solidFill>
                  <a:srgbClr val="0D1117"/>
                </a:solidFill>
                <a:latin typeface="Aptos" pitchFamily="34" charset="0"/>
                <a:ea typeface="Aptos" pitchFamily="34" charset="-122"/>
                <a:cs typeface="Aptos" pitchFamily="34" charset="-120"/>
              </a:rPr>
              <a:t>Does not match the task, context, or intended behavior.</a:t>
            </a:r>
            <a:endParaRPr lang="en-US" sz="1400" dirty="0"/>
          </a:p>
          <a:p>
            <a:pPr marL="0" indent="0">
              <a:buNone/>
            </a:pPr>
            <a:endParaRPr lang="en-US" sz="1400" dirty="0"/>
          </a:p>
          <a:p>
            <a:pPr marL="0" indent="0">
              <a:buNone/>
            </a:pPr>
            <a:r>
              <a:rPr lang="en-US" sz="1400" dirty="0">
                <a:solidFill>
                  <a:srgbClr val="0D1117"/>
                </a:solidFill>
                <a:latin typeface="Aptos" pitchFamily="34" charset="0"/>
                <a:ea typeface="Aptos" pitchFamily="34" charset="-122"/>
                <a:cs typeface="Aptos" pitchFamily="34" charset="-120"/>
              </a:rPr>
              <a:t>Do not apply it merely because Copilot suggested it.</a:t>
            </a:r>
            <a:endParaRPr lang="en-US" sz="1400" dirty="0"/>
          </a:p>
        </p:txBody>
      </p:sp>
      <p:sp>
        <p:nvSpPr>
          <p:cNvPr id="16" name="Text 13"/>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17" name="Text 14">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Shape 2"/>
          <p:cNvSpPr/>
          <p:nvPr/>
        </p:nvSpPr>
        <p:spPr>
          <a:xfrm>
            <a:off x="566928" y="1042416"/>
            <a:ext cx="2057400" cy="310896"/>
          </a:xfrm>
          <a:prstGeom prst="roundRect">
            <a:avLst>
              <a:gd name="adj" fmla="val 23529"/>
            </a:avLst>
          </a:prstGeom>
          <a:solidFill>
            <a:srgbClr val="8250DF"/>
          </a:solidFill>
          <a:ln w="8890">
            <a:solidFill>
              <a:srgbClr val="8250DF"/>
            </a:solidFill>
            <a:prstDash val="solid"/>
          </a:ln>
        </p:spPr>
        <p:txBody>
          <a:bodyPr/>
          <a:lstStyle/>
          <a:p>
            <a:endParaRPr lang="en-US"/>
          </a:p>
        </p:txBody>
      </p:sp>
      <p:sp>
        <p:nvSpPr>
          <p:cNvPr id="6" name="Text 3"/>
          <p:cNvSpPr/>
          <p:nvPr/>
        </p:nvSpPr>
        <p:spPr>
          <a:xfrm>
            <a:off x="658368" y="1138428"/>
            <a:ext cx="187452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CONTROLLED ITERATION</a:t>
            </a:r>
            <a:endParaRPr lang="en-US" sz="850" dirty="0"/>
          </a:p>
        </p:txBody>
      </p:sp>
      <p:sp>
        <p:nvSpPr>
          <p:cNvPr id="7" name="Text 4"/>
          <p:cNvSpPr/>
          <p:nvPr/>
        </p:nvSpPr>
        <p:spPr>
          <a:xfrm>
            <a:off x="566928" y="1682496"/>
            <a:ext cx="7406640" cy="640080"/>
          </a:xfrm>
          <a:prstGeom prst="rect">
            <a:avLst/>
          </a:prstGeom>
          <a:noFill/>
          <a:ln/>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Fix -&gt; inspect -&gt; check -&gt; review again</a:t>
            </a:r>
            <a:endParaRPr lang="en-US" sz="3800" dirty="0"/>
          </a:p>
        </p:txBody>
      </p:sp>
      <p:sp>
        <p:nvSpPr>
          <p:cNvPr id="8" name="Shape 5"/>
          <p:cNvSpPr/>
          <p:nvPr/>
        </p:nvSpPr>
        <p:spPr>
          <a:xfrm>
            <a:off x="621792" y="2926080"/>
            <a:ext cx="2053742" cy="804672"/>
          </a:xfrm>
          <a:prstGeom prst="roundRect">
            <a:avLst>
              <a:gd name="adj" fmla="val 5682"/>
            </a:avLst>
          </a:prstGeom>
          <a:solidFill>
            <a:srgbClr val="21262D"/>
          </a:solidFill>
          <a:ln w="15240">
            <a:solidFill>
              <a:srgbClr val="30363D"/>
            </a:solidFill>
            <a:prstDash val="solid"/>
          </a:ln>
        </p:spPr>
        <p:txBody>
          <a:bodyPr/>
          <a:lstStyle/>
          <a:p>
            <a:endParaRPr lang="en-US"/>
          </a:p>
        </p:txBody>
      </p:sp>
      <p:sp>
        <p:nvSpPr>
          <p:cNvPr id="9" name="Text 6"/>
          <p:cNvSpPr/>
          <p:nvPr/>
        </p:nvSpPr>
        <p:spPr>
          <a:xfrm>
            <a:off x="768096" y="3072384"/>
            <a:ext cx="1761134"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Choose</a:t>
            </a:r>
            <a:endParaRPr lang="en-US" sz="1300" dirty="0"/>
          </a:p>
        </p:txBody>
      </p:sp>
      <p:sp>
        <p:nvSpPr>
          <p:cNvPr id="10" name="Text 7"/>
          <p:cNvSpPr/>
          <p:nvPr/>
        </p:nvSpPr>
        <p:spPr>
          <a:xfrm>
            <a:off x="731520" y="3383280"/>
            <a:ext cx="1834286" cy="146304"/>
          </a:xfrm>
          <a:prstGeom prst="rect">
            <a:avLst/>
          </a:prstGeom>
          <a:noFill/>
          <a:ln/>
        </p:spPr>
        <p:txBody>
          <a:bodyPr wrap="square" lIns="0" tIns="0" rIns="0" bIns="0" rtlCol="0" anchor="ctr"/>
          <a:lstStyle/>
          <a:p>
            <a:pPr marL="0" indent="0" algn="ctr">
              <a:buNone/>
            </a:pPr>
            <a:r>
              <a:rPr lang="en-US" sz="1000" dirty="0">
                <a:solidFill>
                  <a:srgbClr val="B1BAC4"/>
                </a:solidFill>
                <a:latin typeface="Aptos" pitchFamily="34" charset="0"/>
                <a:ea typeface="Aptos" pitchFamily="34" charset="-122"/>
                <a:cs typeface="Aptos" pitchFamily="34" charset="-120"/>
              </a:rPr>
              <a:t>valid comment</a:t>
            </a:r>
            <a:endParaRPr lang="en-US" sz="1000" dirty="0"/>
          </a:p>
        </p:txBody>
      </p:sp>
      <p:sp>
        <p:nvSpPr>
          <p:cNvPr id="11" name="Shape 8"/>
          <p:cNvSpPr/>
          <p:nvPr/>
        </p:nvSpPr>
        <p:spPr>
          <a:xfrm>
            <a:off x="2693822" y="3328416"/>
            <a:ext cx="128016" cy="0"/>
          </a:xfrm>
          <a:prstGeom prst="line">
            <a:avLst/>
          </a:prstGeom>
          <a:noFill/>
          <a:ln w="19050">
            <a:solidFill>
              <a:srgbClr val="8250DF"/>
            </a:solidFill>
            <a:prstDash val="solid"/>
            <a:tailEnd type="triangle"/>
          </a:ln>
        </p:spPr>
        <p:txBody>
          <a:bodyPr/>
          <a:lstStyle/>
          <a:p>
            <a:endParaRPr lang="en-US"/>
          </a:p>
        </p:txBody>
      </p:sp>
      <p:sp>
        <p:nvSpPr>
          <p:cNvPr id="12" name="Shape 9"/>
          <p:cNvSpPr/>
          <p:nvPr/>
        </p:nvSpPr>
        <p:spPr>
          <a:xfrm>
            <a:off x="2840126" y="2926080"/>
            <a:ext cx="2053742" cy="804672"/>
          </a:xfrm>
          <a:prstGeom prst="roundRect">
            <a:avLst>
              <a:gd name="adj" fmla="val 5682"/>
            </a:avLst>
          </a:prstGeom>
          <a:solidFill>
            <a:srgbClr val="21262D"/>
          </a:solidFill>
          <a:ln w="15240">
            <a:solidFill>
              <a:srgbClr val="30363D"/>
            </a:solidFill>
            <a:prstDash val="solid"/>
          </a:ln>
        </p:spPr>
        <p:txBody>
          <a:bodyPr/>
          <a:lstStyle/>
          <a:p>
            <a:endParaRPr lang="en-US"/>
          </a:p>
        </p:txBody>
      </p:sp>
      <p:sp>
        <p:nvSpPr>
          <p:cNvPr id="13" name="Text 10"/>
          <p:cNvSpPr/>
          <p:nvPr/>
        </p:nvSpPr>
        <p:spPr>
          <a:xfrm>
            <a:off x="2986430" y="3072384"/>
            <a:ext cx="1761134"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Fix</a:t>
            </a:r>
            <a:endParaRPr lang="en-US" sz="1300" dirty="0"/>
          </a:p>
        </p:txBody>
      </p:sp>
      <p:sp>
        <p:nvSpPr>
          <p:cNvPr id="14" name="Text 11"/>
          <p:cNvSpPr/>
          <p:nvPr/>
        </p:nvSpPr>
        <p:spPr>
          <a:xfrm>
            <a:off x="2949854" y="3383280"/>
            <a:ext cx="1834286" cy="146304"/>
          </a:xfrm>
          <a:prstGeom prst="rect">
            <a:avLst/>
          </a:prstGeom>
          <a:noFill/>
          <a:ln/>
        </p:spPr>
        <p:txBody>
          <a:bodyPr wrap="square" lIns="0" tIns="0" rIns="0" bIns="0" rtlCol="0" anchor="ctr"/>
          <a:lstStyle/>
          <a:p>
            <a:pPr marL="0" indent="0" algn="ctr">
              <a:buNone/>
            </a:pPr>
            <a:r>
              <a:rPr lang="en-US" sz="1000" dirty="0">
                <a:solidFill>
                  <a:srgbClr val="B1BAC4"/>
                </a:solidFill>
                <a:latin typeface="Aptos" pitchFamily="34" charset="0"/>
                <a:ea typeface="Aptos" pitchFamily="34" charset="-122"/>
                <a:cs typeface="Aptos" pitchFamily="34" charset="-120"/>
              </a:rPr>
              <a:t>edit in VS Code</a:t>
            </a:r>
            <a:endParaRPr lang="en-US" sz="1000" dirty="0"/>
          </a:p>
        </p:txBody>
      </p:sp>
      <p:sp>
        <p:nvSpPr>
          <p:cNvPr id="15" name="Shape 12"/>
          <p:cNvSpPr/>
          <p:nvPr/>
        </p:nvSpPr>
        <p:spPr>
          <a:xfrm>
            <a:off x="4912157" y="3328416"/>
            <a:ext cx="128016" cy="0"/>
          </a:xfrm>
          <a:prstGeom prst="line">
            <a:avLst/>
          </a:prstGeom>
          <a:noFill/>
          <a:ln w="19050">
            <a:solidFill>
              <a:srgbClr val="8250DF"/>
            </a:solidFill>
            <a:prstDash val="solid"/>
            <a:tailEnd type="triangle"/>
          </a:ln>
        </p:spPr>
        <p:txBody>
          <a:bodyPr/>
          <a:lstStyle/>
          <a:p>
            <a:endParaRPr lang="en-US"/>
          </a:p>
        </p:txBody>
      </p:sp>
      <p:sp>
        <p:nvSpPr>
          <p:cNvPr id="16" name="Shape 13"/>
          <p:cNvSpPr/>
          <p:nvPr/>
        </p:nvSpPr>
        <p:spPr>
          <a:xfrm>
            <a:off x="5058461" y="2926080"/>
            <a:ext cx="2053742" cy="804672"/>
          </a:xfrm>
          <a:prstGeom prst="roundRect">
            <a:avLst>
              <a:gd name="adj" fmla="val 5682"/>
            </a:avLst>
          </a:prstGeom>
          <a:solidFill>
            <a:srgbClr val="21262D"/>
          </a:solidFill>
          <a:ln w="15240">
            <a:solidFill>
              <a:srgbClr val="30363D"/>
            </a:solidFill>
            <a:prstDash val="solid"/>
          </a:ln>
        </p:spPr>
        <p:txBody>
          <a:bodyPr/>
          <a:lstStyle/>
          <a:p>
            <a:endParaRPr lang="en-US"/>
          </a:p>
        </p:txBody>
      </p:sp>
      <p:sp>
        <p:nvSpPr>
          <p:cNvPr id="17" name="Text 14"/>
          <p:cNvSpPr/>
          <p:nvPr/>
        </p:nvSpPr>
        <p:spPr>
          <a:xfrm>
            <a:off x="5204765" y="3072384"/>
            <a:ext cx="1761134"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Inspect</a:t>
            </a:r>
            <a:endParaRPr lang="en-US" sz="1300" dirty="0"/>
          </a:p>
        </p:txBody>
      </p:sp>
      <p:sp>
        <p:nvSpPr>
          <p:cNvPr id="18" name="Text 15"/>
          <p:cNvSpPr/>
          <p:nvPr/>
        </p:nvSpPr>
        <p:spPr>
          <a:xfrm>
            <a:off x="5168189" y="3383280"/>
            <a:ext cx="1834286" cy="146304"/>
          </a:xfrm>
          <a:prstGeom prst="rect">
            <a:avLst/>
          </a:prstGeom>
          <a:noFill/>
          <a:ln/>
        </p:spPr>
        <p:txBody>
          <a:bodyPr wrap="square" lIns="0" tIns="0" rIns="0" bIns="0" rtlCol="0" anchor="ctr"/>
          <a:lstStyle/>
          <a:p>
            <a:pPr marL="0" indent="0" algn="ctr">
              <a:buNone/>
            </a:pPr>
            <a:r>
              <a:rPr lang="en-US" sz="1000" dirty="0">
                <a:solidFill>
                  <a:srgbClr val="B1BAC4"/>
                </a:solidFill>
                <a:latin typeface="Aptos" pitchFamily="34" charset="0"/>
                <a:ea typeface="Aptos" pitchFamily="34" charset="-122"/>
                <a:cs typeface="Aptos" pitchFamily="34" charset="-120"/>
              </a:rPr>
              <a:t>new diff</a:t>
            </a:r>
            <a:endParaRPr lang="en-US" sz="1000" dirty="0"/>
          </a:p>
        </p:txBody>
      </p:sp>
      <p:sp>
        <p:nvSpPr>
          <p:cNvPr id="19" name="Shape 16"/>
          <p:cNvSpPr/>
          <p:nvPr/>
        </p:nvSpPr>
        <p:spPr>
          <a:xfrm>
            <a:off x="7130491" y="3328416"/>
            <a:ext cx="128016" cy="0"/>
          </a:xfrm>
          <a:prstGeom prst="line">
            <a:avLst/>
          </a:prstGeom>
          <a:noFill/>
          <a:ln w="19050">
            <a:solidFill>
              <a:srgbClr val="8250DF"/>
            </a:solidFill>
            <a:prstDash val="solid"/>
            <a:tailEnd type="triangle"/>
          </a:ln>
        </p:spPr>
        <p:txBody>
          <a:bodyPr/>
          <a:lstStyle/>
          <a:p>
            <a:endParaRPr lang="en-US"/>
          </a:p>
        </p:txBody>
      </p:sp>
      <p:sp>
        <p:nvSpPr>
          <p:cNvPr id="20" name="Shape 17"/>
          <p:cNvSpPr/>
          <p:nvPr/>
        </p:nvSpPr>
        <p:spPr>
          <a:xfrm>
            <a:off x="7276795" y="2926080"/>
            <a:ext cx="2053742" cy="804672"/>
          </a:xfrm>
          <a:prstGeom prst="roundRect">
            <a:avLst>
              <a:gd name="adj" fmla="val 5682"/>
            </a:avLst>
          </a:prstGeom>
          <a:solidFill>
            <a:srgbClr val="21262D"/>
          </a:solidFill>
          <a:ln w="15240">
            <a:solidFill>
              <a:srgbClr val="30363D"/>
            </a:solidFill>
            <a:prstDash val="solid"/>
          </a:ln>
        </p:spPr>
        <p:txBody>
          <a:bodyPr/>
          <a:lstStyle/>
          <a:p>
            <a:endParaRPr lang="en-US"/>
          </a:p>
        </p:txBody>
      </p:sp>
      <p:sp>
        <p:nvSpPr>
          <p:cNvPr id="21" name="Text 18"/>
          <p:cNvSpPr/>
          <p:nvPr/>
        </p:nvSpPr>
        <p:spPr>
          <a:xfrm>
            <a:off x="7423099" y="3072384"/>
            <a:ext cx="1761134"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Check</a:t>
            </a:r>
            <a:endParaRPr lang="en-US" sz="1300" dirty="0"/>
          </a:p>
        </p:txBody>
      </p:sp>
      <p:sp>
        <p:nvSpPr>
          <p:cNvPr id="22" name="Text 19"/>
          <p:cNvSpPr/>
          <p:nvPr/>
        </p:nvSpPr>
        <p:spPr>
          <a:xfrm>
            <a:off x="7386523" y="3383280"/>
            <a:ext cx="1834286" cy="146304"/>
          </a:xfrm>
          <a:prstGeom prst="rect">
            <a:avLst/>
          </a:prstGeom>
          <a:noFill/>
          <a:ln/>
        </p:spPr>
        <p:txBody>
          <a:bodyPr wrap="square" lIns="0" tIns="0" rIns="0" bIns="0" rtlCol="0" anchor="ctr"/>
          <a:lstStyle/>
          <a:p>
            <a:pPr marL="0" indent="0" algn="ctr">
              <a:buNone/>
            </a:pPr>
            <a:r>
              <a:rPr lang="en-US" sz="1000" dirty="0">
                <a:solidFill>
                  <a:srgbClr val="B1BAC4"/>
                </a:solidFill>
                <a:latin typeface="Aptos" pitchFamily="34" charset="0"/>
                <a:ea typeface="Aptos" pitchFamily="34" charset="-122"/>
                <a:cs typeface="Aptos" pitchFamily="34" charset="-120"/>
              </a:rPr>
              <a:t>rerun checks</a:t>
            </a:r>
            <a:endParaRPr lang="en-US" sz="1000" dirty="0"/>
          </a:p>
        </p:txBody>
      </p:sp>
      <p:sp>
        <p:nvSpPr>
          <p:cNvPr id="23" name="Shape 20"/>
          <p:cNvSpPr/>
          <p:nvPr/>
        </p:nvSpPr>
        <p:spPr>
          <a:xfrm>
            <a:off x="9348826" y="3328416"/>
            <a:ext cx="128016" cy="0"/>
          </a:xfrm>
          <a:prstGeom prst="line">
            <a:avLst/>
          </a:prstGeom>
          <a:noFill/>
          <a:ln w="19050">
            <a:solidFill>
              <a:srgbClr val="8250DF"/>
            </a:solidFill>
            <a:prstDash val="solid"/>
            <a:tailEnd type="triangle"/>
          </a:ln>
        </p:spPr>
        <p:txBody>
          <a:bodyPr/>
          <a:lstStyle/>
          <a:p>
            <a:endParaRPr lang="en-US"/>
          </a:p>
        </p:txBody>
      </p:sp>
      <p:sp>
        <p:nvSpPr>
          <p:cNvPr id="24" name="Shape 21"/>
          <p:cNvSpPr/>
          <p:nvPr/>
        </p:nvSpPr>
        <p:spPr>
          <a:xfrm>
            <a:off x="9495130" y="2926080"/>
            <a:ext cx="2053742" cy="804672"/>
          </a:xfrm>
          <a:prstGeom prst="roundRect">
            <a:avLst>
              <a:gd name="adj" fmla="val 5682"/>
            </a:avLst>
          </a:prstGeom>
          <a:solidFill>
            <a:srgbClr val="21262D"/>
          </a:solidFill>
          <a:ln w="15240">
            <a:solidFill>
              <a:srgbClr val="8250DF"/>
            </a:solidFill>
            <a:prstDash val="solid"/>
          </a:ln>
        </p:spPr>
        <p:txBody>
          <a:bodyPr/>
          <a:lstStyle/>
          <a:p>
            <a:endParaRPr lang="en-US"/>
          </a:p>
        </p:txBody>
      </p:sp>
      <p:sp>
        <p:nvSpPr>
          <p:cNvPr id="25" name="Text 22"/>
          <p:cNvSpPr/>
          <p:nvPr/>
        </p:nvSpPr>
        <p:spPr>
          <a:xfrm>
            <a:off x="9641434" y="3072384"/>
            <a:ext cx="1761134"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Review</a:t>
            </a:r>
            <a:endParaRPr lang="en-US" sz="1300" dirty="0"/>
          </a:p>
        </p:txBody>
      </p:sp>
      <p:sp>
        <p:nvSpPr>
          <p:cNvPr id="26" name="Text 23"/>
          <p:cNvSpPr/>
          <p:nvPr/>
        </p:nvSpPr>
        <p:spPr>
          <a:xfrm>
            <a:off x="9604858" y="3383280"/>
            <a:ext cx="1834286" cy="146304"/>
          </a:xfrm>
          <a:prstGeom prst="rect">
            <a:avLst/>
          </a:prstGeom>
          <a:noFill/>
          <a:ln/>
        </p:spPr>
        <p:txBody>
          <a:bodyPr wrap="square" lIns="0" tIns="0" rIns="0" bIns="0" rtlCol="0" anchor="ctr"/>
          <a:lstStyle/>
          <a:p>
            <a:pPr marL="0" indent="0" algn="ctr">
              <a:buNone/>
            </a:pPr>
            <a:r>
              <a:rPr lang="en-US" sz="1000" dirty="0">
                <a:solidFill>
                  <a:srgbClr val="B1BAC4"/>
                </a:solidFill>
                <a:latin typeface="Aptos" pitchFamily="34" charset="0"/>
                <a:ea typeface="Aptos" pitchFamily="34" charset="-122"/>
                <a:cs typeface="Aptos" pitchFamily="34" charset="-120"/>
              </a:rPr>
              <a:t>human decision</a:t>
            </a:r>
            <a:endParaRPr lang="en-US" sz="1000" dirty="0"/>
          </a:p>
        </p:txBody>
      </p:sp>
      <p:sp>
        <p:nvSpPr>
          <p:cNvPr id="27" name="Text 24"/>
          <p:cNvSpPr/>
          <p:nvPr/>
        </p:nvSpPr>
        <p:spPr>
          <a:xfrm>
            <a:off x="1828800" y="4709160"/>
            <a:ext cx="8503920" cy="530352"/>
          </a:xfrm>
          <a:prstGeom prst="rect">
            <a:avLst/>
          </a:prstGeom>
          <a:noFill/>
          <a:ln/>
        </p:spPr>
        <p:txBody>
          <a:bodyPr wrap="square" lIns="0" tIns="0" rIns="0" bIns="0" rtlCol="0" anchor="ctr"/>
          <a:lstStyle/>
          <a:p>
            <a:pPr marL="0" indent="0" algn="ctr">
              <a:buNone/>
            </a:pPr>
            <a:r>
              <a:rPr lang="en-US" sz="2200" b="1" dirty="0">
                <a:solidFill>
                  <a:srgbClr val="B1BAC4"/>
                </a:solidFill>
                <a:latin typeface="Aptos Display" pitchFamily="34" charset="0"/>
                <a:ea typeface="Aptos Display" pitchFamily="34" charset="-122"/>
                <a:cs typeface="Aptos Display" pitchFamily="34" charset="-120"/>
              </a:rPr>
              <a:t>A review comment creates another change cycle—not an automatic answer.</a:t>
            </a:r>
            <a:endParaRPr lang="en-US" sz="2200" dirty="0"/>
          </a:p>
        </p:txBody>
      </p:sp>
      <p:sp>
        <p:nvSpPr>
          <p:cNvPr id="28" name="Text 25"/>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Copilot for Data Scientists | Gilead DSS</a:t>
            </a:r>
            <a:endParaRPr lang="en-US" sz="800" dirty="0"/>
          </a:p>
        </p:txBody>
      </p:sp>
      <p:sp>
        <p:nvSpPr>
          <p:cNvPr id="29" name="Text 26">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RECORD THE DECISION</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The final checkpoint is human</a:t>
            </a:r>
            <a:endParaRPr lang="en-US" sz="3100" dirty="0"/>
          </a:p>
        </p:txBody>
      </p:sp>
      <p:sp>
        <p:nvSpPr>
          <p:cNvPr id="7" name="Shape 4"/>
          <p:cNvSpPr/>
          <p:nvPr/>
        </p:nvSpPr>
        <p:spPr>
          <a:xfrm>
            <a:off x="1901952" y="3063240"/>
            <a:ext cx="8366760" cy="0"/>
          </a:xfrm>
          <a:prstGeom prst="line">
            <a:avLst/>
          </a:prstGeom>
          <a:noFill/>
          <a:ln w="50800">
            <a:solidFill>
              <a:srgbClr val="D0D7DE"/>
            </a:solidFill>
            <a:prstDash val="solid"/>
          </a:ln>
        </p:spPr>
        <p:txBody>
          <a:bodyPr/>
          <a:lstStyle/>
          <a:p>
            <a:endParaRPr lang="en-US"/>
          </a:p>
        </p:txBody>
      </p:sp>
      <p:sp>
        <p:nvSpPr>
          <p:cNvPr id="8" name="Shape 5"/>
          <p:cNvSpPr/>
          <p:nvPr/>
        </p:nvSpPr>
        <p:spPr>
          <a:xfrm>
            <a:off x="1572768" y="2651760"/>
            <a:ext cx="841248" cy="841248"/>
          </a:xfrm>
          <a:prstGeom prst="ellipse">
            <a:avLst/>
          </a:prstGeom>
          <a:solidFill>
            <a:srgbClr val="1A7F37"/>
          </a:solidFill>
          <a:ln w="19050">
            <a:solidFill>
              <a:srgbClr val="FFFFFF"/>
            </a:solidFill>
            <a:prstDash val="solid"/>
          </a:ln>
        </p:spPr>
        <p:txBody>
          <a:bodyPr/>
          <a:lstStyle/>
          <a:p>
            <a:endParaRPr lang="en-US"/>
          </a:p>
        </p:txBody>
      </p:sp>
      <p:sp>
        <p:nvSpPr>
          <p:cNvPr id="9" name="Text 6"/>
          <p:cNvSpPr/>
          <p:nvPr/>
        </p:nvSpPr>
        <p:spPr>
          <a:xfrm>
            <a:off x="1572768" y="2916936"/>
            <a:ext cx="841248" cy="164592"/>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1</a:t>
            </a:r>
            <a:endParaRPr lang="en-US" sz="1500" dirty="0"/>
          </a:p>
        </p:txBody>
      </p:sp>
      <p:sp>
        <p:nvSpPr>
          <p:cNvPr id="10" name="Text 7"/>
          <p:cNvSpPr/>
          <p:nvPr/>
        </p:nvSpPr>
        <p:spPr>
          <a:xfrm>
            <a:off x="1069848" y="2029968"/>
            <a:ext cx="2331720" cy="502920"/>
          </a:xfrm>
          <a:prstGeom prst="rect">
            <a:avLst/>
          </a:prstGeom>
          <a:noFill/>
          <a:ln/>
        </p:spPr>
        <p:txBody>
          <a:bodyPr wrap="square" lIns="0" tIns="0" rIns="0" bIns="0" rtlCol="0" anchor="ctr"/>
          <a:lstStyle/>
          <a:p>
            <a:pPr marL="0" indent="0" algn="ctr">
              <a:buNone/>
            </a:pPr>
            <a:r>
              <a:rPr lang="en-US" sz="1800" b="1" dirty="0">
                <a:solidFill>
                  <a:srgbClr val="1A7F37"/>
                </a:solidFill>
                <a:latin typeface="Aptos Display" pitchFamily="34" charset="0"/>
                <a:ea typeface="Aptos Display" pitchFamily="34" charset="-122"/>
                <a:cs typeface="Aptos Display" pitchFamily="34" charset="-120"/>
              </a:rPr>
              <a:t>Ready for further validation</a:t>
            </a:r>
            <a:endParaRPr lang="en-US" sz="1800" dirty="0"/>
          </a:p>
        </p:txBody>
      </p:sp>
      <p:sp>
        <p:nvSpPr>
          <p:cNvPr id="11" name="Text 8"/>
          <p:cNvSpPr/>
          <p:nvPr/>
        </p:nvSpPr>
        <p:spPr>
          <a:xfrm>
            <a:off x="795528" y="3822192"/>
            <a:ext cx="2880360" cy="777240"/>
          </a:xfrm>
          <a:prstGeom prst="rect">
            <a:avLst/>
          </a:prstGeom>
          <a:noFill/>
          <a:ln/>
        </p:spPr>
        <p:txBody>
          <a:bodyPr wrap="square" lIns="0" tIns="0" rIns="0" bIns="0" rtlCol="0" anchor="ctr"/>
          <a:lstStyle/>
          <a:p>
            <a:pPr marL="0" indent="0" algn="ctr">
              <a:buNone/>
            </a:pPr>
            <a:r>
              <a:rPr lang="en-US" sz="1350" dirty="0">
                <a:solidFill>
                  <a:srgbClr val="0D1117"/>
                </a:solidFill>
                <a:latin typeface="Aptos" pitchFamily="34" charset="0"/>
                <a:ea typeface="Aptos" pitchFamily="34" charset="-122"/>
                <a:cs typeface="Aptos" pitchFamily="34" charset="-120"/>
              </a:rPr>
              <a:t>Appropriately scoped and supported by the available evidence.</a:t>
            </a:r>
            <a:endParaRPr lang="en-US" sz="1350" dirty="0"/>
          </a:p>
        </p:txBody>
      </p:sp>
      <p:sp>
        <p:nvSpPr>
          <p:cNvPr id="12" name="Shape 9"/>
          <p:cNvSpPr/>
          <p:nvPr/>
        </p:nvSpPr>
        <p:spPr>
          <a:xfrm>
            <a:off x="5385816" y="2651760"/>
            <a:ext cx="841248" cy="841248"/>
          </a:xfrm>
          <a:prstGeom prst="ellipse">
            <a:avLst/>
          </a:prstGeom>
          <a:solidFill>
            <a:srgbClr val="9A6700"/>
          </a:solidFill>
          <a:ln w="19050">
            <a:solidFill>
              <a:srgbClr val="FFFFFF"/>
            </a:solidFill>
            <a:prstDash val="solid"/>
          </a:ln>
        </p:spPr>
        <p:txBody>
          <a:bodyPr/>
          <a:lstStyle/>
          <a:p>
            <a:endParaRPr lang="en-US"/>
          </a:p>
        </p:txBody>
      </p:sp>
      <p:sp>
        <p:nvSpPr>
          <p:cNvPr id="13" name="Text 10"/>
          <p:cNvSpPr/>
          <p:nvPr/>
        </p:nvSpPr>
        <p:spPr>
          <a:xfrm>
            <a:off x="5385816" y="2916936"/>
            <a:ext cx="841248" cy="164592"/>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2</a:t>
            </a:r>
            <a:endParaRPr lang="en-US" sz="1500" dirty="0"/>
          </a:p>
        </p:txBody>
      </p:sp>
      <p:sp>
        <p:nvSpPr>
          <p:cNvPr id="14" name="Text 11"/>
          <p:cNvSpPr/>
          <p:nvPr/>
        </p:nvSpPr>
        <p:spPr>
          <a:xfrm>
            <a:off x="4882896" y="2029968"/>
            <a:ext cx="2331720" cy="502920"/>
          </a:xfrm>
          <a:prstGeom prst="rect">
            <a:avLst/>
          </a:prstGeom>
          <a:noFill/>
          <a:ln/>
        </p:spPr>
        <p:txBody>
          <a:bodyPr wrap="square" lIns="0" tIns="0" rIns="0" bIns="0" rtlCol="0" anchor="ctr"/>
          <a:lstStyle/>
          <a:p>
            <a:pPr marL="0" indent="0" algn="ctr">
              <a:buNone/>
            </a:pPr>
            <a:r>
              <a:rPr lang="en-US" sz="1800" b="1" dirty="0">
                <a:solidFill>
                  <a:srgbClr val="9A6700"/>
                </a:solidFill>
                <a:latin typeface="Aptos Display" pitchFamily="34" charset="0"/>
                <a:ea typeface="Aptos Display" pitchFamily="34" charset="-122"/>
                <a:cs typeface="Aptos Display" pitchFamily="34" charset="-120"/>
              </a:rPr>
              <a:t>Request changes</a:t>
            </a:r>
            <a:endParaRPr lang="en-US" sz="1800" dirty="0"/>
          </a:p>
        </p:txBody>
      </p:sp>
      <p:sp>
        <p:nvSpPr>
          <p:cNvPr id="15" name="Text 12"/>
          <p:cNvSpPr/>
          <p:nvPr/>
        </p:nvSpPr>
        <p:spPr>
          <a:xfrm>
            <a:off x="4608576" y="3822192"/>
            <a:ext cx="2880360" cy="777240"/>
          </a:xfrm>
          <a:prstGeom prst="rect">
            <a:avLst/>
          </a:prstGeom>
          <a:noFill/>
          <a:ln/>
        </p:spPr>
        <p:txBody>
          <a:bodyPr wrap="square" lIns="0" tIns="0" rIns="0" bIns="0" rtlCol="0" anchor="ctr"/>
          <a:lstStyle/>
          <a:p>
            <a:pPr marL="0" indent="0" algn="ctr">
              <a:buNone/>
            </a:pPr>
            <a:r>
              <a:rPr lang="en-US" sz="1350" dirty="0">
                <a:solidFill>
                  <a:srgbClr val="0D1117"/>
                </a:solidFill>
                <a:latin typeface="Aptos" pitchFamily="34" charset="0"/>
                <a:ea typeface="Aptos" pitchFamily="34" charset="-122"/>
                <a:cs typeface="Aptos" pitchFamily="34" charset="-120"/>
              </a:rPr>
              <a:t>Incomplete, too broad, or based on an unsupported assumption.</a:t>
            </a:r>
            <a:endParaRPr lang="en-US" sz="1350" dirty="0"/>
          </a:p>
        </p:txBody>
      </p:sp>
      <p:sp>
        <p:nvSpPr>
          <p:cNvPr id="16" name="Shape 13"/>
          <p:cNvSpPr/>
          <p:nvPr/>
        </p:nvSpPr>
        <p:spPr>
          <a:xfrm>
            <a:off x="9198864" y="2651760"/>
            <a:ext cx="841248" cy="841248"/>
          </a:xfrm>
          <a:prstGeom prst="ellipse">
            <a:avLst/>
          </a:prstGeom>
          <a:solidFill>
            <a:srgbClr val="CF222E"/>
          </a:solidFill>
          <a:ln w="19050">
            <a:solidFill>
              <a:srgbClr val="FFFFFF"/>
            </a:solidFill>
            <a:prstDash val="solid"/>
          </a:ln>
        </p:spPr>
        <p:txBody>
          <a:bodyPr/>
          <a:lstStyle/>
          <a:p>
            <a:endParaRPr lang="en-US"/>
          </a:p>
        </p:txBody>
      </p:sp>
      <p:sp>
        <p:nvSpPr>
          <p:cNvPr id="17" name="Text 14"/>
          <p:cNvSpPr/>
          <p:nvPr/>
        </p:nvSpPr>
        <p:spPr>
          <a:xfrm>
            <a:off x="9198864" y="2916936"/>
            <a:ext cx="841248" cy="164592"/>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3</a:t>
            </a:r>
            <a:endParaRPr lang="en-US" sz="1500" dirty="0"/>
          </a:p>
        </p:txBody>
      </p:sp>
      <p:sp>
        <p:nvSpPr>
          <p:cNvPr id="18" name="Text 15"/>
          <p:cNvSpPr/>
          <p:nvPr/>
        </p:nvSpPr>
        <p:spPr>
          <a:xfrm>
            <a:off x="8695944" y="2029968"/>
            <a:ext cx="2331720" cy="502920"/>
          </a:xfrm>
          <a:prstGeom prst="rect">
            <a:avLst/>
          </a:prstGeom>
          <a:noFill/>
          <a:ln/>
        </p:spPr>
        <p:txBody>
          <a:bodyPr wrap="square" lIns="0" tIns="0" rIns="0" bIns="0" rtlCol="0" anchor="ctr"/>
          <a:lstStyle/>
          <a:p>
            <a:pPr marL="0" indent="0" algn="ctr">
              <a:buNone/>
            </a:pPr>
            <a:r>
              <a:rPr lang="en-US" sz="1800" b="1" dirty="0">
                <a:solidFill>
                  <a:srgbClr val="CF222E"/>
                </a:solidFill>
                <a:latin typeface="Aptos Display" pitchFamily="34" charset="0"/>
                <a:ea typeface="Aptos Display" pitchFamily="34" charset="-122"/>
                <a:cs typeface="Aptos Display" pitchFamily="34" charset="-120"/>
              </a:rPr>
              <a:t>Reject</a:t>
            </a:r>
            <a:endParaRPr lang="en-US" sz="1800" dirty="0"/>
          </a:p>
        </p:txBody>
      </p:sp>
      <p:sp>
        <p:nvSpPr>
          <p:cNvPr id="19" name="Text 16"/>
          <p:cNvSpPr/>
          <p:nvPr/>
        </p:nvSpPr>
        <p:spPr>
          <a:xfrm>
            <a:off x="8421624" y="3822192"/>
            <a:ext cx="2880360" cy="777240"/>
          </a:xfrm>
          <a:prstGeom prst="rect">
            <a:avLst/>
          </a:prstGeom>
          <a:noFill/>
          <a:ln/>
        </p:spPr>
        <p:txBody>
          <a:bodyPr wrap="square" lIns="0" tIns="0" rIns="0" bIns="0" rtlCol="0" anchor="ctr"/>
          <a:lstStyle/>
          <a:p>
            <a:pPr marL="0" indent="0" algn="ctr">
              <a:buNone/>
            </a:pPr>
            <a:r>
              <a:rPr lang="en-US" sz="1350" dirty="0">
                <a:solidFill>
                  <a:srgbClr val="0D1117"/>
                </a:solidFill>
                <a:latin typeface="Aptos" pitchFamily="34" charset="0"/>
                <a:ea typeface="Aptos" pitchFamily="34" charset="-122"/>
                <a:cs typeface="Aptos" pitchFamily="34" charset="-120"/>
              </a:rPr>
              <a:t>Does not match the requirement or introduces unacceptable uncertainty.</a:t>
            </a:r>
            <a:endParaRPr lang="en-US" sz="1350" dirty="0"/>
          </a:p>
        </p:txBody>
      </p:sp>
      <p:sp>
        <p:nvSpPr>
          <p:cNvPr id="20" name="Shape 17"/>
          <p:cNvSpPr/>
          <p:nvPr/>
        </p:nvSpPr>
        <p:spPr>
          <a:xfrm>
            <a:off x="3127248" y="5349240"/>
            <a:ext cx="5943600" cy="310896"/>
          </a:xfrm>
          <a:prstGeom prst="roundRect">
            <a:avLst>
              <a:gd name="adj" fmla="val 23529"/>
            </a:avLst>
          </a:prstGeom>
          <a:solidFill>
            <a:srgbClr val="0D1117"/>
          </a:solidFill>
          <a:ln w="8890">
            <a:solidFill>
              <a:srgbClr val="0D1117"/>
            </a:solidFill>
            <a:prstDash val="solid"/>
          </a:ln>
        </p:spPr>
        <p:txBody>
          <a:bodyPr/>
          <a:lstStyle/>
          <a:p>
            <a:endParaRPr lang="en-US"/>
          </a:p>
        </p:txBody>
      </p:sp>
      <p:sp>
        <p:nvSpPr>
          <p:cNvPr id="21" name="Text 18"/>
          <p:cNvSpPr/>
          <p:nvPr/>
        </p:nvSpPr>
        <p:spPr>
          <a:xfrm>
            <a:off x="3218688" y="5445252"/>
            <a:ext cx="576072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DO NOT MERGE WORKSHOP PULL REQUESTS</a:t>
            </a:r>
            <a:endParaRPr lang="en-US" sz="850" dirty="0"/>
          </a:p>
        </p:txBody>
      </p:sp>
      <p:sp>
        <p:nvSpPr>
          <p:cNvPr id="22" name="Text 19"/>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23" name="Text 20">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8250DF"/>
                </a:solidFill>
                <a:latin typeface="Aptos" pitchFamily="34" charset="0"/>
                <a:ea typeface="Aptos" pitchFamily="34" charset="-122"/>
                <a:cs typeface="Aptos" pitchFamily="34" charset="-120"/>
              </a:rPr>
              <a:t>LEVERAGE WITH CONTROL</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Local Agent mode, end to end</a:t>
            </a:r>
            <a:endParaRPr lang="en-US" sz="3100" dirty="0"/>
          </a:p>
        </p:txBody>
      </p:sp>
      <p:sp>
        <p:nvSpPr>
          <p:cNvPr id="7" name="Shape 4"/>
          <p:cNvSpPr/>
          <p:nvPr/>
        </p:nvSpPr>
        <p:spPr>
          <a:xfrm>
            <a:off x="594360" y="2423160"/>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8" name="Text 5"/>
          <p:cNvSpPr/>
          <p:nvPr/>
        </p:nvSpPr>
        <p:spPr>
          <a:xfrm>
            <a:off x="740664" y="2569464"/>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Issue</a:t>
            </a:r>
            <a:endParaRPr lang="en-US" sz="1300" dirty="0"/>
          </a:p>
        </p:txBody>
      </p:sp>
      <p:sp>
        <p:nvSpPr>
          <p:cNvPr id="9" name="Text 6"/>
          <p:cNvSpPr/>
          <p:nvPr/>
        </p:nvSpPr>
        <p:spPr>
          <a:xfrm>
            <a:off x="704088" y="2880360"/>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bound intent</a:t>
            </a:r>
            <a:endParaRPr lang="en-US" sz="850" dirty="0"/>
          </a:p>
        </p:txBody>
      </p:sp>
      <p:sp>
        <p:nvSpPr>
          <p:cNvPr id="10" name="Shape 7"/>
          <p:cNvSpPr/>
          <p:nvPr/>
        </p:nvSpPr>
        <p:spPr>
          <a:xfrm>
            <a:off x="2311908" y="2825496"/>
            <a:ext cx="128016" cy="0"/>
          </a:xfrm>
          <a:prstGeom prst="line">
            <a:avLst/>
          </a:prstGeom>
          <a:noFill/>
          <a:ln w="19050">
            <a:solidFill>
              <a:srgbClr val="8250DF"/>
            </a:solidFill>
            <a:prstDash val="solid"/>
            <a:tailEnd type="triangle"/>
          </a:ln>
        </p:spPr>
        <p:txBody>
          <a:bodyPr/>
          <a:lstStyle/>
          <a:p>
            <a:endParaRPr lang="en-US"/>
          </a:p>
        </p:txBody>
      </p:sp>
      <p:sp>
        <p:nvSpPr>
          <p:cNvPr id="11" name="Shape 8"/>
          <p:cNvSpPr/>
          <p:nvPr/>
        </p:nvSpPr>
        <p:spPr>
          <a:xfrm>
            <a:off x="2458212" y="2423160"/>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2" name="Text 9"/>
          <p:cNvSpPr/>
          <p:nvPr/>
        </p:nvSpPr>
        <p:spPr>
          <a:xfrm>
            <a:off x="2604516" y="2569464"/>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Local plan</a:t>
            </a:r>
            <a:endParaRPr lang="en-US" sz="1300" dirty="0"/>
          </a:p>
        </p:txBody>
      </p:sp>
      <p:sp>
        <p:nvSpPr>
          <p:cNvPr id="13" name="Text 10"/>
          <p:cNvSpPr/>
          <p:nvPr/>
        </p:nvSpPr>
        <p:spPr>
          <a:xfrm>
            <a:off x="2567940" y="2880360"/>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review scope</a:t>
            </a:r>
            <a:endParaRPr lang="en-US" sz="850" dirty="0"/>
          </a:p>
        </p:txBody>
      </p:sp>
      <p:sp>
        <p:nvSpPr>
          <p:cNvPr id="14" name="Shape 11"/>
          <p:cNvSpPr/>
          <p:nvPr/>
        </p:nvSpPr>
        <p:spPr>
          <a:xfrm>
            <a:off x="4175760" y="2825496"/>
            <a:ext cx="128016" cy="0"/>
          </a:xfrm>
          <a:prstGeom prst="line">
            <a:avLst/>
          </a:prstGeom>
          <a:noFill/>
          <a:ln w="19050">
            <a:solidFill>
              <a:srgbClr val="8250DF"/>
            </a:solidFill>
            <a:prstDash val="solid"/>
            <a:tailEnd type="triangle"/>
          </a:ln>
        </p:spPr>
        <p:txBody>
          <a:bodyPr/>
          <a:lstStyle/>
          <a:p>
            <a:endParaRPr lang="en-US"/>
          </a:p>
        </p:txBody>
      </p:sp>
      <p:sp>
        <p:nvSpPr>
          <p:cNvPr id="15" name="Shape 12"/>
          <p:cNvSpPr/>
          <p:nvPr/>
        </p:nvSpPr>
        <p:spPr>
          <a:xfrm>
            <a:off x="4322064" y="2423160"/>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6" name="Text 13"/>
          <p:cNvSpPr/>
          <p:nvPr/>
        </p:nvSpPr>
        <p:spPr>
          <a:xfrm>
            <a:off x="4468368" y="2569464"/>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Branch</a:t>
            </a:r>
            <a:endParaRPr lang="en-US" sz="1300" dirty="0"/>
          </a:p>
        </p:txBody>
      </p:sp>
      <p:sp>
        <p:nvSpPr>
          <p:cNvPr id="17" name="Text 14"/>
          <p:cNvSpPr/>
          <p:nvPr/>
        </p:nvSpPr>
        <p:spPr>
          <a:xfrm>
            <a:off x="4431792" y="2880360"/>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local edits</a:t>
            </a:r>
            <a:endParaRPr lang="en-US" sz="850" dirty="0"/>
          </a:p>
        </p:txBody>
      </p:sp>
      <p:sp>
        <p:nvSpPr>
          <p:cNvPr id="18" name="Shape 15"/>
          <p:cNvSpPr/>
          <p:nvPr/>
        </p:nvSpPr>
        <p:spPr>
          <a:xfrm>
            <a:off x="6039612" y="2825496"/>
            <a:ext cx="128016" cy="0"/>
          </a:xfrm>
          <a:prstGeom prst="line">
            <a:avLst/>
          </a:prstGeom>
          <a:noFill/>
          <a:ln w="19050">
            <a:solidFill>
              <a:srgbClr val="8250DF"/>
            </a:solidFill>
            <a:prstDash val="solid"/>
            <a:tailEnd type="triangle"/>
          </a:ln>
        </p:spPr>
        <p:txBody>
          <a:bodyPr/>
          <a:lstStyle/>
          <a:p>
            <a:endParaRPr lang="en-US"/>
          </a:p>
        </p:txBody>
      </p:sp>
      <p:sp>
        <p:nvSpPr>
          <p:cNvPr id="19" name="Shape 16"/>
          <p:cNvSpPr/>
          <p:nvPr/>
        </p:nvSpPr>
        <p:spPr>
          <a:xfrm>
            <a:off x="6185916" y="2423160"/>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0" name="Text 17"/>
          <p:cNvSpPr/>
          <p:nvPr/>
        </p:nvSpPr>
        <p:spPr>
          <a:xfrm>
            <a:off x="6332220" y="2569464"/>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Pull request</a:t>
            </a:r>
            <a:endParaRPr lang="en-US" sz="1300" dirty="0"/>
          </a:p>
        </p:txBody>
      </p:sp>
      <p:sp>
        <p:nvSpPr>
          <p:cNvPr id="21" name="Text 18"/>
          <p:cNvSpPr/>
          <p:nvPr/>
        </p:nvSpPr>
        <p:spPr>
          <a:xfrm>
            <a:off x="6295644" y="2880360"/>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evidence</a:t>
            </a:r>
            <a:endParaRPr lang="en-US" sz="850" dirty="0"/>
          </a:p>
        </p:txBody>
      </p:sp>
      <p:sp>
        <p:nvSpPr>
          <p:cNvPr id="22" name="Shape 19"/>
          <p:cNvSpPr/>
          <p:nvPr/>
        </p:nvSpPr>
        <p:spPr>
          <a:xfrm>
            <a:off x="7903464" y="2825496"/>
            <a:ext cx="128016" cy="0"/>
          </a:xfrm>
          <a:prstGeom prst="line">
            <a:avLst/>
          </a:prstGeom>
          <a:noFill/>
          <a:ln w="19050">
            <a:solidFill>
              <a:srgbClr val="8250DF"/>
            </a:solidFill>
            <a:prstDash val="solid"/>
            <a:tailEnd type="triangle"/>
          </a:ln>
        </p:spPr>
        <p:txBody>
          <a:bodyPr/>
          <a:lstStyle/>
          <a:p>
            <a:endParaRPr lang="en-US"/>
          </a:p>
        </p:txBody>
      </p:sp>
      <p:sp>
        <p:nvSpPr>
          <p:cNvPr id="23" name="Shape 20"/>
          <p:cNvSpPr/>
          <p:nvPr/>
        </p:nvSpPr>
        <p:spPr>
          <a:xfrm>
            <a:off x="8049768" y="2423160"/>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4" name="Text 21"/>
          <p:cNvSpPr/>
          <p:nvPr/>
        </p:nvSpPr>
        <p:spPr>
          <a:xfrm>
            <a:off x="8196072" y="2569464"/>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AI review</a:t>
            </a:r>
            <a:endParaRPr lang="en-US" sz="1300" dirty="0"/>
          </a:p>
        </p:txBody>
      </p:sp>
      <p:sp>
        <p:nvSpPr>
          <p:cNvPr id="25" name="Text 22"/>
          <p:cNvSpPr/>
          <p:nvPr/>
        </p:nvSpPr>
        <p:spPr>
          <a:xfrm>
            <a:off x="8159496" y="2880360"/>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second view</a:t>
            </a:r>
            <a:endParaRPr lang="en-US" sz="850" dirty="0"/>
          </a:p>
        </p:txBody>
      </p:sp>
      <p:sp>
        <p:nvSpPr>
          <p:cNvPr id="26" name="Shape 23"/>
          <p:cNvSpPr/>
          <p:nvPr/>
        </p:nvSpPr>
        <p:spPr>
          <a:xfrm>
            <a:off x="9767316" y="2825496"/>
            <a:ext cx="128016" cy="0"/>
          </a:xfrm>
          <a:prstGeom prst="line">
            <a:avLst/>
          </a:prstGeom>
          <a:noFill/>
          <a:ln w="19050">
            <a:solidFill>
              <a:srgbClr val="8250DF"/>
            </a:solidFill>
            <a:prstDash val="solid"/>
            <a:tailEnd type="triangle"/>
          </a:ln>
        </p:spPr>
        <p:txBody>
          <a:bodyPr/>
          <a:lstStyle/>
          <a:p>
            <a:endParaRPr lang="en-US"/>
          </a:p>
        </p:txBody>
      </p:sp>
      <p:sp>
        <p:nvSpPr>
          <p:cNvPr id="27" name="Shape 24"/>
          <p:cNvSpPr/>
          <p:nvPr/>
        </p:nvSpPr>
        <p:spPr>
          <a:xfrm>
            <a:off x="9913620" y="2423160"/>
            <a:ext cx="1699260" cy="804672"/>
          </a:xfrm>
          <a:prstGeom prst="roundRect">
            <a:avLst>
              <a:gd name="adj" fmla="val 5682"/>
            </a:avLst>
          </a:prstGeom>
          <a:solidFill>
            <a:srgbClr val="FFFFFF"/>
          </a:solidFill>
          <a:ln w="15240">
            <a:solidFill>
              <a:srgbClr val="8250DF"/>
            </a:solidFill>
            <a:prstDash val="solid"/>
          </a:ln>
        </p:spPr>
        <p:txBody>
          <a:bodyPr/>
          <a:lstStyle/>
          <a:p>
            <a:endParaRPr lang="en-US"/>
          </a:p>
        </p:txBody>
      </p:sp>
      <p:sp>
        <p:nvSpPr>
          <p:cNvPr id="28" name="Text 25"/>
          <p:cNvSpPr/>
          <p:nvPr/>
        </p:nvSpPr>
        <p:spPr>
          <a:xfrm>
            <a:off x="10059924" y="2569464"/>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Human review</a:t>
            </a:r>
            <a:endParaRPr lang="en-US" sz="1300" dirty="0"/>
          </a:p>
        </p:txBody>
      </p:sp>
      <p:sp>
        <p:nvSpPr>
          <p:cNvPr id="29" name="Text 26"/>
          <p:cNvSpPr/>
          <p:nvPr/>
        </p:nvSpPr>
        <p:spPr>
          <a:xfrm>
            <a:off x="10023348" y="2880360"/>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decision</a:t>
            </a:r>
            <a:endParaRPr lang="en-US" sz="850" dirty="0"/>
          </a:p>
        </p:txBody>
      </p:sp>
      <p:sp>
        <p:nvSpPr>
          <p:cNvPr id="30" name="Text 27"/>
          <p:cNvSpPr/>
          <p:nvPr/>
        </p:nvSpPr>
        <p:spPr>
          <a:xfrm>
            <a:off x="1371600" y="4005072"/>
            <a:ext cx="4389120" cy="457200"/>
          </a:xfrm>
          <a:prstGeom prst="rect">
            <a:avLst/>
          </a:prstGeom>
          <a:noFill/>
          <a:ln/>
        </p:spPr>
        <p:txBody>
          <a:bodyPr wrap="square" lIns="0" tIns="0" rIns="0" bIns="0" rtlCol="0" anchor="ctr"/>
          <a:lstStyle/>
          <a:p>
            <a:pPr marL="0" indent="0">
              <a:buNone/>
            </a:pPr>
            <a:r>
              <a:rPr lang="en-US" sz="2600" b="1" dirty="0">
                <a:solidFill>
                  <a:srgbClr val="8250DF"/>
                </a:solidFill>
                <a:latin typeface="Aptos Display" pitchFamily="34" charset="0"/>
                <a:ea typeface="Aptos Display" pitchFamily="34" charset="-122"/>
                <a:cs typeface="Aptos Display" pitchFamily="34" charset="-120"/>
              </a:rPr>
              <a:t>Automation compresses the work.</a:t>
            </a:r>
            <a:endParaRPr lang="en-US" sz="2600" dirty="0"/>
          </a:p>
        </p:txBody>
      </p:sp>
      <p:sp>
        <p:nvSpPr>
          <p:cNvPr id="31" name="Text 28"/>
          <p:cNvSpPr/>
          <p:nvPr/>
        </p:nvSpPr>
        <p:spPr>
          <a:xfrm>
            <a:off x="1371600" y="4700016"/>
            <a:ext cx="9052560" cy="475488"/>
          </a:xfrm>
          <a:prstGeom prst="rect">
            <a:avLst/>
          </a:prstGeom>
          <a:noFill/>
          <a:ln/>
        </p:spPr>
        <p:txBody>
          <a:bodyPr wrap="square" lIns="0" tIns="0" rIns="0" bIns="0" rtlCol="0" anchor="ctr"/>
          <a:lstStyle/>
          <a:p>
            <a:pPr marL="0" indent="0">
              <a:buNone/>
            </a:pPr>
            <a:r>
              <a:rPr lang="en-US" sz="1900" dirty="0">
                <a:solidFill>
                  <a:srgbClr val="0D1117"/>
                </a:solidFill>
                <a:latin typeface="Aptos" pitchFamily="34" charset="0"/>
                <a:ea typeface="Aptos" pitchFamily="34" charset="-122"/>
                <a:cs typeface="Aptos" pitchFamily="34" charset="-120"/>
              </a:rPr>
              <a:t>GitHub preserves the evidence. Humans retain accountability.</a:t>
            </a:r>
            <a:endParaRPr lang="en-US" sz="1900" dirty="0"/>
          </a:p>
        </p:txBody>
      </p:sp>
      <p:sp>
        <p:nvSpPr>
          <p:cNvPr id="32" name="Text 29"/>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Copilot for Data Scientists | Gilead DSS</a:t>
            </a:r>
            <a:endParaRPr lang="en-US" sz="800" dirty="0"/>
          </a:p>
        </p:txBody>
      </p:sp>
      <p:sp>
        <p:nvSpPr>
          <p:cNvPr id="33" name="Text 30">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Shape 2"/>
          <p:cNvSpPr/>
          <p:nvPr/>
        </p:nvSpPr>
        <p:spPr>
          <a:xfrm>
            <a:off x="566928" y="1033272"/>
            <a:ext cx="1417320" cy="310896"/>
          </a:xfrm>
          <a:prstGeom prst="roundRect">
            <a:avLst>
              <a:gd name="adj" fmla="val 23529"/>
            </a:avLst>
          </a:prstGeom>
          <a:solidFill>
            <a:srgbClr val="8250DF"/>
          </a:solidFill>
          <a:ln w="8890">
            <a:solidFill>
              <a:srgbClr val="8250DF"/>
            </a:solidFill>
            <a:prstDash val="solid"/>
          </a:ln>
        </p:spPr>
        <p:txBody>
          <a:bodyPr/>
          <a:lstStyle/>
          <a:p>
            <a:endParaRPr lang="en-US"/>
          </a:p>
        </p:txBody>
      </p:sp>
      <p:sp>
        <p:nvSpPr>
          <p:cNvPr id="6" name="Text 3"/>
          <p:cNvSpPr/>
          <p:nvPr/>
        </p:nvSpPr>
        <p:spPr>
          <a:xfrm>
            <a:off x="658368" y="1129284"/>
            <a:ext cx="123444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KEY TAKEAWAY</a:t>
            </a:r>
            <a:endParaRPr lang="en-US" sz="850" dirty="0"/>
          </a:p>
        </p:txBody>
      </p:sp>
      <p:sp>
        <p:nvSpPr>
          <p:cNvPr id="7" name="Text 4"/>
          <p:cNvSpPr/>
          <p:nvPr/>
        </p:nvSpPr>
        <p:spPr>
          <a:xfrm>
            <a:off x="566928" y="1673352"/>
            <a:ext cx="6400800" cy="2057400"/>
          </a:xfrm>
          <a:prstGeom prst="rect">
            <a:avLst/>
          </a:prstGeom>
          <a:noFill/>
          <a:ln/>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Bound the task.</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Inspect the evidence.</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Keep the decision human.</a:t>
            </a:r>
            <a:endParaRPr lang="en-US" sz="3800" dirty="0"/>
          </a:p>
        </p:txBody>
      </p:sp>
      <p:sp>
        <p:nvSpPr>
          <p:cNvPr id="8" name="Text 5"/>
          <p:cNvSpPr/>
          <p:nvPr/>
        </p:nvSpPr>
        <p:spPr>
          <a:xfrm>
            <a:off x="7360920" y="1572768"/>
            <a:ext cx="3291840" cy="347472"/>
          </a:xfrm>
          <a:prstGeom prst="rect">
            <a:avLst/>
          </a:prstGeom>
          <a:noFill/>
          <a:ln/>
        </p:spPr>
        <p:txBody>
          <a:bodyPr wrap="square" lIns="0" tIns="0" rIns="0" bIns="0" rtlCol="0" anchor="ctr"/>
          <a:lstStyle/>
          <a:p>
            <a:pPr marL="0" indent="0">
              <a:buNone/>
            </a:pPr>
            <a:r>
              <a:rPr lang="en-US" sz="2000" b="1">
                <a:solidFill>
                  <a:srgbClr val="FFFFFF"/>
                </a:solidFill>
                <a:latin typeface="Aptos Display" pitchFamily="34" charset="0"/>
                <a:ea typeface="Aptos Display" pitchFamily="34" charset="-122"/>
                <a:cs typeface="Aptos Display" pitchFamily="34" charset="-120"/>
              </a:rPr>
              <a:t>Public teaching reference</a:t>
            </a:r>
            <a:endParaRPr lang="en-US" sz="2000" dirty="0"/>
          </a:p>
        </p:txBody>
      </p:sp>
      <p:sp>
        <p:nvSpPr>
          <p:cNvPr id="9" name="Text 6">
            <a:hlinkClick r:id="rId4"/>
          </p:cNvPr>
          <p:cNvSpPr/>
          <p:nvPr/>
        </p:nvSpPr>
        <p:spPr>
          <a:xfrm>
            <a:off x="7360920" y="2139696"/>
            <a:ext cx="4206240" cy="384048"/>
          </a:xfrm>
          <a:prstGeom prst="rect">
            <a:avLst/>
          </a:prstGeom>
          <a:noFill/>
          <a:ln/>
        </p:spPr>
        <p:txBody>
          <a:bodyPr wrap="square" lIns="0" tIns="0" rIns="0" bIns="0" rtlCol="0" anchor="ctr"/>
          <a:lstStyle/>
          <a:p>
            <a:pPr marL="0" indent="0">
              <a:buNone/>
            </a:pPr>
            <a:r>
              <a:rPr lang="en-US" sz="1200" u="sng" dirty="0">
                <a:solidFill>
                  <a:srgbClr val="D2A8F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1200" dirty="0"/>
          </a:p>
        </p:txBody>
      </p:sp>
      <p:sp>
        <p:nvSpPr>
          <p:cNvPr id="10" name="Text 7"/>
          <p:cNvSpPr/>
          <p:nvPr/>
        </p:nvSpPr>
        <p:spPr>
          <a:xfrm>
            <a:off x="7360920" y="2999232"/>
            <a:ext cx="2011680" cy="320040"/>
          </a:xfrm>
          <a:prstGeom prst="rect">
            <a:avLst/>
          </a:prstGeom>
          <a:noFill/>
          <a:ln/>
        </p:spPr>
        <p:txBody>
          <a:bodyPr wrap="square" lIns="0" tIns="0" rIns="0" bIns="0" rtlCol="0" anchor="ct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Reference</a:t>
            </a:r>
            <a:endParaRPr lang="en-US" sz="1800" dirty="0"/>
          </a:p>
        </p:txBody>
      </p:sp>
      <p:sp>
        <p:nvSpPr>
          <p:cNvPr id="11" name="Text 8">
            <a:hlinkClick r:id="rId5"/>
          </p:cNvPr>
          <p:cNvSpPr/>
          <p:nvPr/>
        </p:nvSpPr>
        <p:spPr>
          <a:xfrm>
            <a:off x="7360920" y="3547872"/>
            <a:ext cx="3291840" cy="274320"/>
          </a:xfrm>
          <a:prstGeom prst="rect">
            <a:avLst/>
          </a:prstGeom>
          <a:noFill/>
          <a:ln/>
        </p:spPr>
        <p:txBody>
          <a:bodyPr wrap="square" lIns="0" tIns="0" rIns="0" bIns="0" rtlCol="0" anchor="ctr"/>
          <a:lstStyle/>
          <a:p>
            <a:pPr marL="0" indent="0">
              <a:buNone/>
            </a:pPr>
            <a:r>
              <a:rPr lang="en-US" sz="1100" u="sng" dirty="0">
                <a:solidFill>
                  <a:srgbClr val="B1BAC4"/>
                </a:solidFill>
                <a:latin typeface="Courier New" pitchFamily="34" charset="0"/>
                <a:ea typeface="Courier New" pitchFamily="34" charset="-122"/>
                <a:cs typeface="Courier New" pitchFamily="34" charset="-120"/>
                <a:hlinkClick r:id="rId5">
                  <a:extLst>
                    <a:ext uri="{A12FA001-AC4F-418D-AE19-62706E023703}">
                      <ahyp:hlinkClr xmlns:ahyp="http://schemas.microsoft.com/office/drawing/2018/hyperlinkcolor" val="tx"/>
                    </a:ext>
                  </a:extLst>
                </a:hlinkClick>
              </a:rPr>
              <a:t>docs.github.com/copilot</a:t>
            </a:r>
            <a:endParaRPr lang="en-US" sz="1100" dirty="0"/>
          </a:p>
        </p:txBody>
      </p:sp>
      <p:sp>
        <p:nvSpPr>
          <p:cNvPr id="12" name="Text 9"/>
          <p:cNvSpPr/>
          <p:nvPr/>
        </p:nvSpPr>
        <p:spPr>
          <a:xfrm>
            <a:off x="7360920" y="4617720"/>
            <a:ext cx="3566160" cy="640080"/>
          </a:xfrm>
          <a:prstGeom prst="rect">
            <a:avLst/>
          </a:prstGeom>
          <a:noFill/>
          <a:ln/>
        </p:spPr>
        <p:txBody>
          <a:bodyPr wrap="square" lIns="0" tIns="0" rIns="0" bIns="0" rtlCol="0" anchor="ctr"/>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Questions?</a:t>
            </a:r>
            <a:endParaRPr lang="en-US" sz="4000" dirty="0"/>
          </a:p>
        </p:txBody>
      </p:sp>
      <p:sp>
        <p:nvSpPr>
          <p:cNvPr id="13" name="Text 10"/>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Copilot for Data Scientists | Gilead DSS</a:t>
            </a:r>
            <a:endParaRPr lang="en-US" sz="800" dirty="0"/>
          </a:p>
        </p:txBody>
      </p:sp>
      <p:sp>
        <p:nvSpPr>
          <p:cNvPr id="14" name="Text 11">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name="GitHub Access Management Screenshot">
    <p:bg>
      <p:bgPr>
        <a:solidFill>
          <a:srgbClr val="FFFFFF"/>
        </a:solidFill>
        <a:effectLst/>
      </p:bgPr>
    </p:bg>
    <p:spTree>
      <p:nvGrpSpPr>
        <p:cNvPr id="1" name=""/>
        <p:cNvGrpSpPr/>
        <p:nvPr/>
      </p:nvGrpSpPr>
      <p:grpSpPr>
        <a:xfrm>
          <a:off x="0" y="0"/>
          <a:ext cx="0" cy="0"/>
          <a:chOff x="0" y="0"/>
          <a:chExt cx="0" cy="0"/>
        </a:xfrm>
      </p:grpSpPr>
      <p:pic>
        <p:nvPicPr>
          <p:cNvPr id="3" name="Picture 2" descr="GitHub Access Management request form showing GitHub Copilot enablement and the required GitHub organization and GitHub user ID fields.">
            <a:extLst>
              <a:ext uri="{FF2B5EF4-FFF2-40B4-BE49-F238E27FC236}">
                <a16:creationId xmlns:a16="http://schemas.microsoft.com/office/drawing/2014/main" id="{25B229B6-DE78-3802-4C07-F633AC64447D}"/>
              </a:ext>
            </a:extLst>
          </p:cNvPr>
          <p:cNvPicPr>
            <a:picLocks/>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360295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ss2026/assets/bg_molecule_full.png"/>
          <p:cNvPicPr>
            <a:picLocks noChangeAspect="1"/>
          </p:cNvPicPr>
          <p:nvPr/>
        </p:nvPicPr>
        <p:blipFill>
          <a:blip r:embed="rId3"/>
          <a:stretch>
            <a:fillRect/>
          </a:stretch>
        </p:blipFill>
        <p:spPr>
          <a:xfrm>
            <a:off x="0" y="0"/>
            <a:ext cx="12191695" cy="6858000"/>
          </a:xfrm>
          <a:prstGeom prst="rect">
            <a:avLst/>
          </a:prstGeom>
        </p:spPr>
      </p:pic>
      <p:pic>
        <p:nvPicPr>
          <p:cNvPr id="3" name="Image 1" descr="/home/claude/dss2026/assets/icon_ds_transparent.png"/>
          <p:cNvPicPr>
            <a:picLocks noChangeAspect="1"/>
          </p:cNvPicPr>
          <p:nvPr/>
        </p:nvPicPr>
        <p:blipFill>
          <a:blip r:embed="rId4"/>
          <a:stretch>
            <a:fillRect/>
          </a:stretch>
        </p:blipFill>
        <p:spPr>
          <a:xfrm>
            <a:off x="149134" y="363220"/>
            <a:ext cx="3246120" cy="1737360"/>
          </a:xfrm>
          <a:prstGeom prst="rect">
            <a:avLst/>
          </a:prstGeom>
        </p:spPr>
      </p:pic>
      <p:sp>
        <p:nvSpPr>
          <p:cNvPr id="4" name="Text 0"/>
          <p:cNvSpPr/>
          <p:nvPr/>
        </p:nvSpPr>
        <p:spPr>
          <a:xfrm>
            <a:off x="3623854" y="317500"/>
            <a:ext cx="7589520" cy="868680"/>
          </a:xfrm>
          <a:prstGeom prst="rect">
            <a:avLst/>
          </a:prstGeom>
          <a:noFill/>
          <a:ln/>
        </p:spPr>
        <p:txBody>
          <a:bodyPr wrap="square" lIns="0" tIns="0" rIns="0" bIns="0" rtlCol="0" anchor="ctr"/>
          <a:lstStyle/>
          <a:p>
            <a:pPr marL="0" indent="0">
              <a:buNone/>
            </a:pPr>
            <a:r>
              <a:rPr lang="en-US" sz="5200" b="1">
                <a:solidFill>
                  <a:srgbClr val="FFFFFF"/>
                </a:solidFill>
                <a:latin typeface="Arial" pitchFamily="34" charset="0"/>
                <a:ea typeface="Arial" pitchFamily="34" charset="-122"/>
                <a:cs typeface="Arial" pitchFamily="34" charset="-120"/>
              </a:rPr>
              <a:t>Data Science</a:t>
            </a:r>
            <a:endParaRPr lang="en-US" sz="5200"/>
          </a:p>
        </p:txBody>
      </p:sp>
      <p:sp>
        <p:nvSpPr>
          <p:cNvPr id="5" name="Text 1"/>
          <p:cNvSpPr/>
          <p:nvPr/>
        </p:nvSpPr>
        <p:spPr>
          <a:xfrm>
            <a:off x="3669574" y="1231900"/>
            <a:ext cx="7589520" cy="502920"/>
          </a:xfrm>
          <a:prstGeom prst="rect">
            <a:avLst/>
          </a:prstGeom>
          <a:noFill/>
          <a:ln/>
        </p:spPr>
        <p:txBody>
          <a:bodyPr wrap="square" lIns="0" tIns="0" rIns="0" bIns="0" rtlCol="0" anchor="ctr"/>
          <a:lstStyle/>
          <a:p>
            <a:r>
              <a:rPr lang="en-US" sz="2600" kern="0" spc="400">
                <a:solidFill>
                  <a:srgbClr val="FFFFFF"/>
                </a:solidFill>
                <a:latin typeface="Arial"/>
                <a:ea typeface="Arial" pitchFamily="34" charset="-122"/>
                <a:cs typeface="Arial"/>
              </a:rPr>
              <a:t>SYMPOSIUM Day 2 Feedback</a:t>
            </a:r>
            <a:endParaRPr lang="en-US" sz="2600"/>
          </a:p>
        </p:txBody>
      </p:sp>
      <p:pic>
        <p:nvPicPr>
          <p:cNvPr id="6" name="Image 2" descr="/home/claude/dss2026/assets/logo_white_red.png"/>
          <p:cNvPicPr>
            <a:picLocks noChangeAspect="1"/>
          </p:cNvPicPr>
          <p:nvPr/>
        </p:nvPicPr>
        <p:blipFill>
          <a:blip r:embed="rId5"/>
          <a:stretch>
            <a:fillRect/>
          </a:stretch>
        </p:blipFill>
        <p:spPr>
          <a:xfrm>
            <a:off x="10561320" y="6172200"/>
            <a:ext cx="1508760" cy="548640"/>
          </a:xfrm>
          <a:prstGeom prst="rect">
            <a:avLst/>
          </a:prstGeom>
        </p:spPr>
      </p:pic>
      <p:pic>
        <p:nvPicPr>
          <p:cNvPr id="8" name="Picture 7">
            <a:extLst>
              <a:ext uri="{FF2B5EF4-FFF2-40B4-BE49-F238E27FC236}">
                <a16:creationId xmlns:a16="http://schemas.microsoft.com/office/drawing/2014/main" id="{BAA2EE10-1D17-FAC5-7734-1F3AD29C30C5}"/>
              </a:ext>
            </a:extLst>
          </p:cNvPr>
          <p:cNvPicPr>
            <a:picLocks noChangeAspect="1"/>
          </p:cNvPicPr>
          <p:nvPr/>
        </p:nvPicPr>
        <p:blipFill>
          <a:blip r:embed="rId6"/>
          <a:stretch>
            <a:fillRect/>
          </a:stretch>
        </p:blipFill>
        <p:spPr>
          <a:xfrm>
            <a:off x="368948" y="5090942"/>
            <a:ext cx="4689930" cy="852086"/>
          </a:xfrm>
          <a:prstGeom prst="rect">
            <a:avLst/>
          </a:prstGeom>
        </p:spPr>
      </p:pic>
      <p:sp>
        <p:nvSpPr>
          <p:cNvPr id="10" name="Shape 16">
            <a:extLst>
              <a:ext uri="{FF2B5EF4-FFF2-40B4-BE49-F238E27FC236}">
                <a16:creationId xmlns:a16="http://schemas.microsoft.com/office/drawing/2014/main" id="{A9A55D89-5F2F-A2D5-FA06-0EFFC3C2CBE6}"/>
              </a:ext>
            </a:extLst>
          </p:cNvPr>
          <p:cNvSpPr/>
          <p:nvPr/>
        </p:nvSpPr>
        <p:spPr>
          <a:xfrm>
            <a:off x="5290578" y="2622913"/>
            <a:ext cx="1779814" cy="1607457"/>
          </a:xfrm>
          <a:prstGeom prst="roundRect">
            <a:avLst>
              <a:gd name="adj" fmla="val 4000"/>
            </a:avLst>
          </a:prstGeom>
          <a:solidFill>
            <a:srgbClr val="FFFFFF"/>
          </a:solidFill>
          <a:ln w="15875">
            <a:solidFill>
              <a:srgbClr val="B9C1CC"/>
            </a:solidFill>
            <a:prstDash val="dash"/>
          </a:ln>
        </p:spPr>
        <p:txBody>
          <a:bodyPr/>
          <a:lstStyle/>
          <a:p>
            <a:endParaRPr lang="en-US"/>
          </a:p>
        </p:txBody>
      </p:sp>
      <p:pic>
        <p:nvPicPr>
          <p:cNvPr id="9" name="Picture 8">
            <a:extLst>
              <a:ext uri="{FF2B5EF4-FFF2-40B4-BE49-F238E27FC236}">
                <a16:creationId xmlns:a16="http://schemas.microsoft.com/office/drawing/2014/main" id="{C1D8F03E-A432-D769-A001-1AAF4F1F6A72}"/>
              </a:ext>
            </a:extLst>
          </p:cNvPr>
          <p:cNvPicPr>
            <a:picLocks noChangeAspect="1"/>
          </p:cNvPicPr>
          <p:nvPr/>
        </p:nvPicPr>
        <p:blipFill>
          <a:blip r:embed="rId7"/>
          <a:stretch>
            <a:fillRect/>
          </a:stretch>
        </p:blipFill>
        <p:spPr>
          <a:xfrm>
            <a:off x="4802917" y="2059663"/>
            <a:ext cx="2759692" cy="2731130"/>
          </a:xfrm>
          <a:prstGeom prst="rect">
            <a:avLst/>
          </a:prstGeom>
        </p:spPr>
      </p:pic>
    </p:spTree>
    <p:extLst>
      <p:ext uri="{BB962C8B-B14F-4D97-AF65-F5344CB8AC3E}">
        <p14:creationId xmlns:p14="http://schemas.microsoft.com/office/powerpoint/2010/main" val="1641198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233</TotalTime>
  <Words>3421</Words>
  <Application>Microsoft Office PowerPoint</Application>
  <PresentationFormat>Widescreen</PresentationFormat>
  <Paragraphs>386</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Aptos</vt:lpstr>
      <vt:lpstr>Aptos Display</vt:lpstr>
      <vt:lpstr>Arial</vt:lpstr>
      <vt:lpstr>Calibri</vt:lpstr>
      <vt:lpstr>Courier New</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GitHub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for Data Scientists</dc:title>
  <dc:subject>Advanced browser-first Copilot workshop for Gilead DSS</dc:subject>
  <dc:creator>GitHub</dc:creator>
  <cp:lastModifiedBy>Thomas Johnson</cp:lastModifiedBy>
  <cp:revision>7</cp:revision>
  <dcterms:created xsi:type="dcterms:W3CDTF">2026-09-28T18:41:44Z</dcterms:created>
  <dcterms:modified xsi:type="dcterms:W3CDTF">2026-10-07T19:34:10Z</dcterms:modified>
</cp:coreProperties>
</file>